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Fraunces Extra Bold"/>
      <p:regular r:id="rId22"/>
    </p:embeddedFont>
    <p:embeddedFont>
      <p:font typeface="Fraunces Extra Bold"/>
      <p:regular r:id="rId23"/>
    </p:embeddedFont>
    <p:embeddedFont>
      <p:font typeface="Nobile"/>
      <p:regular r:id="rId24"/>
    </p:embeddedFont>
    <p:embeddedFont>
      <p:font typeface="Nobile"/>
      <p:regular r:id="rId25"/>
    </p:embeddedFont>
    <p:embeddedFont>
      <p:font typeface="Nobile"/>
      <p:regular r:id="rId26"/>
    </p:embeddedFont>
    <p:embeddedFont>
      <p:font typeface="Nobile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706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Application Performance Monitoring (APM)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Mastering Modern Application Performance &amp; Infrastructure Monitoring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583"/>
            <a:ext cx="64386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4-Hour Learning Journey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24820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69719"/>
            <a:ext cx="4772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 to APM &amp; Infrastructure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9894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Foundation concepts, key metrics, and industry landscape overview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324820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3469719"/>
            <a:ext cx="34717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Dashboards &amp; Visualization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389894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Building effective dashboards for real-time visibility and reporting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4563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87799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22890"/>
            <a:ext cx="3188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Alerting &amp; NRQL Mastery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45211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Incident management workflows and advanced query techniques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4563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487799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5022890"/>
            <a:ext cx="42566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Distributed Tracing &amp; Integration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545211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monitoring with real-world case studies and best practices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116711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Application Performance Monitoring?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5734"/>
            <a:ext cx="763202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APM provides comprehensive visibility into application performance, user experience, and infrastructure health. It's essential for modern distributed systems including microservices, cloud environments, and containerized applications.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14487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APM differs from traditional logging and monitoring by focusing on end-to-end application performance, user experience metrics, and business impact rather than just system health indicators.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2110383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5698"/>
            <a:ext cx="56680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Essential APM Metrics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92611"/>
            <a:ext cx="6422231" cy="1461016"/>
          </a:xfrm>
          <a:prstGeom prst="roundRect">
            <a:avLst>
              <a:gd name="adj" fmla="val 12226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29909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Response Time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42018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How quickly applications respond to user requests, directly impacting user satisfaction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792611"/>
            <a:ext cx="6422231" cy="1461016"/>
          </a:xfrm>
          <a:prstGeom prst="roundRect">
            <a:avLst>
              <a:gd name="adj" fmla="val 12226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7612737" y="29909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Throughput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2737" y="342018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Number of requests processed per unit time, indicating system capacity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451985"/>
            <a:ext cx="6422231" cy="1143476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992148" y="46503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Error Rate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2148" y="507956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Percentage of failed requests, critical for reliability assessment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451985"/>
            <a:ext cx="6422231" cy="1143476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7612737" y="46503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Apdex Score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12737" y="507956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satisfaction metric based on response time thresholds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8187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metrics span three monitoring layers: Infrastructure health, Application performance, and User experience - each providing unique insights into system behavior.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8577"/>
            <a:ext cx="83025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Leading APM Tools in the Market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65490"/>
            <a:ext cx="2213729" cy="1368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81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New Relic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5010864"/>
            <a:ext cx="307467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observability platform with advanced analytics and AI-powered insights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67" y="2965490"/>
            <a:ext cx="2213729" cy="13681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6467" y="4581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Dynatrace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116467" y="5010864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AI-driven performance monitoring with automatic root cause analysis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4" y="2965490"/>
            <a:ext cx="2213729" cy="13681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9144" y="4581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AppDynamics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439144" y="5010864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Business-focused APM with strong application topology mapping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821" y="2965490"/>
            <a:ext cx="2213848" cy="13681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61821" y="4581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Datadog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0761821" y="5010864"/>
            <a:ext cx="30747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Unified monitoring platform combining infrastructure, applications, and logs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265"/>
            <a:ext cx="100569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Infrastructure Monitoring Matters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8717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 performance is fundamentally dependent on infrastructure health. Servers, containers, databases, and networks form the foundation that supports application delivery.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45500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896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Server Health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218861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CPU utilization, memory consumption, and disk I/O directly impact application response times and user experience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44" y="3045500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789640"/>
            <a:ext cx="27504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Container Monitoring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4218861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container health, resource allocation, and orchestration platform performance in containerized environments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50775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994916"/>
            <a:ext cx="28909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Database Performance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93790" y="6424136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query performance, connection pools, and database resource utilization for optimal data access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525077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59949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Network Latency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6424136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network performance, bandwidth utilization, and connectivity issues affecting distributed systems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584"/>
            <a:ext cx="5808821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Critical Infrastructure Metrics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435418"/>
            <a:ext cx="9782056" cy="5477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080766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thresholds represent typical alert levels where performance degradation becomes noticeable. Best practices include defining SLAs and SLOs, implementing auto-scaling policies, and establishing auto-remediation workflows to maintain optimal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04" y="364569"/>
            <a:ext cx="570023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Design &amp;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04" y="1110258"/>
            <a:ext cx="239982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Purpose-Driven Dashboards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04" y="1449943"/>
            <a:ext cx="6623209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 dashboards serve three primary functions: providing real-time operational visibility, enabling executive reporting with business context, and facilitating rapid troubleshooting during incidents.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04" y="1993583"/>
            <a:ext cx="6623209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features include drill-down capabilities for detailed analysis and correlation across multiple data sources to identify relationships between metrics.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507" y="1126808"/>
            <a:ext cx="6623209" cy="662320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04" y="8048149"/>
            <a:ext cx="4523184" cy="530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821" y="8710970"/>
            <a:ext cx="185106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Infrastructure Health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2821" y="8997672"/>
            <a:ext cx="4258151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Server metrics, resource utilization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489" y="8048149"/>
            <a:ext cx="4523303" cy="530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86005" y="8710970"/>
            <a:ext cx="21338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Application Performance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186005" y="8997672"/>
            <a:ext cx="4258270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Response times, error rates, throughput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792" y="8048149"/>
            <a:ext cx="4523303" cy="530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09309" y="8710970"/>
            <a:ext cx="16571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Business KPIs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709309" y="8997672"/>
            <a:ext cx="4258270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impact, user satisfaction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1454"/>
            <a:ext cx="64860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Best Practices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3979188"/>
            <a:ext cx="4215289" cy="3669863"/>
          </a:xfrm>
          <a:prstGeom prst="roundRect">
            <a:avLst>
              <a:gd name="adj" fmla="val 299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0930" y="3979188"/>
            <a:ext cx="91440" cy="3669863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1083588" y="4200406"/>
            <a:ext cx="25081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Avoid Visual Clutter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4629626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essential metrics that drive decision-making. Too many widgets reduce effectiveness and increase cognitive load.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3979188"/>
            <a:ext cx="4215408" cy="3669863"/>
          </a:xfrm>
          <a:prstGeom prst="roundRect">
            <a:avLst>
              <a:gd name="adj" fmla="val 299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84577" y="3979188"/>
            <a:ext cx="91440" cy="3669863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5497235" y="4200406"/>
            <a:ext cx="28221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Persona-Based Design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497235" y="4629626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 dashboards with specific user needs: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97235" y="5383768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DevOps teams need technical metrics and alerts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97235" y="6088261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stakeholders require KPI summaries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97235" y="6792754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teams focus on threat indicators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21203" y="3979188"/>
            <a:ext cx="4215289" cy="3669863"/>
          </a:xfrm>
          <a:prstGeom prst="roundRect">
            <a:avLst>
              <a:gd name="adj" fmla="val 299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98343" y="3979188"/>
            <a:ext cx="91440" cy="3669863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7" name="Text 14"/>
          <p:cNvSpPr/>
          <p:nvPr/>
        </p:nvSpPr>
        <p:spPr>
          <a:xfrm>
            <a:off x="9911001" y="4200406"/>
            <a:ext cx="30074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Contextual Information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9911001" y="4629626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 relevant context like deployment markers, maintenance windows, and historical baselines to aid interpretation.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4242"/>
            <a:ext cx="7401639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Alerting &amp; Incident Management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519595"/>
            <a:ext cx="22860" cy="5333405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4" name="Shape 2"/>
          <p:cNvSpPr/>
          <p:nvPr/>
        </p:nvSpPr>
        <p:spPr>
          <a:xfrm>
            <a:off x="6601361" y="1709023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5" name="Shape 3"/>
          <p:cNvSpPr/>
          <p:nvPr/>
        </p:nvSpPr>
        <p:spPr>
          <a:xfrm>
            <a:off x="7114282" y="1519595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7181195" y="155299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89333" y="158091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1967032"/>
            <a:ext cx="5628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Threshold-based, anomaly detection, and predictive alerts identify issues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3258" y="2780705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282" y="2591276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7181195" y="262467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08288" y="265259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Notification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08288" y="3038713"/>
            <a:ext cx="56283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Multi-channel alerts via email, Slack, PagerDuty, and webhooks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01361" y="3704392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4282" y="3514963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181195" y="354836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89333" y="357628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Diagnosis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3962400"/>
            <a:ext cx="5628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cause analysis using correlated metrics and distributed tracing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3258" y="4628198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4282" y="4438769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7181195" y="447216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08288" y="450008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Resolution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08288" y="4886206"/>
            <a:ext cx="56283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or manual remediation with documented procedures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01361" y="5552003"/>
            <a:ext cx="535781" cy="22860"/>
          </a:xfrm>
          <a:prstGeom prst="roundRect">
            <a:avLst>
              <a:gd name="adj" fmla="val 703256"/>
            </a:avLst>
          </a:prstGeom>
          <a:solidFill>
            <a:srgbClr val="CED9C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4282" y="5362575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26" name="Text 24"/>
          <p:cNvSpPr/>
          <p:nvPr/>
        </p:nvSpPr>
        <p:spPr>
          <a:xfrm>
            <a:off x="7181195" y="539597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89333" y="542389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Postmortem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5810012"/>
            <a:ext cx="56283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Learning from incidents to prevent future occurrences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790" y="7053858"/>
            <a:ext cx="1304282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 alerting reduces alert fatigue through proper tuning, aggregation, and severity level definitions. Automated response workflows can handle routine issues without human intervention.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05897"/>
            <a:ext cx="7830979" cy="57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NRQL: New Relic Query Language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5925" y="1448633"/>
            <a:ext cx="13158549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NRQL is a SQL-like query language designed for telemetry data analysis. It enables powerful data exploration and custom dashboard creation.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5925" y="2133838"/>
            <a:ext cx="2585680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Basic Query Structure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5925" y="2628305"/>
            <a:ext cx="7715488" cy="1158954"/>
          </a:xfrm>
          <a:prstGeom prst="roundRect">
            <a:avLst>
              <a:gd name="adj" fmla="val 14288"/>
            </a:avLst>
          </a:prstGeom>
          <a:solidFill>
            <a:srgbClr val="EDF2ED"/>
          </a:solidFill>
          <a:ln/>
        </p:spPr>
      </p:sp>
      <p:sp>
        <p:nvSpPr>
          <p:cNvPr id="6" name="Shape 4"/>
          <p:cNvSpPr/>
          <p:nvPr/>
        </p:nvSpPr>
        <p:spPr>
          <a:xfrm>
            <a:off x="726758" y="2628305"/>
            <a:ext cx="7733824" cy="1158954"/>
          </a:xfrm>
          <a:prstGeom prst="roundRect">
            <a:avLst>
              <a:gd name="adj" fmla="val 2381"/>
            </a:avLst>
          </a:prstGeom>
          <a:solidFill>
            <a:srgbClr val="EDF2ED"/>
          </a:solidFill>
          <a:ln/>
        </p:spPr>
      </p:sp>
      <p:sp>
        <p:nvSpPr>
          <p:cNvPr id="7" name="Text 5"/>
          <p:cNvSpPr/>
          <p:nvPr/>
        </p:nvSpPr>
        <p:spPr>
          <a:xfrm>
            <a:off x="910709" y="2766298"/>
            <a:ext cx="7365921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average(duration) FROM Transaction SINCE 30 minutes ago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5925" y="3994190"/>
            <a:ext cx="2299811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5925" y="4465677"/>
            <a:ext cx="771548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FACET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Group results by attributes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5925" y="4824293"/>
            <a:ext cx="771548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TIMESERIES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Create time-based charts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5925" y="5182910"/>
            <a:ext cx="771548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WHERE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Filter data with conditions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5925" y="5541526"/>
            <a:ext cx="771548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 WITH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Historical comparisons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7899" y="2156817"/>
            <a:ext cx="4994077" cy="499407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5925" y="7564755"/>
            <a:ext cx="13158549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NRQL powers custom dashboards and enables deep analysis of application performance patterns, user behavior, and system trends.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5197"/>
            <a:ext cx="7556421" cy="111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Distributed Tracing Fundamentals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80190" y="2009418"/>
            <a:ext cx="755642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Distributed tracing tracks requests as they flow through microservices architectures, providing end-to-end visibility into complex distributed systems.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80190" y="2781776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637377" y="296037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Trace Initiation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37377" y="3346490"/>
            <a:ext cx="71992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request enters the system and receives a unique trace ID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48080" y="4032052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905268" y="421064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Span Creation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905268" y="4596765"/>
            <a:ext cx="6931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service creates spans representing work units with timing 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15971" y="5282327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7173158" y="5460921"/>
            <a:ext cx="236124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Context Propagation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173158" y="5847040"/>
            <a:ext cx="66634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Trace context passes between services maintaining request correlation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83981" y="6532602"/>
            <a:ext cx="178594" cy="1071682"/>
          </a:xfrm>
          <a:prstGeom prst="roundRect">
            <a:avLst>
              <a:gd name="adj" fmla="val 90017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7441168" y="6711196"/>
            <a:ext cx="274212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Analysis &amp; Optimization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441168" y="7097316"/>
            <a:ext cx="63954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trace reveals bottlenecks and dependency issues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636"/>
            <a:ext cx="57179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Integration Ecosystem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54091" y="2525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Cloud Providers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54774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CloudWatch, Azure Monitor, GCP Operations Suite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008" y="3069253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0938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Monitoring Tools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2523053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Prometheus, Grafana, Elasticsearch, Splunk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303" y="2488823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94463" y="3820597"/>
            <a:ext cx="27623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Incident Management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994463" y="4249817"/>
            <a:ext cx="38421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PagerDuty, ServiceNow, Jira Service Management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250" y="4008418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95284" y="55473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Communication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9895284" y="5976580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Slack, Microsoft Teams, email, webhooks</a:t>
            </a:r>
            <a:endParaRPr lang="en-US" sz="15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0303" y="5528012"/>
            <a:ext cx="296942" cy="37111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254091" y="51156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Automation</a:t>
            </a:r>
            <a:endParaRPr lang="en-US" sz="1950" dirty="0"/>
          </a:p>
        </p:txBody>
      </p:sp>
      <p:sp>
        <p:nvSpPr>
          <p:cNvPr id="20" name="Text 10"/>
          <p:cNvSpPr/>
          <p:nvPr/>
        </p:nvSpPr>
        <p:spPr>
          <a:xfrm>
            <a:off x="793790" y="5544860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Ansible, Terraform, Kubernetes operators</a:t>
            </a:r>
            <a:endParaRPr lang="en-US" sz="15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4008" y="4947583"/>
            <a:ext cx="296942" cy="37111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93790" y="66997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Integrations enable centralized monitoring, automated workflows, and seamless data flow between tools, creating a unified observability platform.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530"/>
            <a:ext cx="61682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Real-World Case Studies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90443"/>
            <a:ext cx="4215289" cy="3207306"/>
          </a:xfrm>
          <a:prstGeom prst="roundRect">
            <a:avLst>
              <a:gd name="adj" fmla="val 5569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278880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59" y="2918936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582472"/>
            <a:ext cx="27983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E-commerce Platform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011692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Monitoring checkout performance during Black Friday traffic spikes. Implemented auto-scaling based on response time thresholds, reducing cart abandonment by 23%.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590443"/>
            <a:ext cx="4215408" cy="3207306"/>
          </a:xfrm>
          <a:prstGeom prst="roundRect">
            <a:avLst>
              <a:gd name="adj" fmla="val 5569"/>
            </a:avLst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5405795" y="278880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06" y="2918936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3582472"/>
            <a:ext cx="25918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Banking Application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4011692"/>
            <a:ext cx="38186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Ensuring 99.99% uptime for mobile banking services. Used distributed tracing to identify database bottlenecks, improving transaction processing by 40%.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590443"/>
            <a:ext cx="4215289" cy="3207306"/>
          </a:xfrm>
          <a:prstGeom prst="roundRect">
            <a:avLst>
              <a:gd name="adj" fmla="val 5569"/>
            </a:avLst>
          </a:prstGeom>
          <a:solidFill>
            <a:srgbClr val="E8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9819561" y="278880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272" y="2918936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35824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Media Streaming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4011692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Scaling video delivery infrastructure for millions of concurrent users. Predictive alerting prevented service degradation during viral content events.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60209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examples demonstrate how APM drives business outcomes through improved reliability, performance optimization, and proactive issue resolution.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580"/>
            <a:ext cx="74028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APM Best Practices Checklist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4049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54818"/>
            <a:ext cx="421528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997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Define KPIs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28938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Establish clear performance indicators aligned with business objectives and user experience goals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04049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354818"/>
            <a:ext cx="421540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2499717"/>
            <a:ext cx="27784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 Continuously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2928938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comprehensive monitoring across infrastructure, applications, and user experience layers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04049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354818"/>
            <a:ext cx="421528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24997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Alert Intelligently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2928938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Configure meaningful alerts with proper thresholds, reduce noise, and ensure actionable notifications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22874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4543068"/>
            <a:ext cx="6422112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4687967"/>
            <a:ext cx="25122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Automate Response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117187"/>
            <a:ext cx="642211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automated remediation for common issues and streamline incident response workflows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22874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4543068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46879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Review &amp; Improve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117187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Conduct regular performance reviews, analyze trends, and continuously optimize monitoring strategies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91446" y="6347579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"Effective APM transforms reactive firefighting into proactive performance optimization, enabling teams to deliver exceptional user experiences consistently."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93790" y="6124337"/>
            <a:ext cx="22860" cy="1081564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2025-09-16T08:38:05Z</dcterms:created>
  <dcterms:modified xsi:type="dcterms:W3CDTF">2025-09-16T08:38:05Z</dcterms:modified>
</cp:coreProperties>
</file>