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4630400" cy="8229600"/>
  <p:notesSz cx="8229600" cy="14630400"/>
  <p:embeddedFontLst>
    <p:embeddedFont>
      <p:font typeface="Fraunces Extra Bold"/>
      <p:regular r:id="rId17"/>
    </p:embeddedFont>
    <p:embeddedFont>
      <p:font typeface="Fraunces Extra Bold"/>
      <p:regular r:id="rId18"/>
    </p:embeddedFont>
    <p:embeddedFont>
      <p:font typeface="Nobile"/>
      <p:regular r:id="rId19"/>
    </p:embeddedFont>
    <p:embeddedFont>
      <p:font typeface="Nobile"/>
      <p:regular r:id="rId20"/>
    </p:embeddedFont>
    <p:embeddedFont>
      <p:font typeface="Nobile"/>
      <p:regular r:id="rId21"/>
    </p:embeddedFont>
    <p:embeddedFont>
      <p:font typeface="Nobile"/>
      <p:regular r:id="rId22"/>
    </p:embeddedFont>
  </p:embeddedFon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font" Target="fonts/font1.fntdata"/><Relationship Id="rId18" Type="http://schemas.openxmlformats.org/officeDocument/2006/relationships/font" Target="fonts/font2.fntdata"/><Relationship Id="rId19" Type="http://schemas.openxmlformats.org/officeDocument/2006/relationships/font" Target="fonts/font3.fntdata"/><Relationship Id="rId20" Type="http://schemas.openxmlformats.org/officeDocument/2006/relationships/font" Target="fonts/font4.fntdata"/><Relationship Id="rId21" Type="http://schemas.openxmlformats.org/officeDocument/2006/relationships/font" Target="fonts/font5.fntdata"/><Relationship Id="rId22" Type="http://schemas.openxmlformats.org/officeDocument/2006/relationships/font" Target="fonts/font6.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bg>
      <p:bgPr>
        <a:solidFill>
          <a:srgbClr val="000000"/>
        </a:solidFill>
      </p:bgPr>
    </p:bg>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DEEEE1"/>
          </a:solidFill>
          <a:ln/>
        </p:spPr>
      </p:sp>
      <p:sp>
        <p:nvSpPr>
          <p:cNvPr id="3" name="Shape 1"/>
          <p:cNvSpPr/>
          <p:nvPr/>
        </p:nvSpPr>
        <p:spPr>
          <a:xfrm>
            <a:off x="0" y="0"/>
            <a:ext cx="14630400" cy="8229600"/>
          </a:xfrm>
          <a:prstGeom prst="rect">
            <a:avLst/>
          </a:prstGeom>
          <a:solidFill>
            <a:srgbClr val="FAFFFA"/>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3.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4.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5.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6.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7.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8.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9.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slideLayout" Target="../slideLayouts/slideLayout10.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3179564"/>
            <a:ext cx="6945154" cy="620078"/>
          </a:xfrm>
          <a:prstGeom prst="rect">
            <a:avLst/>
          </a:prstGeom>
          <a:noFill/>
          <a:ln/>
        </p:spPr>
        <p:txBody>
          <a:bodyPr wrap="non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Dashboards &amp; Visualization</a:t>
            </a:r>
            <a:endParaRPr lang="en-US" sz="3900" dirty="0"/>
          </a:p>
        </p:txBody>
      </p:sp>
      <p:sp>
        <p:nvSpPr>
          <p:cNvPr id="4" name="Text 1"/>
          <p:cNvSpPr/>
          <p:nvPr/>
        </p:nvSpPr>
        <p:spPr>
          <a:xfrm>
            <a:off x="793790" y="4097298"/>
            <a:ext cx="7556421" cy="95261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Transform raw monitoring data into actionable insights through strategic dashboard design. This module explores how to build effective dashboards that serve different personas while maintaining clarity and purpose.</a:t>
            </a:r>
            <a:endParaRPr lang="en-US" sz="15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48070" y="514350"/>
            <a:ext cx="8829437" cy="584359"/>
          </a:xfrm>
          <a:prstGeom prst="rect">
            <a:avLst/>
          </a:prstGeom>
          <a:noFill/>
          <a:ln/>
        </p:spPr>
        <p:txBody>
          <a:bodyPr wrap="none" lIns="0" tIns="0" rIns="0" bIns="0" rtlCol="0" anchor="t"/>
          <a:lstStyle/>
          <a:p>
            <a:pPr algn="l" indent="0" marL="0">
              <a:lnSpc>
                <a:spcPts val="4600"/>
              </a:lnSpc>
              <a:buNone/>
            </a:pPr>
            <a:r>
              <a:rPr lang="en-US" sz="3650" b="1" dirty="0">
                <a:solidFill>
                  <a:srgbClr val="3B4540"/>
                </a:solidFill>
                <a:latin typeface="Fraunces Extra Bold" pitchFamily="34" charset="0"/>
                <a:ea typeface="Fraunces Extra Bold" pitchFamily="34" charset="-122"/>
                <a:cs typeface="Fraunces Extra Bold" pitchFamily="34" charset="-120"/>
              </a:rPr>
              <a:t>The Strategic Purpose of Dashboards</a:t>
            </a:r>
            <a:endParaRPr lang="en-US" sz="3650" dirty="0"/>
          </a:p>
        </p:txBody>
      </p:sp>
      <p:pic>
        <p:nvPicPr>
          <p:cNvPr id="3" name="Image 0" descr="preencoded.png">    </p:cNvPr>
          <p:cNvPicPr>
            <a:picLocks noChangeAspect="1"/>
          </p:cNvPicPr>
          <p:nvPr/>
        </p:nvPicPr>
        <p:blipFill>
          <a:blip r:embed="rId1"/>
          <a:stretch>
            <a:fillRect/>
          </a:stretch>
        </p:blipFill>
        <p:spPr>
          <a:xfrm>
            <a:off x="748070" y="1589603"/>
            <a:ext cx="6339007" cy="6339007"/>
          </a:xfrm>
          <a:prstGeom prst="rect">
            <a:avLst/>
          </a:prstGeom>
        </p:spPr>
      </p:pic>
      <p:sp>
        <p:nvSpPr>
          <p:cNvPr id="4" name="Text 1"/>
          <p:cNvSpPr/>
          <p:nvPr/>
        </p:nvSpPr>
        <p:spPr>
          <a:xfrm>
            <a:off x="7550944" y="1547455"/>
            <a:ext cx="6339007" cy="598408"/>
          </a:xfrm>
          <a:prstGeom prst="rect">
            <a:avLst/>
          </a:prstGeom>
          <a:noFill/>
          <a:ln/>
        </p:spPr>
        <p:txBody>
          <a:bodyPr wrap="square" lIns="0" tIns="0" rIns="0" bIns="0" rtlCol="0" anchor="t"/>
          <a:lstStyle/>
          <a:p>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Dashboards serve as the command center for modern IT operations, providing three critical functions that drive organizational success.</a:t>
            </a:r>
            <a:endParaRPr lang="en-US" sz="1450" dirty="0"/>
          </a:p>
        </p:txBody>
      </p:sp>
      <p:sp>
        <p:nvSpPr>
          <p:cNvPr id="5" name="Text 2"/>
          <p:cNvSpPr/>
          <p:nvPr/>
        </p:nvSpPr>
        <p:spPr>
          <a:xfrm>
            <a:off x="7550944" y="2314099"/>
            <a:ext cx="6339007" cy="1196816"/>
          </a:xfrm>
          <a:prstGeom prst="rect">
            <a:avLst/>
          </a:prstGeom>
          <a:noFill/>
          <a:ln/>
        </p:spPr>
        <p:txBody>
          <a:bodyPr wrap="square" lIns="0" tIns="0" rIns="0" bIns="0" rtlCol="0" anchor="t"/>
          <a:lstStyle/>
          <a:p>
            <a:pPr algn="l" indent="0" marL="0">
              <a:lnSpc>
                <a:spcPts val="2350"/>
              </a:lnSpc>
              <a:buNone/>
            </a:pPr>
            <a:r>
              <a:rPr lang="en-US" sz="1450" b="1" dirty="0">
                <a:solidFill>
                  <a:srgbClr val="438951"/>
                </a:solidFill>
                <a:latin typeface="Nobile" pitchFamily="34" charset="0"/>
                <a:ea typeface="Nobile" pitchFamily="34" charset="-122"/>
                <a:cs typeface="Nobile" pitchFamily="34" charset="-120"/>
              </a:rPr>
              <a:t>Real-time visibility</a:t>
            </a:r>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 enables teams to monitor system health continuously, identifying issues before they impact users. This proactive approach reduces mean time to detection (MTTD) and prevents minor incidents from escalating into major outages.</a:t>
            </a:r>
            <a:endParaRPr lang="en-US" sz="1450" dirty="0"/>
          </a:p>
        </p:txBody>
      </p:sp>
      <p:sp>
        <p:nvSpPr>
          <p:cNvPr id="6" name="Text 3"/>
          <p:cNvSpPr/>
          <p:nvPr/>
        </p:nvSpPr>
        <p:spPr>
          <a:xfrm>
            <a:off x="7550944" y="3679150"/>
            <a:ext cx="6339007" cy="897612"/>
          </a:xfrm>
          <a:prstGeom prst="rect">
            <a:avLst/>
          </a:prstGeom>
          <a:noFill/>
          <a:ln/>
        </p:spPr>
        <p:txBody>
          <a:bodyPr wrap="square" lIns="0" tIns="0" rIns="0" bIns="0" rtlCol="0" anchor="t"/>
          <a:lstStyle/>
          <a:p>
            <a:pPr algn="l" indent="0" marL="0">
              <a:lnSpc>
                <a:spcPts val="2350"/>
              </a:lnSpc>
              <a:buNone/>
            </a:pPr>
            <a:r>
              <a:rPr lang="en-US" sz="1450" b="1" dirty="0">
                <a:solidFill>
                  <a:srgbClr val="438951"/>
                </a:solidFill>
                <a:latin typeface="Nobile" pitchFamily="34" charset="0"/>
                <a:ea typeface="Nobile" pitchFamily="34" charset="-122"/>
                <a:cs typeface="Nobile" pitchFamily="34" charset="-120"/>
              </a:rPr>
              <a:t>Executive reporting</a:t>
            </a:r>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 translates technical metrics into business language, helping leadership understand system performance impact on revenue, customer satisfaction, and operational efficiency.</a:t>
            </a:r>
            <a:endParaRPr lang="en-US" sz="1450" dirty="0"/>
          </a:p>
        </p:txBody>
      </p:sp>
      <p:sp>
        <p:nvSpPr>
          <p:cNvPr id="7" name="Text 4"/>
          <p:cNvSpPr/>
          <p:nvPr/>
        </p:nvSpPr>
        <p:spPr>
          <a:xfrm>
            <a:off x="7550944" y="4744998"/>
            <a:ext cx="6339007" cy="897612"/>
          </a:xfrm>
          <a:prstGeom prst="rect">
            <a:avLst/>
          </a:prstGeom>
          <a:noFill/>
          <a:ln/>
        </p:spPr>
        <p:txBody>
          <a:bodyPr wrap="square" lIns="0" tIns="0" rIns="0" bIns="0" rtlCol="0" anchor="t"/>
          <a:lstStyle/>
          <a:p>
            <a:pPr algn="l" indent="0" marL="0">
              <a:lnSpc>
                <a:spcPts val="2350"/>
              </a:lnSpc>
              <a:buNone/>
            </a:pPr>
            <a:r>
              <a:rPr lang="en-US" sz="1450" b="1" dirty="0">
                <a:solidFill>
                  <a:srgbClr val="438951"/>
                </a:solidFill>
                <a:latin typeface="Nobile" pitchFamily="34" charset="0"/>
                <a:ea typeface="Nobile" pitchFamily="34" charset="-122"/>
                <a:cs typeface="Nobile" pitchFamily="34" charset="-120"/>
              </a:rPr>
              <a:t>Troubleshooting acceleration</a:t>
            </a:r>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 provides context-rich views that help engineers quickly isolate root causes, reducing mean time to resolution (MTTR) significantly.</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93790" y="836414"/>
            <a:ext cx="7556421" cy="1054179"/>
          </a:xfrm>
          <a:prstGeom prst="rect">
            <a:avLst/>
          </a:prstGeom>
          <a:noFill/>
          <a:ln/>
        </p:spPr>
        <p:txBody>
          <a:bodyPr wrap="square" lIns="0" tIns="0" rIns="0" bIns="0" rtlCol="0" anchor="t"/>
          <a:lstStyle/>
          <a:p>
            <a:pPr algn="l" indent="0" marL="0">
              <a:lnSpc>
                <a:spcPts val="4150"/>
              </a:lnSpc>
              <a:buNone/>
            </a:pPr>
            <a:r>
              <a:rPr lang="en-US" sz="3300" b="1" dirty="0">
                <a:solidFill>
                  <a:srgbClr val="3B4540"/>
                </a:solidFill>
                <a:latin typeface="Fraunces Extra Bold" pitchFamily="34" charset="0"/>
                <a:ea typeface="Fraunces Extra Bold" pitchFamily="34" charset="-122"/>
                <a:cs typeface="Fraunces Extra Bold" pitchFamily="34" charset="-120"/>
              </a:rPr>
              <a:t>Dashboard Types: Matching Tools to Needs</a:t>
            </a:r>
            <a:endParaRPr lang="en-US" sz="3300" dirty="0"/>
          </a:p>
        </p:txBody>
      </p:sp>
      <p:sp>
        <p:nvSpPr>
          <p:cNvPr id="4" name="Shape 1"/>
          <p:cNvSpPr/>
          <p:nvPr/>
        </p:nvSpPr>
        <p:spPr>
          <a:xfrm>
            <a:off x="793790" y="2143601"/>
            <a:ext cx="3693914" cy="2810351"/>
          </a:xfrm>
          <a:prstGeom prst="roundRect">
            <a:avLst>
              <a:gd name="adj" fmla="val 5403"/>
            </a:avLst>
          </a:prstGeom>
          <a:solidFill>
            <a:srgbClr val="E8F3E8"/>
          </a:solidFill>
          <a:ln/>
        </p:spPr>
      </p:sp>
      <p:sp>
        <p:nvSpPr>
          <p:cNvPr id="5" name="Text 2"/>
          <p:cNvSpPr/>
          <p:nvPr/>
        </p:nvSpPr>
        <p:spPr>
          <a:xfrm>
            <a:off x="962382" y="2312194"/>
            <a:ext cx="2355413" cy="263485"/>
          </a:xfrm>
          <a:prstGeom prst="rect">
            <a:avLst/>
          </a:prstGeom>
          <a:noFill/>
          <a:ln/>
        </p:spPr>
        <p:txBody>
          <a:bodyPr wrap="none" lIns="0" tIns="0" rIns="0" bIns="0" rtlCol="0" anchor="t"/>
          <a:lstStyle/>
          <a:p>
            <a:pPr algn="l" indent="0" marL="0">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Infrastructure Health</a:t>
            </a:r>
            <a:endParaRPr lang="en-US" sz="1650" dirty="0"/>
          </a:p>
        </p:txBody>
      </p:sp>
      <p:sp>
        <p:nvSpPr>
          <p:cNvPr id="6" name="Text 3"/>
          <p:cNvSpPr/>
          <p:nvPr/>
        </p:nvSpPr>
        <p:spPr>
          <a:xfrm>
            <a:off x="962382" y="2676882"/>
            <a:ext cx="3356729" cy="1079659"/>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Server metrics, network performance, resource utilization, and capacity planning. Focus on CPU, memory, disk I/O, and network throughput trends.</a:t>
            </a:r>
            <a:endParaRPr lang="en-US" sz="1300" dirty="0"/>
          </a:p>
        </p:txBody>
      </p:sp>
      <p:sp>
        <p:nvSpPr>
          <p:cNvPr id="7" name="Text 4"/>
          <p:cNvSpPr/>
          <p:nvPr/>
        </p:nvSpPr>
        <p:spPr>
          <a:xfrm>
            <a:off x="962382" y="3857744"/>
            <a:ext cx="3356729"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05449"/>
                </a:solidFill>
                <a:latin typeface="Nobile" pitchFamily="34" charset="0"/>
                <a:ea typeface="Nobile" pitchFamily="34" charset="-122"/>
                <a:cs typeface="Nobile" pitchFamily="34" charset="-120"/>
              </a:rPr>
              <a:t>System resource monitoring</a:t>
            </a:r>
            <a:endParaRPr lang="en-US" sz="1300" dirty="0"/>
          </a:p>
        </p:txBody>
      </p:sp>
      <p:sp>
        <p:nvSpPr>
          <p:cNvPr id="8" name="Text 5"/>
          <p:cNvSpPr/>
          <p:nvPr/>
        </p:nvSpPr>
        <p:spPr>
          <a:xfrm>
            <a:off x="962382" y="4186595"/>
            <a:ext cx="3356729"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05449"/>
                </a:solidFill>
                <a:latin typeface="Nobile" pitchFamily="34" charset="0"/>
                <a:ea typeface="Nobile" pitchFamily="34" charset="-122"/>
                <a:cs typeface="Nobile" pitchFamily="34" charset="-120"/>
              </a:rPr>
              <a:t>Network performance tracking</a:t>
            </a:r>
            <a:endParaRPr lang="en-US" sz="1300" dirty="0"/>
          </a:p>
        </p:txBody>
      </p:sp>
      <p:sp>
        <p:nvSpPr>
          <p:cNvPr id="9" name="Text 6"/>
          <p:cNvSpPr/>
          <p:nvPr/>
        </p:nvSpPr>
        <p:spPr>
          <a:xfrm>
            <a:off x="962382" y="4515445"/>
            <a:ext cx="3356729"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05449"/>
                </a:solidFill>
                <a:latin typeface="Nobile" pitchFamily="34" charset="0"/>
                <a:ea typeface="Nobile" pitchFamily="34" charset="-122"/>
                <a:cs typeface="Nobile" pitchFamily="34" charset="-120"/>
              </a:rPr>
              <a:t>Capacity planning insights</a:t>
            </a:r>
            <a:endParaRPr lang="en-US" sz="1300" dirty="0"/>
          </a:p>
        </p:txBody>
      </p:sp>
      <p:sp>
        <p:nvSpPr>
          <p:cNvPr id="10" name="Shape 7"/>
          <p:cNvSpPr/>
          <p:nvPr/>
        </p:nvSpPr>
        <p:spPr>
          <a:xfrm>
            <a:off x="4656296" y="2143601"/>
            <a:ext cx="3693914" cy="2810351"/>
          </a:xfrm>
          <a:prstGeom prst="roundRect">
            <a:avLst>
              <a:gd name="adj" fmla="val 5403"/>
            </a:avLst>
          </a:prstGeom>
          <a:solidFill>
            <a:srgbClr val="E8F3E8"/>
          </a:solidFill>
          <a:ln/>
        </p:spPr>
      </p:sp>
      <p:sp>
        <p:nvSpPr>
          <p:cNvPr id="11" name="Text 8"/>
          <p:cNvSpPr/>
          <p:nvPr/>
        </p:nvSpPr>
        <p:spPr>
          <a:xfrm>
            <a:off x="4824889" y="2312194"/>
            <a:ext cx="2715220" cy="263485"/>
          </a:xfrm>
          <a:prstGeom prst="rect">
            <a:avLst/>
          </a:prstGeom>
          <a:noFill/>
          <a:ln/>
        </p:spPr>
        <p:txBody>
          <a:bodyPr wrap="none" lIns="0" tIns="0" rIns="0" bIns="0" rtlCol="0" anchor="t"/>
          <a:lstStyle/>
          <a:p>
            <a:pPr algn="l" indent="0" marL="0">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Application Performance</a:t>
            </a:r>
            <a:endParaRPr lang="en-US" sz="1650" dirty="0"/>
          </a:p>
        </p:txBody>
      </p:sp>
      <p:sp>
        <p:nvSpPr>
          <p:cNvPr id="12" name="Text 9"/>
          <p:cNvSpPr/>
          <p:nvPr/>
        </p:nvSpPr>
        <p:spPr>
          <a:xfrm>
            <a:off x="4824889" y="2676882"/>
            <a:ext cx="3356729" cy="1079659"/>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Response times, error rates, throughput, and user experience metrics. Essential for maintaining SLAs and optimizing application delivery.</a:t>
            </a:r>
            <a:endParaRPr lang="en-US" sz="1300" dirty="0"/>
          </a:p>
        </p:txBody>
      </p:sp>
      <p:sp>
        <p:nvSpPr>
          <p:cNvPr id="13" name="Text 10"/>
          <p:cNvSpPr/>
          <p:nvPr/>
        </p:nvSpPr>
        <p:spPr>
          <a:xfrm>
            <a:off x="4824889" y="3857744"/>
            <a:ext cx="3356729"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05449"/>
                </a:solidFill>
                <a:latin typeface="Nobile" pitchFamily="34" charset="0"/>
                <a:ea typeface="Nobile" pitchFamily="34" charset="-122"/>
                <a:cs typeface="Nobile" pitchFamily="34" charset="-120"/>
              </a:rPr>
              <a:t>Response time analysis</a:t>
            </a:r>
            <a:endParaRPr lang="en-US" sz="1300" dirty="0"/>
          </a:p>
        </p:txBody>
      </p:sp>
      <p:sp>
        <p:nvSpPr>
          <p:cNvPr id="14" name="Text 11"/>
          <p:cNvSpPr/>
          <p:nvPr/>
        </p:nvSpPr>
        <p:spPr>
          <a:xfrm>
            <a:off x="4824889" y="4186595"/>
            <a:ext cx="3356729"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05449"/>
                </a:solidFill>
                <a:latin typeface="Nobile" pitchFamily="34" charset="0"/>
                <a:ea typeface="Nobile" pitchFamily="34" charset="-122"/>
                <a:cs typeface="Nobile" pitchFamily="34" charset="-120"/>
              </a:rPr>
              <a:t>Error rate monitoring</a:t>
            </a:r>
            <a:endParaRPr lang="en-US" sz="1300" dirty="0"/>
          </a:p>
        </p:txBody>
      </p:sp>
      <p:sp>
        <p:nvSpPr>
          <p:cNvPr id="15" name="Text 12"/>
          <p:cNvSpPr/>
          <p:nvPr/>
        </p:nvSpPr>
        <p:spPr>
          <a:xfrm>
            <a:off x="4824889" y="4515445"/>
            <a:ext cx="3356729"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05449"/>
                </a:solidFill>
                <a:latin typeface="Nobile" pitchFamily="34" charset="0"/>
                <a:ea typeface="Nobile" pitchFamily="34" charset="-122"/>
                <a:cs typeface="Nobile" pitchFamily="34" charset="-120"/>
              </a:rPr>
              <a:t>Transaction tracking</a:t>
            </a:r>
            <a:endParaRPr lang="en-US" sz="1300" dirty="0"/>
          </a:p>
        </p:txBody>
      </p:sp>
      <p:sp>
        <p:nvSpPr>
          <p:cNvPr id="16" name="Shape 13"/>
          <p:cNvSpPr/>
          <p:nvPr/>
        </p:nvSpPr>
        <p:spPr>
          <a:xfrm>
            <a:off x="793790" y="5122545"/>
            <a:ext cx="7556421" cy="2270522"/>
          </a:xfrm>
          <a:prstGeom prst="roundRect">
            <a:avLst>
              <a:gd name="adj" fmla="val 6687"/>
            </a:avLst>
          </a:prstGeom>
          <a:solidFill>
            <a:srgbClr val="E8F3E8"/>
          </a:solidFill>
          <a:ln/>
        </p:spPr>
      </p:sp>
      <p:sp>
        <p:nvSpPr>
          <p:cNvPr id="17" name="Text 14"/>
          <p:cNvSpPr/>
          <p:nvPr/>
        </p:nvSpPr>
        <p:spPr>
          <a:xfrm>
            <a:off x="962382" y="5291138"/>
            <a:ext cx="2108716" cy="263485"/>
          </a:xfrm>
          <a:prstGeom prst="rect">
            <a:avLst/>
          </a:prstGeom>
          <a:noFill/>
          <a:ln/>
        </p:spPr>
        <p:txBody>
          <a:bodyPr wrap="none" lIns="0" tIns="0" rIns="0" bIns="0" rtlCol="0" anchor="t"/>
          <a:lstStyle/>
          <a:p>
            <a:pPr algn="l" indent="0" marL="0">
              <a:lnSpc>
                <a:spcPts val="2050"/>
              </a:lnSpc>
              <a:buNone/>
            </a:pPr>
            <a:r>
              <a:rPr lang="en-US" sz="1650" b="1" dirty="0">
                <a:solidFill>
                  <a:srgbClr val="405449"/>
                </a:solidFill>
                <a:latin typeface="Fraunces Extra Bold" pitchFamily="34" charset="0"/>
                <a:ea typeface="Fraunces Extra Bold" pitchFamily="34" charset="-122"/>
                <a:cs typeface="Fraunces Extra Bold" pitchFamily="34" charset="-120"/>
              </a:rPr>
              <a:t>Business KPIs</a:t>
            </a:r>
            <a:endParaRPr lang="en-US" sz="1650" dirty="0"/>
          </a:p>
        </p:txBody>
      </p:sp>
      <p:sp>
        <p:nvSpPr>
          <p:cNvPr id="18" name="Text 15"/>
          <p:cNvSpPr/>
          <p:nvPr/>
        </p:nvSpPr>
        <p:spPr>
          <a:xfrm>
            <a:off x="962382" y="5655826"/>
            <a:ext cx="7219236" cy="539829"/>
          </a:xfrm>
          <a:prstGeom prst="rect">
            <a:avLst/>
          </a:prstGeom>
          <a:noFill/>
          <a:ln/>
        </p:spPr>
        <p:txBody>
          <a:bodyPr wrap="square" lIns="0" tIns="0" rIns="0" bIns="0" rtlCol="0" anchor="t"/>
          <a:lstStyle/>
          <a:p>
            <a:pPr algn="l" indent="0" marL="0">
              <a:lnSpc>
                <a:spcPts val="2100"/>
              </a:lnSpc>
              <a:buNone/>
            </a:pPr>
            <a:r>
              <a:rPr lang="en-US" sz="1300" dirty="0">
                <a:solidFill>
                  <a:srgbClr val="405449"/>
                </a:solidFill>
                <a:latin typeface="Nobile" pitchFamily="34" charset="0"/>
                <a:ea typeface="Nobile" pitchFamily="34" charset="-122"/>
                <a:cs typeface="Nobile" pitchFamily="34" charset="-120"/>
              </a:rPr>
              <a:t>Revenue impact, customer satisfaction scores, conversion rates, and operational efficiency metrics that connect IT performance to business outcomes.</a:t>
            </a:r>
            <a:endParaRPr lang="en-US" sz="1300" dirty="0"/>
          </a:p>
        </p:txBody>
      </p:sp>
      <p:sp>
        <p:nvSpPr>
          <p:cNvPr id="19" name="Text 16"/>
          <p:cNvSpPr/>
          <p:nvPr/>
        </p:nvSpPr>
        <p:spPr>
          <a:xfrm>
            <a:off x="962382" y="6296858"/>
            <a:ext cx="7219236"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05449"/>
                </a:solidFill>
                <a:latin typeface="Nobile" pitchFamily="34" charset="0"/>
                <a:ea typeface="Nobile" pitchFamily="34" charset="-122"/>
                <a:cs typeface="Nobile" pitchFamily="34" charset="-120"/>
              </a:rPr>
              <a:t>Revenue correlation</a:t>
            </a:r>
            <a:endParaRPr lang="en-US" sz="1300" dirty="0"/>
          </a:p>
        </p:txBody>
      </p:sp>
      <p:sp>
        <p:nvSpPr>
          <p:cNvPr id="20" name="Text 17"/>
          <p:cNvSpPr/>
          <p:nvPr/>
        </p:nvSpPr>
        <p:spPr>
          <a:xfrm>
            <a:off x="962382" y="6625709"/>
            <a:ext cx="7219236"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05449"/>
                </a:solidFill>
                <a:latin typeface="Nobile" pitchFamily="34" charset="0"/>
                <a:ea typeface="Nobile" pitchFamily="34" charset="-122"/>
                <a:cs typeface="Nobile" pitchFamily="34" charset="-120"/>
              </a:rPr>
              <a:t>Customer impact metrics</a:t>
            </a:r>
            <a:endParaRPr lang="en-US" sz="1300" dirty="0"/>
          </a:p>
        </p:txBody>
      </p:sp>
      <p:sp>
        <p:nvSpPr>
          <p:cNvPr id="21" name="Text 18"/>
          <p:cNvSpPr/>
          <p:nvPr/>
        </p:nvSpPr>
        <p:spPr>
          <a:xfrm>
            <a:off x="962382" y="6954560"/>
            <a:ext cx="7219236" cy="269915"/>
          </a:xfrm>
          <a:prstGeom prst="rect">
            <a:avLst/>
          </a:prstGeom>
          <a:noFill/>
          <a:ln/>
        </p:spPr>
        <p:txBody>
          <a:bodyPr wrap="none" lIns="0" tIns="0" rIns="0" bIns="0" rtlCol="0" anchor="t"/>
          <a:lstStyle/>
          <a:p>
            <a:pPr algn="l" marL="342900" indent="-342900">
              <a:lnSpc>
                <a:spcPts val="2100"/>
              </a:lnSpc>
              <a:buSzPct val="100000"/>
              <a:buChar char="•"/>
            </a:pPr>
            <a:r>
              <a:rPr lang="en-US" sz="1300" dirty="0">
                <a:solidFill>
                  <a:srgbClr val="405449"/>
                </a:solidFill>
                <a:latin typeface="Nobile" pitchFamily="34" charset="0"/>
                <a:ea typeface="Nobile" pitchFamily="34" charset="-122"/>
                <a:cs typeface="Nobile" pitchFamily="34" charset="-120"/>
              </a:rPr>
              <a:t>Operational efficiency</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08027" y="280511"/>
            <a:ext cx="3853339" cy="318730"/>
          </a:xfrm>
          <a:prstGeom prst="rect">
            <a:avLst/>
          </a:prstGeom>
          <a:noFill/>
          <a:ln/>
        </p:spPr>
        <p:txBody>
          <a:bodyPr wrap="none" lIns="0" tIns="0" rIns="0" bIns="0" rtlCol="0" anchor="t"/>
          <a:lstStyle/>
          <a:p>
            <a:pPr algn="l" indent="0" marL="0">
              <a:lnSpc>
                <a:spcPts val="2500"/>
              </a:lnSpc>
              <a:buNone/>
            </a:pPr>
            <a:r>
              <a:rPr lang="en-US" sz="2000" b="1" dirty="0">
                <a:solidFill>
                  <a:srgbClr val="3B4540"/>
                </a:solidFill>
                <a:latin typeface="Fraunces Extra Bold" pitchFamily="34" charset="0"/>
                <a:ea typeface="Fraunces Extra Bold" pitchFamily="34" charset="-122"/>
                <a:cs typeface="Fraunces Extra Bold" pitchFamily="34" charset="-120"/>
              </a:rPr>
              <a:t>Essential Dashboard Features</a:t>
            </a:r>
            <a:endParaRPr lang="en-US" sz="2000" dirty="0"/>
          </a:p>
        </p:txBody>
      </p:sp>
      <p:sp>
        <p:nvSpPr>
          <p:cNvPr id="3" name="Text 1"/>
          <p:cNvSpPr/>
          <p:nvPr/>
        </p:nvSpPr>
        <p:spPr>
          <a:xfrm>
            <a:off x="408027" y="854154"/>
            <a:ext cx="1713428" cy="191214"/>
          </a:xfrm>
          <a:prstGeom prst="rect">
            <a:avLst/>
          </a:prstGeom>
          <a:noFill/>
          <a:ln/>
        </p:spPr>
        <p:txBody>
          <a:bodyPr wrap="none" lIns="0" tIns="0" rIns="0" bIns="0" rtlCol="0" anchor="t"/>
          <a:lstStyle/>
          <a:p>
            <a:pPr algn="l" indent="0" marL="0">
              <a:lnSpc>
                <a:spcPts val="1500"/>
              </a:lnSpc>
              <a:buNone/>
            </a:pPr>
            <a:r>
              <a:rPr lang="en-US" sz="1200" b="1" dirty="0">
                <a:solidFill>
                  <a:srgbClr val="3B4540"/>
                </a:solidFill>
                <a:latin typeface="Fraunces Extra Bold" pitchFamily="34" charset="0"/>
                <a:ea typeface="Fraunces Extra Bold" pitchFamily="34" charset="-122"/>
                <a:cs typeface="Fraunces Extra Bold" pitchFamily="34" charset="-120"/>
              </a:rPr>
              <a:t>Drill-Down Capability</a:t>
            </a:r>
            <a:endParaRPr lang="en-US" sz="1200" dirty="0"/>
          </a:p>
        </p:txBody>
      </p:sp>
      <p:sp>
        <p:nvSpPr>
          <p:cNvPr id="4" name="Text 2"/>
          <p:cNvSpPr/>
          <p:nvPr/>
        </p:nvSpPr>
        <p:spPr>
          <a:xfrm>
            <a:off x="408027" y="1147286"/>
            <a:ext cx="8189000" cy="326469"/>
          </a:xfrm>
          <a:prstGeom prst="rect">
            <a:avLst/>
          </a:prstGeom>
          <a:noFill/>
          <a:ln/>
        </p:spPr>
        <p:txBody>
          <a:bodyPr wrap="square" lIns="0" tIns="0" rIns="0" bIns="0" rtlCol="0" anchor="t"/>
          <a:lstStyle/>
          <a:p>
            <a:pPr algn="l" indent="0" marL="0">
              <a:lnSpc>
                <a:spcPts val="1250"/>
              </a:lnSpc>
              <a:buNone/>
            </a:pPr>
            <a:r>
              <a:rPr lang="en-US" sz="800" dirty="0">
                <a:solidFill>
                  <a:srgbClr val="405449"/>
                </a:solidFill>
                <a:latin typeface="Nobile" pitchFamily="34" charset="0"/>
                <a:ea typeface="Nobile" pitchFamily="34" charset="-122"/>
                <a:cs typeface="Nobile" pitchFamily="34" charset="-120"/>
              </a:rPr>
              <a:t>Effective dashboards provide multiple levels of detail, allowing users to start with high-level overviews and progressively drill down to specific metrics, time ranges, or system components. This hierarchical approach supports both executive summaries and detailed technical investigations.</a:t>
            </a:r>
            <a:endParaRPr lang="en-US" sz="800" dirty="0"/>
          </a:p>
        </p:txBody>
      </p:sp>
      <p:sp>
        <p:nvSpPr>
          <p:cNvPr id="5" name="Text 3"/>
          <p:cNvSpPr/>
          <p:nvPr/>
        </p:nvSpPr>
        <p:spPr>
          <a:xfrm>
            <a:off x="408027" y="1565553"/>
            <a:ext cx="8189000" cy="326469"/>
          </a:xfrm>
          <a:prstGeom prst="rect">
            <a:avLst/>
          </a:prstGeom>
          <a:noFill/>
          <a:ln/>
        </p:spPr>
        <p:txBody>
          <a:bodyPr wrap="square" lIns="0" tIns="0" rIns="0" bIns="0" rtlCol="0" anchor="t"/>
          <a:lstStyle/>
          <a:p>
            <a:pPr algn="l" indent="0" marL="0">
              <a:lnSpc>
                <a:spcPts val="1250"/>
              </a:lnSpc>
              <a:buNone/>
            </a:pPr>
            <a:r>
              <a:rPr lang="en-US" sz="800" dirty="0">
                <a:solidFill>
                  <a:srgbClr val="405449"/>
                </a:solidFill>
                <a:latin typeface="Nobile" pitchFamily="34" charset="0"/>
                <a:ea typeface="Nobile" pitchFamily="34" charset="-122"/>
                <a:cs typeface="Nobile" pitchFamily="34" charset="-120"/>
              </a:rPr>
              <a:t>Implement intuitive navigation that preserves context while enabling deeper analysis. Users should be able to click from a service overview to individual server metrics without losing their investigation thread.</a:t>
            </a:r>
            <a:endParaRPr lang="en-US" sz="800" dirty="0"/>
          </a:p>
        </p:txBody>
      </p:sp>
      <p:sp>
        <p:nvSpPr>
          <p:cNvPr id="6" name="Text 4"/>
          <p:cNvSpPr/>
          <p:nvPr/>
        </p:nvSpPr>
        <p:spPr>
          <a:xfrm>
            <a:off x="408027" y="1993940"/>
            <a:ext cx="1978938" cy="191214"/>
          </a:xfrm>
          <a:prstGeom prst="rect">
            <a:avLst/>
          </a:prstGeom>
          <a:noFill/>
          <a:ln/>
        </p:spPr>
        <p:txBody>
          <a:bodyPr wrap="none" lIns="0" tIns="0" rIns="0" bIns="0" rtlCol="0" anchor="t"/>
          <a:lstStyle/>
          <a:p>
            <a:pPr algn="l" indent="0" marL="0">
              <a:lnSpc>
                <a:spcPts val="1500"/>
              </a:lnSpc>
              <a:buNone/>
            </a:pPr>
            <a:r>
              <a:rPr lang="en-US" sz="1200" b="1" dirty="0">
                <a:solidFill>
                  <a:srgbClr val="3B4540"/>
                </a:solidFill>
                <a:latin typeface="Fraunces Extra Bold" pitchFamily="34" charset="0"/>
                <a:ea typeface="Fraunces Extra Bold" pitchFamily="34" charset="-122"/>
                <a:cs typeface="Fraunces Extra Bold" pitchFamily="34" charset="-120"/>
              </a:rPr>
              <a:t>Cross-Source Correlation</a:t>
            </a:r>
            <a:endParaRPr lang="en-US" sz="1200" dirty="0"/>
          </a:p>
        </p:txBody>
      </p:sp>
      <p:sp>
        <p:nvSpPr>
          <p:cNvPr id="7" name="Text 5"/>
          <p:cNvSpPr/>
          <p:nvPr/>
        </p:nvSpPr>
        <p:spPr>
          <a:xfrm>
            <a:off x="408027" y="2287072"/>
            <a:ext cx="8189000" cy="326469"/>
          </a:xfrm>
          <a:prstGeom prst="rect">
            <a:avLst/>
          </a:prstGeom>
          <a:noFill/>
          <a:ln/>
        </p:spPr>
        <p:txBody>
          <a:bodyPr wrap="square" lIns="0" tIns="0" rIns="0" bIns="0" rtlCol="0" anchor="t"/>
          <a:lstStyle/>
          <a:p>
            <a:pPr algn="l" indent="0" marL="0">
              <a:lnSpc>
                <a:spcPts val="1250"/>
              </a:lnSpc>
              <a:buNone/>
            </a:pPr>
            <a:r>
              <a:rPr lang="en-US" sz="800" dirty="0">
                <a:solidFill>
                  <a:srgbClr val="405449"/>
                </a:solidFill>
                <a:latin typeface="Nobile" pitchFamily="34" charset="0"/>
                <a:ea typeface="Nobile" pitchFamily="34" charset="-122"/>
                <a:cs typeface="Nobile" pitchFamily="34" charset="-120"/>
              </a:rPr>
              <a:t>Modern systems generate data across multiple tools and platforms. Advanced dashboards correlate metrics from infrastructure monitoring, application performance tools, log aggregation systems, and business analytics platforms to provide holistic insights.</a:t>
            </a:r>
            <a:endParaRPr lang="en-US" sz="800" dirty="0"/>
          </a:p>
        </p:txBody>
      </p:sp>
      <p:sp>
        <p:nvSpPr>
          <p:cNvPr id="8" name="Text 6"/>
          <p:cNvSpPr/>
          <p:nvPr/>
        </p:nvSpPr>
        <p:spPr>
          <a:xfrm>
            <a:off x="408027" y="2705338"/>
            <a:ext cx="8189000" cy="163235"/>
          </a:xfrm>
          <a:prstGeom prst="rect">
            <a:avLst/>
          </a:prstGeom>
          <a:noFill/>
          <a:ln/>
        </p:spPr>
        <p:txBody>
          <a:bodyPr wrap="none" lIns="0" tIns="0" rIns="0" bIns="0" rtlCol="0" anchor="t"/>
          <a:lstStyle/>
          <a:p>
            <a:pPr algn="l" indent="0" marL="0">
              <a:lnSpc>
                <a:spcPts val="1250"/>
              </a:lnSpc>
              <a:buNone/>
            </a:pPr>
            <a:r>
              <a:rPr lang="en-US" sz="800" dirty="0">
                <a:solidFill>
                  <a:srgbClr val="405449"/>
                </a:solidFill>
                <a:latin typeface="Nobile" pitchFamily="34" charset="0"/>
                <a:ea typeface="Nobile" pitchFamily="34" charset="-122"/>
                <a:cs typeface="Nobile" pitchFamily="34" charset="-120"/>
              </a:rPr>
              <a:t>This correlation capability is crucial for understanding complex system interactions and identifying cascade failures that span multiple layers of your technology stack.</a:t>
            </a:r>
            <a:endParaRPr lang="en-US" sz="800" dirty="0"/>
          </a:p>
        </p:txBody>
      </p:sp>
      <p:pic>
        <p:nvPicPr>
          <p:cNvPr id="9" name="Image 0" descr="preencoded.png">    </p:cNvPr>
          <p:cNvPicPr>
            <a:picLocks noChangeAspect="1"/>
          </p:cNvPicPr>
          <p:nvPr/>
        </p:nvPicPr>
        <p:blipFill>
          <a:blip r:embed="rId1"/>
          <a:stretch>
            <a:fillRect/>
          </a:stretch>
        </p:blipFill>
        <p:spPr>
          <a:xfrm>
            <a:off x="8853488" y="866894"/>
            <a:ext cx="5376386" cy="5376386"/>
          </a:xfrm>
          <a:prstGeom prst="rect">
            <a:avLst/>
          </a:prstGeom>
        </p:spPr>
      </p:pic>
      <p:pic>
        <p:nvPicPr>
          <p:cNvPr id="10" name="Image 1" descr="preencoded.png">    </p:cNvPr>
          <p:cNvPicPr>
            <a:picLocks noChangeAspect="1"/>
          </p:cNvPicPr>
          <p:nvPr/>
        </p:nvPicPr>
        <p:blipFill>
          <a:blip r:embed="rId2"/>
          <a:stretch>
            <a:fillRect/>
          </a:stretch>
        </p:blipFill>
        <p:spPr>
          <a:xfrm>
            <a:off x="8853488" y="6357938"/>
            <a:ext cx="5376386" cy="5376386"/>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9144000" y="0"/>
            <a:ext cx="5486400" cy="8229600"/>
          </a:xfrm>
          <a:prstGeom prst="rect">
            <a:avLst/>
          </a:prstGeom>
        </p:spPr>
      </p:pic>
      <p:sp>
        <p:nvSpPr>
          <p:cNvPr id="3" name="Text 0"/>
          <p:cNvSpPr/>
          <p:nvPr/>
        </p:nvSpPr>
        <p:spPr>
          <a:xfrm>
            <a:off x="782955" y="538520"/>
            <a:ext cx="7578090" cy="917496"/>
          </a:xfrm>
          <a:prstGeom prst="rect">
            <a:avLst/>
          </a:prstGeom>
          <a:noFill/>
          <a:ln/>
        </p:spPr>
        <p:txBody>
          <a:bodyPr wrap="square" lIns="0" tIns="0" rIns="0" bIns="0" rtlCol="0" anchor="t"/>
          <a:lstStyle/>
          <a:p>
            <a:pPr algn="l" indent="0" marL="0">
              <a:lnSpc>
                <a:spcPts val="3600"/>
              </a:lnSpc>
              <a:buNone/>
            </a:pPr>
            <a:r>
              <a:rPr lang="en-US" sz="2850" b="1" dirty="0">
                <a:solidFill>
                  <a:srgbClr val="3B4540"/>
                </a:solidFill>
                <a:latin typeface="Fraunces Extra Bold" pitchFamily="34" charset="0"/>
                <a:ea typeface="Fraunces Extra Bold" pitchFamily="34" charset="-122"/>
                <a:cs typeface="Fraunces Extra Bold" pitchFamily="34" charset="-120"/>
              </a:rPr>
              <a:t>Dashboard Demo: Building Your First Monitoring View</a:t>
            </a:r>
            <a:endParaRPr lang="en-US" sz="2850" dirty="0"/>
          </a:p>
        </p:txBody>
      </p:sp>
      <p:sp>
        <p:nvSpPr>
          <p:cNvPr id="4" name="Text 1"/>
          <p:cNvSpPr/>
          <p:nvPr/>
        </p:nvSpPr>
        <p:spPr>
          <a:xfrm>
            <a:off x="782955" y="1676162"/>
            <a:ext cx="7578090" cy="469582"/>
          </a:xfrm>
          <a:prstGeom prst="rect">
            <a:avLst/>
          </a:prstGeom>
          <a:noFill/>
          <a:ln/>
        </p:spPr>
        <p:txBody>
          <a:bodyPr wrap="square" lIns="0" tIns="0" rIns="0" bIns="0" rtlCol="0" anchor="t"/>
          <a:lstStyle/>
          <a:p>
            <a:pPr algn="l" indent="0" marL="0">
              <a:lnSpc>
                <a:spcPts val="1800"/>
              </a:lnSpc>
              <a:buNone/>
            </a:pPr>
            <a:r>
              <a:rPr lang="en-US" sz="1150" dirty="0">
                <a:solidFill>
                  <a:srgbClr val="405449"/>
                </a:solidFill>
                <a:latin typeface="Nobile" pitchFamily="34" charset="0"/>
                <a:ea typeface="Nobile" pitchFamily="34" charset="-122"/>
                <a:cs typeface="Nobile" pitchFamily="34" charset="-120"/>
              </a:rPr>
              <a:t>Let's walk through creating a comprehensive dashboard using industry-standard tools. We'll demonstrate both New Relic Insights and Grafana approaches to showcase different methodologies.</a:t>
            </a:r>
            <a:endParaRPr lang="en-US" sz="1150" dirty="0"/>
          </a:p>
        </p:txBody>
      </p:sp>
      <p:sp>
        <p:nvSpPr>
          <p:cNvPr id="5" name="Text 2"/>
          <p:cNvSpPr/>
          <p:nvPr/>
        </p:nvSpPr>
        <p:spPr>
          <a:xfrm>
            <a:off x="782955" y="2310884"/>
            <a:ext cx="146804" cy="183475"/>
          </a:xfrm>
          <a:prstGeom prst="rect">
            <a:avLst/>
          </a:prstGeom>
          <a:noFill/>
          <a:ln/>
        </p:spPr>
        <p:txBody>
          <a:bodyPr wrap="none" lIns="0" tIns="0" rIns="0" bIns="0" rtlCol="0" anchor="t"/>
          <a:lstStyle/>
          <a:p>
            <a:pPr algn="l" indent="0" marL="0">
              <a:lnSpc>
                <a:spcPts val="1800"/>
              </a:lnSpc>
              <a:buNone/>
            </a:pPr>
            <a:r>
              <a:rPr lang="en-US" sz="1150" dirty="0">
                <a:solidFill>
                  <a:srgbClr val="405449"/>
                </a:solidFill>
                <a:latin typeface="Fraunces Light" pitchFamily="34" charset="0"/>
                <a:ea typeface="Fraunces Light" pitchFamily="34" charset="-122"/>
                <a:cs typeface="Fraunces Light" pitchFamily="34" charset="-120"/>
              </a:rPr>
              <a:t>01</a:t>
            </a:r>
            <a:endParaRPr lang="en-US" sz="1150" dirty="0"/>
          </a:p>
        </p:txBody>
      </p:sp>
      <p:sp>
        <p:nvSpPr>
          <p:cNvPr id="6" name="Shape 3"/>
          <p:cNvSpPr/>
          <p:nvPr/>
        </p:nvSpPr>
        <p:spPr>
          <a:xfrm>
            <a:off x="782955" y="2545080"/>
            <a:ext cx="7578090" cy="15240"/>
          </a:xfrm>
          <a:prstGeom prst="rect">
            <a:avLst/>
          </a:prstGeom>
          <a:solidFill>
            <a:srgbClr val="438951"/>
          </a:solidFill>
          <a:ln/>
        </p:spPr>
      </p:sp>
      <p:sp>
        <p:nvSpPr>
          <p:cNvPr id="7" name="Text 4"/>
          <p:cNvSpPr/>
          <p:nvPr/>
        </p:nvSpPr>
        <p:spPr>
          <a:xfrm>
            <a:off x="782955" y="2648903"/>
            <a:ext cx="2493526" cy="229314"/>
          </a:xfrm>
          <a:prstGeom prst="rect">
            <a:avLst/>
          </a:prstGeom>
          <a:noFill/>
          <a:ln/>
        </p:spPr>
        <p:txBody>
          <a:bodyPr wrap="none" lIns="0" tIns="0" rIns="0" bIns="0" rtlCol="0" anchor="t"/>
          <a:lstStyle/>
          <a:p>
            <a:pPr algn="l" indent="0" marL="0">
              <a:lnSpc>
                <a:spcPts val="1800"/>
              </a:lnSpc>
              <a:buNone/>
            </a:pPr>
            <a:r>
              <a:rPr lang="en-US" sz="1400" b="1" dirty="0">
                <a:solidFill>
                  <a:srgbClr val="405449"/>
                </a:solidFill>
                <a:latin typeface="Fraunces Extra Bold" pitchFamily="34" charset="0"/>
                <a:ea typeface="Fraunces Extra Bold" pitchFamily="34" charset="-122"/>
                <a:cs typeface="Fraunces Extra Bold" pitchFamily="34" charset="-120"/>
              </a:rPr>
              <a:t>Data Source Configuration</a:t>
            </a:r>
            <a:endParaRPr lang="en-US" sz="1400" dirty="0"/>
          </a:p>
        </p:txBody>
      </p:sp>
      <p:sp>
        <p:nvSpPr>
          <p:cNvPr id="8" name="Text 5"/>
          <p:cNvSpPr/>
          <p:nvPr/>
        </p:nvSpPr>
        <p:spPr>
          <a:xfrm>
            <a:off x="782955" y="2966204"/>
            <a:ext cx="7578090" cy="469582"/>
          </a:xfrm>
          <a:prstGeom prst="rect">
            <a:avLst/>
          </a:prstGeom>
          <a:noFill/>
          <a:ln/>
        </p:spPr>
        <p:txBody>
          <a:bodyPr wrap="square" lIns="0" tIns="0" rIns="0" bIns="0" rtlCol="0" anchor="t"/>
          <a:lstStyle/>
          <a:p>
            <a:pPr algn="l" indent="0" marL="0">
              <a:lnSpc>
                <a:spcPts val="1800"/>
              </a:lnSpc>
              <a:buNone/>
            </a:pPr>
            <a:r>
              <a:rPr lang="en-US" sz="1150" dirty="0">
                <a:solidFill>
                  <a:srgbClr val="405449"/>
                </a:solidFill>
                <a:latin typeface="Nobile" pitchFamily="34" charset="0"/>
                <a:ea typeface="Nobile" pitchFamily="34" charset="-122"/>
                <a:cs typeface="Nobile" pitchFamily="34" charset="-120"/>
              </a:rPr>
              <a:t>Connect to your monitoring tools, databases, and APIs. Establish authentication and validate data connectivity before proceeding with visualization.</a:t>
            </a:r>
            <a:endParaRPr lang="en-US" sz="1150" dirty="0"/>
          </a:p>
        </p:txBody>
      </p:sp>
      <p:sp>
        <p:nvSpPr>
          <p:cNvPr id="9" name="Text 6"/>
          <p:cNvSpPr/>
          <p:nvPr/>
        </p:nvSpPr>
        <p:spPr>
          <a:xfrm>
            <a:off x="782955" y="3692604"/>
            <a:ext cx="146804" cy="183475"/>
          </a:xfrm>
          <a:prstGeom prst="rect">
            <a:avLst/>
          </a:prstGeom>
          <a:noFill/>
          <a:ln/>
        </p:spPr>
        <p:txBody>
          <a:bodyPr wrap="none" lIns="0" tIns="0" rIns="0" bIns="0" rtlCol="0" anchor="t"/>
          <a:lstStyle/>
          <a:p>
            <a:pPr algn="l" indent="0" marL="0">
              <a:lnSpc>
                <a:spcPts val="1800"/>
              </a:lnSpc>
              <a:buNone/>
            </a:pPr>
            <a:r>
              <a:rPr lang="en-US" sz="1150" dirty="0">
                <a:solidFill>
                  <a:srgbClr val="405449"/>
                </a:solidFill>
                <a:latin typeface="Fraunces Light" pitchFamily="34" charset="0"/>
                <a:ea typeface="Fraunces Light" pitchFamily="34" charset="-122"/>
                <a:cs typeface="Fraunces Light" pitchFamily="34" charset="-120"/>
              </a:rPr>
              <a:t>02</a:t>
            </a:r>
            <a:endParaRPr lang="en-US" sz="1150" dirty="0"/>
          </a:p>
        </p:txBody>
      </p:sp>
      <p:sp>
        <p:nvSpPr>
          <p:cNvPr id="10" name="Shape 7"/>
          <p:cNvSpPr/>
          <p:nvPr/>
        </p:nvSpPr>
        <p:spPr>
          <a:xfrm>
            <a:off x="782955" y="3926800"/>
            <a:ext cx="7578090" cy="15240"/>
          </a:xfrm>
          <a:prstGeom prst="rect">
            <a:avLst/>
          </a:prstGeom>
          <a:solidFill>
            <a:srgbClr val="438951"/>
          </a:solidFill>
          <a:ln/>
        </p:spPr>
      </p:sp>
      <p:sp>
        <p:nvSpPr>
          <p:cNvPr id="11" name="Text 8"/>
          <p:cNvSpPr/>
          <p:nvPr/>
        </p:nvSpPr>
        <p:spPr>
          <a:xfrm>
            <a:off x="782955" y="4030623"/>
            <a:ext cx="2434233" cy="229314"/>
          </a:xfrm>
          <a:prstGeom prst="rect">
            <a:avLst/>
          </a:prstGeom>
          <a:noFill/>
          <a:ln/>
        </p:spPr>
        <p:txBody>
          <a:bodyPr wrap="none" lIns="0" tIns="0" rIns="0" bIns="0" rtlCol="0" anchor="t"/>
          <a:lstStyle/>
          <a:p>
            <a:pPr algn="l" indent="0" marL="0">
              <a:lnSpc>
                <a:spcPts val="1800"/>
              </a:lnSpc>
              <a:buNone/>
            </a:pPr>
            <a:r>
              <a:rPr lang="en-US" sz="1400" b="1" dirty="0">
                <a:solidFill>
                  <a:srgbClr val="405449"/>
                </a:solidFill>
                <a:latin typeface="Fraunces Extra Bold" pitchFamily="34" charset="0"/>
                <a:ea typeface="Fraunces Extra Bold" pitchFamily="34" charset="-122"/>
                <a:cs typeface="Fraunces Extra Bold" pitchFamily="34" charset="-120"/>
              </a:rPr>
              <a:t>Widget Selection &amp; Layout</a:t>
            </a:r>
            <a:endParaRPr lang="en-US" sz="1400" dirty="0"/>
          </a:p>
        </p:txBody>
      </p:sp>
      <p:sp>
        <p:nvSpPr>
          <p:cNvPr id="12" name="Text 9"/>
          <p:cNvSpPr/>
          <p:nvPr/>
        </p:nvSpPr>
        <p:spPr>
          <a:xfrm>
            <a:off x="782955" y="4347924"/>
            <a:ext cx="7578090" cy="469582"/>
          </a:xfrm>
          <a:prstGeom prst="rect">
            <a:avLst/>
          </a:prstGeom>
          <a:noFill/>
          <a:ln/>
        </p:spPr>
        <p:txBody>
          <a:bodyPr wrap="square" lIns="0" tIns="0" rIns="0" bIns="0" rtlCol="0" anchor="t"/>
          <a:lstStyle/>
          <a:p>
            <a:pPr algn="l" indent="0" marL="0">
              <a:lnSpc>
                <a:spcPts val="1800"/>
              </a:lnSpc>
              <a:buNone/>
            </a:pPr>
            <a:r>
              <a:rPr lang="en-US" sz="1150" dirty="0">
                <a:solidFill>
                  <a:srgbClr val="405449"/>
                </a:solidFill>
                <a:latin typeface="Nobile" pitchFamily="34" charset="0"/>
                <a:ea typeface="Nobile" pitchFamily="34" charset="-122"/>
                <a:cs typeface="Nobile" pitchFamily="34" charset="-120"/>
              </a:rPr>
              <a:t>Choose appropriate visualization types (time series, gauges, tables) based on data characteristics and user needs. Plan your layout for logical flow.</a:t>
            </a:r>
            <a:endParaRPr lang="en-US" sz="1150" dirty="0"/>
          </a:p>
        </p:txBody>
      </p:sp>
      <p:sp>
        <p:nvSpPr>
          <p:cNvPr id="13" name="Text 10"/>
          <p:cNvSpPr/>
          <p:nvPr/>
        </p:nvSpPr>
        <p:spPr>
          <a:xfrm>
            <a:off x="782955" y="5074325"/>
            <a:ext cx="146804" cy="183475"/>
          </a:xfrm>
          <a:prstGeom prst="rect">
            <a:avLst/>
          </a:prstGeom>
          <a:noFill/>
          <a:ln/>
        </p:spPr>
        <p:txBody>
          <a:bodyPr wrap="none" lIns="0" tIns="0" rIns="0" bIns="0" rtlCol="0" anchor="t"/>
          <a:lstStyle/>
          <a:p>
            <a:pPr algn="l" indent="0" marL="0">
              <a:lnSpc>
                <a:spcPts val="1800"/>
              </a:lnSpc>
              <a:buNone/>
            </a:pPr>
            <a:r>
              <a:rPr lang="en-US" sz="1150" dirty="0">
                <a:solidFill>
                  <a:srgbClr val="405449"/>
                </a:solidFill>
                <a:latin typeface="Fraunces Light" pitchFamily="34" charset="0"/>
                <a:ea typeface="Fraunces Light" pitchFamily="34" charset="-122"/>
                <a:cs typeface="Fraunces Light" pitchFamily="34" charset="-120"/>
              </a:rPr>
              <a:t>03</a:t>
            </a:r>
            <a:endParaRPr lang="en-US" sz="1150" dirty="0"/>
          </a:p>
        </p:txBody>
      </p:sp>
      <p:sp>
        <p:nvSpPr>
          <p:cNvPr id="14" name="Shape 11"/>
          <p:cNvSpPr/>
          <p:nvPr/>
        </p:nvSpPr>
        <p:spPr>
          <a:xfrm>
            <a:off x="782955" y="5308521"/>
            <a:ext cx="7578090" cy="15240"/>
          </a:xfrm>
          <a:prstGeom prst="rect">
            <a:avLst/>
          </a:prstGeom>
          <a:solidFill>
            <a:srgbClr val="438951"/>
          </a:solidFill>
          <a:ln/>
        </p:spPr>
      </p:sp>
      <p:sp>
        <p:nvSpPr>
          <p:cNvPr id="15" name="Text 12"/>
          <p:cNvSpPr/>
          <p:nvPr/>
        </p:nvSpPr>
        <p:spPr>
          <a:xfrm>
            <a:off x="782955" y="5412343"/>
            <a:ext cx="1845707" cy="229314"/>
          </a:xfrm>
          <a:prstGeom prst="rect">
            <a:avLst/>
          </a:prstGeom>
          <a:noFill/>
          <a:ln/>
        </p:spPr>
        <p:txBody>
          <a:bodyPr wrap="none" lIns="0" tIns="0" rIns="0" bIns="0" rtlCol="0" anchor="t"/>
          <a:lstStyle/>
          <a:p>
            <a:pPr algn="l" indent="0" marL="0">
              <a:lnSpc>
                <a:spcPts val="1800"/>
              </a:lnSpc>
              <a:buNone/>
            </a:pPr>
            <a:r>
              <a:rPr lang="en-US" sz="1400" b="1" dirty="0">
                <a:solidFill>
                  <a:srgbClr val="405449"/>
                </a:solidFill>
                <a:latin typeface="Fraunces Extra Bold" pitchFamily="34" charset="0"/>
                <a:ea typeface="Fraunces Extra Bold" pitchFamily="34" charset="-122"/>
                <a:cs typeface="Fraunces Extra Bold" pitchFamily="34" charset="-120"/>
              </a:rPr>
              <a:t>Query Optimization</a:t>
            </a:r>
            <a:endParaRPr lang="en-US" sz="1400" dirty="0"/>
          </a:p>
        </p:txBody>
      </p:sp>
      <p:sp>
        <p:nvSpPr>
          <p:cNvPr id="16" name="Text 13"/>
          <p:cNvSpPr/>
          <p:nvPr/>
        </p:nvSpPr>
        <p:spPr>
          <a:xfrm>
            <a:off x="782955" y="5729645"/>
            <a:ext cx="7578090" cy="469582"/>
          </a:xfrm>
          <a:prstGeom prst="rect">
            <a:avLst/>
          </a:prstGeom>
          <a:noFill/>
          <a:ln/>
        </p:spPr>
        <p:txBody>
          <a:bodyPr wrap="square" lIns="0" tIns="0" rIns="0" bIns="0" rtlCol="0" anchor="t"/>
          <a:lstStyle/>
          <a:p>
            <a:pPr algn="l" indent="0" marL="0">
              <a:lnSpc>
                <a:spcPts val="1800"/>
              </a:lnSpc>
              <a:buNone/>
            </a:pPr>
            <a:r>
              <a:rPr lang="en-US" sz="1150" dirty="0">
                <a:solidFill>
                  <a:srgbClr val="405449"/>
                </a:solidFill>
                <a:latin typeface="Nobile" pitchFamily="34" charset="0"/>
                <a:ea typeface="Nobile" pitchFamily="34" charset="-122"/>
                <a:cs typeface="Nobile" pitchFamily="34" charset="-120"/>
              </a:rPr>
              <a:t>Write efficient queries that balance data richness with dashboard performance. Consider caching strategies for expensive calculations.</a:t>
            </a:r>
            <a:endParaRPr lang="en-US" sz="1150" dirty="0"/>
          </a:p>
        </p:txBody>
      </p:sp>
      <p:sp>
        <p:nvSpPr>
          <p:cNvPr id="17" name="Text 14"/>
          <p:cNvSpPr/>
          <p:nvPr/>
        </p:nvSpPr>
        <p:spPr>
          <a:xfrm>
            <a:off x="782955" y="6456045"/>
            <a:ext cx="146804" cy="183475"/>
          </a:xfrm>
          <a:prstGeom prst="rect">
            <a:avLst/>
          </a:prstGeom>
          <a:noFill/>
          <a:ln/>
        </p:spPr>
        <p:txBody>
          <a:bodyPr wrap="none" lIns="0" tIns="0" rIns="0" bIns="0" rtlCol="0" anchor="t"/>
          <a:lstStyle/>
          <a:p>
            <a:pPr algn="l" indent="0" marL="0">
              <a:lnSpc>
                <a:spcPts val="1800"/>
              </a:lnSpc>
              <a:buNone/>
            </a:pPr>
            <a:r>
              <a:rPr lang="en-US" sz="1150" dirty="0">
                <a:solidFill>
                  <a:srgbClr val="405449"/>
                </a:solidFill>
                <a:latin typeface="Fraunces Light" pitchFamily="34" charset="0"/>
                <a:ea typeface="Fraunces Light" pitchFamily="34" charset="-122"/>
                <a:cs typeface="Fraunces Light" pitchFamily="34" charset="-120"/>
              </a:rPr>
              <a:t>04</a:t>
            </a:r>
            <a:endParaRPr lang="en-US" sz="1150" dirty="0"/>
          </a:p>
        </p:txBody>
      </p:sp>
      <p:sp>
        <p:nvSpPr>
          <p:cNvPr id="18" name="Shape 15"/>
          <p:cNvSpPr/>
          <p:nvPr/>
        </p:nvSpPr>
        <p:spPr>
          <a:xfrm>
            <a:off x="782955" y="6690241"/>
            <a:ext cx="7578090" cy="15240"/>
          </a:xfrm>
          <a:prstGeom prst="rect">
            <a:avLst/>
          </a:prstGeom>
          <a:solidFill>
            <a:srgbClr val="438951"/>
          </a:solidFill>
          <a:ln/>
        </p:spPr>
      </p:sp>
      <p:sp>
        <p:nvSpPr>
          <p:cNvPr id="19" name="Text 16"/>
          <p:cNvSpPr/>
          <p:nvPr/>
        </p:nvSpPr>
        <p:spPr>
          <a:xfrm>
            <a:off x="782955" y="6794063"/>
            <a:ext cx="1891427" cy="229314"/>
          </a:xfrm>
          <a:prstGeom prst="rect">
            <a:avLst/>
          </a:prstGeom>
          <a:noFill/>
          <a:ln/>
        </p:spPr>
        <p:txBody>
          <a:bodyPr wrap="none" lIns="0" tIns="0" rIns="0" bIns="0" rtlCol="0" anchor="t"/>
          <a:lstStyle/>
          <a:p>
            <a:pPr algn="l" indent="0" marL="0">
              <a:lnSpc>
                <a:spcPts val="1800"/>
              </a:lnSpc>
              <a:buNone/>
            </a:pPr>
            <a:r>
              <a:rPr lang="en-US" sz="1400" b="1" dirty="0">
                <a:solidFill>
                  <a:srgbClr val="405449"/>
                </a:solidFill>
                <a:latin typeface="Fraunces Extra Bold" pitchFamily="34" charset="0"/>
                <a:ea typeface="Fraunces Extra Bold" pitchFamily="34" charset="-122"/>
                <a:cs typeface="Fraunces Extra Bold" pitchFamily="34" charset="-120"/>
              </a:rPr>
              <a:t>Alerting Integration</a:t>
            </a:r>
            <a:endParaRPr lang="en-US" sz="1400" dirty="0"/>
          </a:p>
        </p:txBody>
      </p:sp>
      <p:sp>
        <p:nvSpPr>
          <p:cNvPr id="20" name="Text 17"/>
          <p:cNvSpPr/>
          <p:nvPr/>
        </p:nvSpPr>
        <p:spPr>
          <a:xfrm>
            <a:off x="782955" y="7111365"/>
            <a:ext cx="7578090" cy="469582"/>
          </a:xfrm>
          <a:prstGeom prst="rect">
            <a:avLst/>
          </a:prstGeom>
          <a:noFill/>
          <a:ln/>
        </p:spPr>
        <p:txBody>
          <a:bodyPr wrap="square" lIns="0" tIns="0" rIns="0" bIns="0" rtlCol="0" anchor="t"/>
          <a:lstStyle/>
          <a:p>
            <a:pPr algn="l" indent="0" marL="0">
              <a:lnSpc>
                <a:spcPts val="1800"/>
              </a:lnSpc>
              <a:buNone/>
            </a:pPr>
            <a:r>
              <a:rPr lang="en-US" sz="1150" dirty="0">
                <a:solidFill>
                  <a:srgbClr val="405449"/>
                </a:solidFill>
                <a:latin typeface="Nobile" pitchFamily="34" charset="0"/>
                <a:ea typeface="Nobile" pitchFamily="34" charset="-122"/>
                <a:cs typeface="Nobile" pitchFamily="34" charset="-120"/>
              </a:rPr>
              <a:t>Configure dashboard-driven alerts that trigger notifications when metrics exceed defined thresholds, enabling proactive incident response.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48070" y="514350"/>
            <a:ext cx="10899815" cy="584359"/>
          </a:xfrm>
          <a:prstGeom prst="rect">
            <a:avLst/>
          </a:prstGeom>
          <a:noFill/>
          <a:ln/>
        </p:spPr>
        <p:txBody>
          <a:bodyPr wrap="none" lIns="0" tIns="0" rIns="0" bIns="0" rtlCol="0" anchor="t"/>
          <a:lstStyle/>
          <a:p>
            <a:pPr algn="l" indent="0" marL="0">
              <a:lnSpc>
                <a:spcPts val="4600"/>
              </a:lnSpc>
              <a:buNone/>
            </a:pPr>
            <a:r>
              <a:rPr lang="en-US" sz="3650" b="1" dirty="0">
                <a:solidFill>
                  <a:srgbClr val="3B4540"/>
                </a:solidFill>
                <a:latin typeface="Fraunces Extra Bold" pitchFamily="34" charset="0"/>
                <a:ea typeface="Fraunces Extra Bold" pitchFamily="34" charset="-122"/>
                <a:cs typeface="Fraunces Extra Bold" pitchFamily="34" charset="-120"/>
              </a:rPr>
              <a:t>New Relic Insights: APM-Focused Dashboards</a:t>
            </a:r>
            <a:endParaRPr lang="en-US" sz="3650" dirty="0"/>
          </a:p>
        </p:txBody>
      </p:sp>
      <p:pic>
        <p:nvPicPr>
          <p:cNvPr id="3" name="Image 0" descr="preencoded.png">    </p:cNvPr>
          <p:cNvPicPr>
            <a:picLocks noChangeAspect="1"/>
          </p:cNvPicPr>
          <p:nvPr/>
        </p:nvPicPr>
        <p:blipFill>
          <a:blip r:embed="rId1"/>
          <a:stretch>
            <a:fillRect/>
          </a:stretch>
        </p:blipFill>
        <p:spPr>
          <a:xfrm>
            <a:off x="748070" y="1589603"/>
            <a:ext cx="6339007" cy="6339007"/>
          </a:xfrm>
          <a:prstGeom prst="rect">
            <a:avLst/>
          </a:prstGeom>
        </p:spPr>
      </p:pic>
      <p:sp>
        <p:nvSpPr>
          <p:cNvPr id="4" name="Text 1"/>
          <p:cNvSpPr/>
          <p:nvPr/>
        </p:nvSpPr>
        <p:spPr>
          <a:xfrm>
            <a:off x="7550944" y="1566148"/>
            <a:ext cx="4307086" cy="350639"/>
          </a:xfrm>
          <a:prstGeom prst="rect">
            <a:avLst/>
          </a:prstGeom>
          <a:noFill/>
          <a:ln/>
        </p:spPr>
        <p:txBody>
          <a:bodyPr wrap="none" lIns="0" tIns="0" rIns="0" bIns="0" rtlCol="0" anchor="t"/>
          <a:lstStyle/>
          <a:p>
            <a:pPr algn="l" indent="0" marL="0">
              <a:lnSpc>
                <a:spcPts val="2750"/>
              </a:lnSpc>
              <a:buNone/>
            </a:pPr>
            <a:r>
              <a:rPr lang="en-US" sz="2200" b="1" dirty="0">
                <a:solidFill>
                  <a:srgbClr val="3B4540"/>
                </a:solidFill>
                <a:latin typeface="Fraunces Extra Bold" pitchFamily="34" charset="0"/>
                <a:ea typeface="Fraunces Extra Bold" pitchFamily="34" charset="-122"/>
                <a:cs typeface="Fraunces Extra Bold" pitchFamily="34" charset="-120"/>
              </a:rPr>
              <a:t>Application-Centric Approach</a:t>
            </a:r>
            <a:endParaRPr lang="en-US" sz="2200" dirty="0"/>
          </a:p>
        </p:txBody>
      </p:sp>
      <p:sp>
        <p:nvSpPr>
          <p:cNvPr id="5" name="Text 2"/>
          <p:cNvSpPr/>
          <p:nvPr/>
        </p:nvSpPr>
        <p:spPr>
          <a:xfrm>
            <a:off x="7550944" y="2103715"/>
            <a:ext cx="6339007" cy="897612"/>
          </a:xfrm>
          <a:prstGeom prst="rect">
            <a:avLst/>
          </a:prstGeom>
          <a:noFill/>
          <a:ln/>
        </p:spPr>
        <p:txBody>
          <a:bodyPr wrap="square" lIns="0" tIns="0" rIns="0" bIns="0" rtlCol="0" anchor="t"/>
          <a:lstStyle/>
          <a:p>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New Relic excels at application performance monitoring with built-in dashboard templates that automatically surface key metrics like Apdex scores, error rates, and transaction traces.</a:t>
            </a:r>
            <a:endParaRPr lang="en-US" sz="1450" dirty="0"/>
          </a:p>
        </p:txBody>
      </p:sp>
      <p:sp>
        <p:nvSpPr>
          <p:cNvPr id="6" name="Text 3"/>
          <p:cNvSpPr/>
          <p:nvPr/>
        </p:nvSpPr>
        <p:spPr>
          <a:xfrm>
            <a:off x="7550944" y="3169563"/>
            <a:ext cx="6339007" cy="897612"/>
          </a:xfrm>
          <a:prstGeom prst="rect">
            <a:avLst/>
          </a:prstGeom>
          <a:noFill/>
          <a:ln/>
        </p:spPr>
        <p:txBody>
          <a:bodyPr wrap="square" lIns="0" tIns="0" rIns="0" bIns="0" rtlCol="0" anchor="t"/>
          <a:lstStyle/>
          <a:p>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The platform's strength lies in its ability to correlate application performance with infrastructure metrics, providing end-to-end visibility from user experience down to server resources.</a:t>
            </a:r>
            <a:endParaRPr lang="en-US" sz="1450" dirty="0"/>
          </a:p>
        </p:txBody>
      </p:sp>
      <p:sp>
        <p:nvSpPr>
          <p:cNvPr id="7" name="Text 4"/>
          <p:cNvSpPr/>
          <p:nvPr/>
        </p:nvSpPr>
        <p:spPr>
          <a:xfrm>
            <a:off x="7550944" y="4235410"/>
            <a:ext cx="6339007" cy="897612"/>
          </a:xfrm>
          <a:prstGeom prst="rect">
            <a:avLst/>
          </a:prstGeom>
          <a:noFill/>
          <a:ln/>
        </p:spPr>
        <p:txBody>
          <a:bodyPr wrap="square" lIns="0" tIns="0" rIns="0" bIns="0" rtlCol="0" anchor="t"/>
          <a:lstStyle/>
          <a:p>
            <a:pPr algn="l" indent="0" marL="0">
              <a:lnSpc>
                <a:spcPts val="2350"/>
              </a:lnSpc>
              <a:buNone/>
            </a:pPr>
            <a:r>
              <a:rPr lang="en-US" sz="1450" dirty="0">
                <a:solidFill>
                  <a:srgbClr val="405449"/>
                </a:solidFill>
                <a:latin typeface="Nobile" pitchFamily="34" charset="0"/>
                <a:ea typeface="Nobile" pitchFamily="34" charset="-122"/>
                <a:cs typeface="Nobile" pitchFamily="34" charset="-120"/>
              </a:rPr>
              <a:t>Custom insights dashboards can be built using NRQL (New Relic Query Language) to create sophisticated visualizations that combine multiple data streams into cohesive operational views.</a:t>
            </a:r>
            <a:endParaRPr lang="en-US" sz="14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80190" y="675680"/>
            <a:ext cx="7556421" cy="1240155"/>
          </a:xfrm>
          <a:prstGeom prst="rect">
            <a:avLst/>
          </a:prstGeom>
          <a:noFill/>
          <a:ln/>
        </p:spPr>
        <p:txBody>
          <a:bodyPr wrap="squar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Grafana: Flexible Open-Source Visualization</a:t>
            </a:r>
            <a:endParaRPr lang="en-US" sz="3900" dirty="0"/>
          </a:p>
        </p:txBody>
      </p:sp>
      <p:sp>
        <p:nvSpPr>
          <p:cNvPr id="4" name="Text 1"/>
          <p:cNvSpPr/>
          <p:nvPr/>
        </p:nvSpPr>
        <p:spPr>
          <a:xfrm>
            <a:off x="6280190" y="2213491"/>
            <a:ext cx="7556421"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Grafana provides unparalleled flexibility for creating custom dashboards that integrate with dozens of data sources. Its open-source nature makes it popular among engineering teams who need complete control over their monitoring stack.</a:t>
            </a:r>
            <a:endParaRPr lang="en-US" sz="1550" dirty="0"/>
          </a:p>
        </p:txBody>
      </p:sp>
      <p:sp>
        <p:nvSpPr>
          <p:cNvPr id="5" name="Shape 2"/>
          <p:cNvSpPr/>
          <p:nvPr/>
        </p:nvSpPr>
        <p:spPr>
          <a:xfrm>
            <a:off x="6280190" y="3706892"/>
            <a:ext cx="3679031" cy="2141815"/>
          </a:xfrm>
          <a:prstGeom prst="roundRect">
            <a:avLst>
              <a:gd name="adj" fmla="val 8340"/>
            </a:avLst>
          </a:prstGeom>
          <a:solidFill>
            <a:srgbClr val="FAFFFA"/>
          </a:solidFill>
          <a:ln w="22860">
            <a:solidFill>
              <a:srgbClr val="CED9CE"/>
            </a:solidFill>
            <a:prstDash val="solid"/>
          </a:ln>
        </p:spPr>
      </p:sp>
      <p:sp>
        <p:nvSpPr>
          <p:cNvPr id="6" name="Text 3"/>
          <p:cNvSpPr/>
          <p:nvPr/>
        </p:nvSpPr>
        <p:spPr>
          <a:xfrm>
            <a:off x="6501408" y="3928110"/>
            <a:ext cx="3161705"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Multi-Source Integration</a:t>
            </a:r>
            <a:endParaRPr lang="en-US" sz="1950" dirty="0"/>
          </a:p>
        </p:txBody>
      </p:sp>
      <p:sp>
        <p:nvSpPr>
          <p:cNvPr id="7" name="Text 4"/>
          <p:cNvSpPr/>
          <p:nvPr/>
        </p:nvSpPr>
        <p:spPr>
          <a:xfrm>
            <a:off x="6501408" y="4357330"/>
            <a:ext cx="3236595"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Connect Prometheus, InfluxDB, Elasticsearch, CloudWatch, and many other data sources in a single dashboard view.</a:t>
            </a:r>
            <a:endParaRPr lang="en-US" sz="1550" dirty="0"/>
          </a:p>
        </p:txBody>
      </p:sp>
      <p:sp>
        <p:nvSpPr>
          <p:cNvPr id="8" name="Shape 5"/>
          <p:cNvSpPr/>
          <p:nvPr/>
        </p:nvSpPr>
        <p:spPr>
          <a:xfrm>
            <a:off x="10157579" y="3706892"/>
            <a:ext cx="3679031" cy="2141815"/>
          </a:xfrm>
          <a:prstGeom prst="roundRect">
            <a:avLst>
              <a:gd name="adj" fmla="val 8340"/>
            </a:avLst>
          </a:prstGeom>
          <a:solidFill>
            <a:srgbClr val="FAFFFA"/>
          </a:solidFill>
          <a:ln w="22860">
            <a:solidFill>
              <a:srgbClr val="CED9CE"/>
            </a:solidFill>
            <a:prstDash val="solid"/>
          </a:ln>
        </p:spPr>
      </p:sp>
      <p:sp>
        <p:nvSpPr>
          <p:cNvPr id="9" name="Text 6"/>
          <p:cNvSpPr/>
          <p:nvPr/>
        </p:nvSpPr>
        <p:spPr>
          <a:xfrm>
            <a:off x="10378797" y="3928110"/>
            <a:ext cx="2743319"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Advanced Templating</a:t>
            </a:r>
            <a:endParaRPr lang="en-US" sz="1950" dirty="0"/>
          </a:p>
        </p:txBody>
      </p:sp>
      <p:sp>
        <p:nvSpPr>
          <p:cNvPr id="10" name="Text 7"/>
          <p:cNvSpPr/>
          <p:nvPr/>
        </p:nvSpPr>
        <p:spPr>
          <a:xfrm>
            <a:off x="10378797" y="4357330"/>
            <a:ext cx="3236595" cy="127015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Use variables and templating to create dynamic dashboards that adapt to different environments, services, or time ranges.</a:t>
            </a:r>
            <a:endParaRPr lang="en-US" sz="1550" dirty="0"/>
          </a:p>
        </p:txBody>
      </p:sp>
      <p:sp>
        <p:nvSpPr>
          <p:cNvPr id="11" name="Shape 8"/>
          <p:cNvSpPr/>
          <p:nvPr/>
        </p:nvSpPr>
        <p:spPr>
          <a:xfrm>
            <a:off x="6280190" y="6047065"/>
            <a:ext cx="7556421" cy="1506736"/>
          </a:xfrm>
          <a:prstGeom prst="roundRect">
            <a:avLst>
              <a:gd name="adj" fmla="val 11855"/>
            </a:avLst>
          </a:prstGeom>
          <a:solidFill>
            <a:srgbClr val="FAFFFA"/>
          </a:solidFill>
          <a:ln w="22860">
            <a:solidFill>
              <a:srgbClr val="CED9CE"/>
            </a:solidFill>
            <a:prstDash val="solid"/>
          </a:ln>
        </p:spPr>
      </p:sp>
      <p:sp>
        <p:nvSpPr>
          <p:cNvPr id="12" name="Text 9"/>
          <p:cNvSpPr/>
          <p:nvPr/>
        </p:nvSpPr>
        <p:spPr>
          <a:xfrm>
            <a:off x="6501408" y="6268283"/>
            <a:ext cx="2508528" cy="310158"/>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Community Plugins</a:t>
            </a:r>
            <a:endParaRPr lang="en-US" sz="1950" dirty="0"/>
          </a:p>
        </p:txBody>
      </p:sp>
      <p:sp>
        <p:nvSpPr>
          <p:cNvPr id="13" name="Text 10"/>
          <p:cNvSpPr/>
          <p:nvPr/>
        </p:nvSpPr>
        <p:spPr>
          <a:xfrm>
            <a:off x="6501408" y="6697504"/>
            <a:ext cx="7113984" cy="635079"/>
          </a:xfrm>
          <a:prstGeom prst="rect">
            <a:avLst/>
          </a:prstGeom>
          <a:noFill/>
          <a:ln/>
        </p:spPr>
        <p:txBody>
          <a:bodyPr wrap="square" lIns="0" tIns="0" rIns="0" bIns="0" rtlCol="0" anchor="t"/>
          <a:lstStyle/>
          <a:p>
            <a:pPr algn="l" indent="0" marL="0">
              <a:lnSpc>
                <a:spcPts val="2500"/>
              </a:lnSpc>
              <a:buNone/>
            </a:pPr>
            <a:r>
              <a:rPr lang="en-US" sz="1550" dirty="0">
                <a:solidFill>
                  <a:srgbClr val="405449"/>
                </a:solidFill>
                <a:latin typeface="Nobile" pitchFamily="34" charset="0"/>
                <a:ea typeface="Nobile" pitchFamily="34" charset="-122"/>
                <a:cs typeface="Nobile" pitchFamily="34" charset="-120"/>
              </a:rPr>
              <a:t>Leverage thousands of community-contributed panels, data sources, and apps to extend functionality beyond core features.</a:t>
            </a:r>
            <a:endParaRPr lang="en-US" sz="15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81132" y="330756"/>
            <a:ext cx="6802636" cy="375880"/>
          </a:xfrm>
          <a:prstGeom prst="rect">
            <a:avLst/>
          </a:prstGeom>
          <a:noFill/>
          <a:ln/>
        </p:spPr>
        <p:txBody>
          <a:bodyPr wrap="none" lIns="0" tIns="0" rIns="0" bIns="0" rtlCol="0" anchor="t"/>
          <a:lstStyle/>
          <a:p>
            <a:pPr algn="l" indent="0" marL="0">
              <a:lnSpc>
                <a:spcPts val="2950"/>
              </a:lnSpc>
              <a:buNone/>
            </a:pPr>
            <a:r>
              <a:rPr lang="en-US" sz="2350" b="1" dirty="0">
                <a:solidFill>
                  <a:srgbClr val="3B4540"/>
                </a:solidFill>
                <a:latin typeface="Fraunces Extra Bold" pitchFamily="34" charset="0"/>
                <a:ea typeface="Fraunces Extra Bold" pitchFamily="34" charset="-122"/>
                <a:cs typeface="Fraunces Extra Bold" pitchFamily="34" charset="-120"/>
              </a:rPr>
              <a:t>Dashboard Best Practices: Design for Clarity</a:t>
            </a:r>
            <a:endParaRPr lang="en-US" sz="2350" dirty="0"/>
          </a:p>
        </p:txBody>
      </p:sp>
      <p:sp>
        <p:nvSpPr>
          <p:cNvPr id="3" name="Text 1"/>
          <p:cNvSpPr/>
          <p:nvPr/>
        </p:nvSpPr>
        <p:spPr>
          <a:xfrm>
            <a:off x="481132" y="887016"/>
            <a:ext cx="2432328" cy="300752"/>
          </a:xfrm>
          <a:prstGeom prst="rect">
            <a:avLst/>
          </a:prstGeom>
          <a:noFill/>
          <a:ln/>
        </p:spPr>
        <p:txBody>
          <a:bodyPr wrap="none" lIns="0" tIns="0" rIns="0" bIns="0" rtlCol="0" anchor="t"/>
          <a:lstStyle/>
          <a:p>
            <a:pPr algn="l" indent="0" marL="0">
              <a:lnSpc>
                <a:spcPts val="2350"/>
              </a:lnSpc>
              <a:buNone/>
            </a:pPr>
            <a:r>
              <a:rPr lang="en-US" sz="1850" b="1" dirty="0">
                <a:solidFill>
                  <a:srgbClr val="3B4540"/>
                </a:solidFill>
                <a:latin typeface="Fraunces Extra Bold" pitchFamily="34" charset="0"/>
                <a:ea typeface="Fraunces Extra Bold" pitchFamily="34" charset="-122"/>
                <a:cs typeface="Fraunces Extra Bold" pitchFamily="34" charset="-120"/>
              </a:rPr>
              <a:t>Avoid Visual Clutter</a:t>
            </a:r>
            <a:endParaRPr lang="en-US" sz="1850" dirty="0"/>
          </a:p>
        </p:txBody>
      </p:sp>
      <p:pic>
        <p:nvPicPr>
          <p:cNvPr id="4" name="Image 0" descr="preencoded.png">    </p:cNvPr>
          <p:cNvPicPr>
            <a:picLocks noChangeAspect="1"/>
          </p:cNvPicPr>
          <p:nvPr/>
        </p:nvPicPr>
        <p:blipFill>
          <a:blip r:embed="rId1"/>
          <a:stretch>
            <a:fillRect/>
          </a:stretch>
        </p:blipFill>
        <p:spPr>
          <a:xfrm>
            <a:off x="481132" y="1503402"/>
            <a:ext cx="6687383" cy="6687383"/>
          </a:xfrm>
          <a:prstGeom prst="rect">
            <a:avLst/>
          </a:prstGeom>
        </p:spPr>
      </p:pic>
      <p:sp>
        <p:nvSpPr>
          <p:cNvPr id="5" name="Text 2"/>
          <p:cNvSpPr/>
          <p:nvPr/>
        </p:nvSpPr>
        <p:spPr>
          <a:xfrm>
            <a:off x="481132" y="8326041"/>
            <a:ext cx="6687383" cy="200025"/>
          </a:xfrm>
          <a:prstGeom prst="rect">
            <a:avLst/>
          </a:prstGeom>
          <a:noFill/>
          <a:ln/>
        </p:spPr>
        <p:txBody>
          <a:bodyPr wrap="none" lIns="0" tIns="0" rIns="0" bIns="0" rtlCol="0" anchor="t"/>
          <a:lstStyle/>
          <a:p>
            <a:pPr algn="ctr" indent="0" marL="0">
              <a:lnSpc>
                <a:spcPts val="1500"/>
              </a:lnSpc>
              <a:buNone/>
            </a:pPr>
            <a:r>
              <a:rPr lang="en-US" sz="900" dirty="0">
                <a:solidFill>
                  <a:srgbClr val="000000"/>
                </a:solidFill>
                <a:latin typeface="Nobile" pitchFamily="34" charset="0"/>
                <a:ea typeface="Nobile" pitchFamily="34" charset="-122"/>
                <a:cs typeface="Nobile" pitchFamily="34" charset="-120"/>
              </a:rPr>
              <a:t>❌</a:t>
            </a:r>
            <a:pPr algn="ctr" indent="0" marL="0">
              <a:lnSpc>
                <a:spcPts val="1500"/>
              </a:lnSpc>
              <a:buNone/>
            </a:pPr>
            <a:r>
              <a:rPr lang="en-US" sz="900" dirty="0">
                <a:solidFill>
                  <a:srgbClr val="405449"/>
                </a:solidFill>
                <a:latin typeface="Nobile" pitchFamily="34" charset="0"/>
                <a:ea typeface="Nobile" pitchFamily="34" charset="-122"/>
                <a:cs typeface="Nobile" pitchFamily="34" charset="-120"/>
              </a:rPr>
              <a:t> Overwhelming Design</a:t>
            </a:r>
            <a:endParaRPr lang="en-US" sz="900" dirty="0"/>
          </a:p>
        </p:txBody>
      </p:sp>
      <p:pic>
        <p:nvPicPr>
          <p:cNvPr id="6" name="Image 1" descr="preencoded.png">    </p:cNvPr>
          <p:cNvPicPr>
            <a:picLocks noChangeAspect="1"/>
          </p:cNvPicPr>
          <p:nvPr/>
        </p:nvPicPr>
        <p:blipFill>
          <a:blip r:embed="rId2"/>
          <a:stretch>
            <a:fillRect/>
          </a:stretch>
        </p:blipFill>
        <p:spPr>
          <a:xfrm>
            <a:off x="7469505" y="1503402"/>
            <a:ext cx="6687383" cy="6687383"/>
          </a:xfrm>
          <a:prstGeom prst="rect">
            <a:avLst/>
          </a:prstGeom>
        </p:spPr>
      </p:pic>
      <p:sp>
        <p:nvSpPr>
          <p:cNvPr id="7" name="Text 3"/>
          <p:cNvSpPr/>
          <p:nvPr/>
        </p:nvSpPr>
        <p:spPr>
          <a:xfrm>
            <a:off x="7469505" y="8326041"/>
            <a:ext cx="6687383" cy="200025"/>
          </a:xfrm>
          <a:prstGeom prst="rect">
            <a:avLst/>
          </a:prstGeom>
          <a:noFill/>
          <a:ln/>
        </p:spPr>
        <p:txBody>
          <a:bodyPr wrap="none" lIns="0" tIns="0" rIns="0" bIns="0" rtlCol="0" anchor="t"/>
          <a:lstStyle/>
          <a:p>
            <a:pPr algn="ctr" indent="0" marL="0">
              <a:lnSpc>
                <a:spcPts val="1500"/>
              </a:lnSpc>
              <a:buNone/>
            </a:pPr>
            <a:r>
              <a:rPr lang="en-US" sz="900" dirty="0">
                <a:solidFill>
                  <a:srgbClr val="000000"/>
                </a:solidFill>
                <a:latin typeface="Nobile" pitchFamily="34" charset="0"/>
                <a:ea typeface="Nobile" pitchFamily="34" charset="-122"/>
                <a:cs typeface="Nobile" pitchFamily="34" charset="-120"/>
              </a:rPr>
              <a:t>✅</a:t>
            </a:r>
            <a:pPr algn="ctr" indent="0" marL="0">
              <a:lnSpc>
                <a:spcPts val="1500"/>
              </a:lnSpc>
              <a:buNone/>
            </a:pPr>
            <a:r>
              <a:rPr lang="en-US" sz="900" dirty="0">
                <a:solidFill>
                  <a:srgbClr val="405449"/>
                </a:solidFill>
                <a:latin typeface="Nobile" pitchFamily="34" charset="0"/>
                <a:ea typeface="Nobile" pitchFamily="34" charset="-122"/>
                <a:cs typeface="Nobile" pitchFamily="34" charset="-120"/>
              </a:rPr>
              <a:t> Clean, Focused Design</a:t>
            </a:r>
            <a:endParaRPr lang="en-US" sz="900" dirty="0"/>
          </a:p>
        </p:txBody>
      </p:sp>
      <p:sp>
        <p:nvSpPr>
          <p:cNvPr id="8" name="Text 4"/>
          <p:cNvSpPr/>
          <p:nvPr/>
        </p:nvSpPr>
        <p:spPr>
          <a:xfrm>
            <a:off x="481132" y="8769548"/>
            <a:ext cx="13668137" cy="192405"/>
          </a:xfrm>
          <a:prstGeom prst="rect">
            <a:avLst/>
          </a:prstGeom>
          <a:noFill/>
          <a:ln/>
        </p:spPr>
        <p:txBody>
          <a:bodyPr wrap="none" lIns="0" tIns="0" rIns="0" bIns="0" rtlCol="0" anchor="t"/>
          <a:lstStyle/>
          <a:p>
            <a:pPr algn="l" indent="0" marL="0">
              <a:lnSpc>
                <a:spcPts val="1500"/>
              </a:lnSpc>
              <a:buNone/>
            </a:pPr>
            <a:r>
              <a:rPr lang="en-US" sz="900" dirty="0">
                <a:solidFill>
                  <a:srgbClr val="405449"/>
                </a:solidFill>
                <a:latin typeface="Nobile" pitchFamily="34" charset="0"/>
                <a:ea typeface="Nobile" pitchFamily="34" charset="-122"/>
                <a:cs typeface="Nobile" pitchFamily="34" charset="-120"/>
              </a:rPr>
              <a:t>Effective dashboards follow the "5-second rule" - users should understand the current system state within five seconds of viewing. This requires ruthless prioritization of information and strategic use of white space.</a:t>
            </a:r>
            <a:endParaRPr lang="en-US" sz="900" dirty="0"/>
          </a:p>
        </p:txBody>
      </p:sp>
      <p:sp>
        <p:nvSpPr>
          <p:cNvPr id="9" name="Text 5"/>
          <p:cNvSpPr/>
          <p:nvPr/>
        </p:nvSpPr>
        <p:spPr>
          <a:xfrm>
            <a:off x="481132" y="9097208"/>
            <a:ext cx="13668137" cy="384810"/>
          </a:xfrm>
          <a:prstGeom prst="rect">
            <a:avLst/>
          </a:prstGeom>
          <a:noFill/>
          <a:ln/>
        </p:spPr>
        <p:txBody>
          <a:bodyPr wrap="square" lIns="0" tIns="0" rIns="0" bIns="0" rtlCol="0" anchor="t"/>
          <a:lstStyle/>
          <a:p>
            <a:pPr algn="l" indent="0" marL="0">
              <a:lnSpc>
                <a:spcPts val="1500"/>
              </a:lnSpc>
              <a:buNone/>
            </a:pPr>
            <a:r>
              <a:rPr lang="en-US" sz="900" dirty="0">
                <a:solidFill>
                  <a:srgbClr val="405449"/>
                </a:solidFill>
                <a:latin typeface="Nobile" pitchFamily="34" charset="0"/>
                <a:ea typeface="Nobile" pitchFamily="34" charset="-122"/>
                <a:cs typeface="Nobile" pitchFamily="34" charset="-120"/>
              </a:rPr>
              <a:t>Limit each dashboard to 6-8 key metrics maximum. Use color coding consistently - red for critical issues, yellow for warnings, green for healthy states. Group related metrics logically and maintain consistent time ranges across related visualizations.</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31148"/>
          </a:xfrm>
          <a:prstGeom prst="rect">
            <a:avLst/>
          </a:prstGeom>
        </p:spPr>
      </p:pic>
      <p:sp>
        <p:nvSpPr>
          <p:cNvPr id="3" name="Text 0"/>
          <p:cNvSpPr/>
          <p:nvPr/>
        </p:nvSpPr>
        <p:spPr>
          <a:xfrm>
            <a:off x="6279475" y="545187"/>
            <a:ext cx="7557849" cy="1239441"/>
          </a:xfrm>
          <a:prstGeom prst="rect">
            <a:avLst/>
          </a:prstGeom>
          <a:noFill/>
          <a:ln/>
        </p:spPr>
        <p:txBody>
          <a:bodyPr wrap="square" lIns="0" tIns="0" rIns="0" bIns="0" rtlCol="0" anchor="t"/>
          <a:lstStyle/>
          <a:p>
            <a:pPr algn="l" indent="0" marL="0">
              <a:lnSpc>
                <a:spcPts val="4850"/>
              </a:lnSpc>
              <a:buNone/>
            </a:pPr>
            <a:r>
              <a:rPr lang="en-US" sz="3900" b="1" dirty="0">
                <a:solidFill>
                  <a:srgbClr val="3B4540"/>
                </a:solidFill>
                <a:latin typeface="Fraunces Extra Bold" pitchFamily="34" charset="0"/>
                <a:ea typeface="Fraunces Extra Bold" pitchFamily="34" charset="-122"/>
                <a:cs typeface="Fraunces Extra Bold" pitchFamily="34" charset="-120"/>
              </a:rPr>
              <a:t>Persona-Aligned Dashboard Design</a:t>
            </a:r>
            <a:endParaRPr lang="en-US" sz="3900" dirty="0"/>
          </a:p>
        </p:txBody>
      </p:sp>
      <p:pic>
        <p:nvPicPr>
          <p:cNvPr id="4" name="Image 1" descr="preencoded.png">    </p:cNvPr>
          <p:cNvPicPr>
            <a:picLocks noChangeAspect="1"/>
          </p:cNvPicPr>
          <p:nvPr/>
        </p:nvPicPr>
        <p:blipFill>
          <a:blip r:embed="rId2"/>
          <a:stretch>
            <a:fillRect/>
          </a:stretch>
        </p:blipFill>
        <p:spPr>
          <a:xfrm>
            <a:off x="6279475" y="2082046"/>
            <a:ext cx="495657" cy="495657"/>
          </a:xfrm>
          <a:prstGeom prst="rect">
            <a:avLst/>
          </a:prstGeom>
        </p:spPr>
      </p:pic>
      <p:sp>
        <p:nvSpPr>
          <p:cNvPr id="5" name="Text 1"/>
          <p:cNvSpPr/>
          <p:nvPr/>
        </p:nvSpPr>
        <p:spPr>
          <a:xfrm>
            <a:off x="7022902" y="2199680"/>
            <a:ext cx="2478524" cy="309801"/>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DevOps Engineers</a:t>
            </a:r>
            <a:endParaRPr lang="en-US" sz="1950" dirty="0"/>
          </a:p>
        </p:txBody>
      </p:sp>
      <p:sp>
        <p:nvSpPr>
          <p:cNvPr id="6" name="Text 2"/>
          <p:cNvSpPr/>
          <p:nvPr/>
        </p:nvSpPr>
        <p:spPr>
          <a:xfrm>
            <a:off x="7022902" y="2628424"/>
            <a:ext cx="6814423" cy="1268730"/>
          </a:xfrm>
          <a:prstGeom prst="rect">
            <a:avLst/>
          </a:prstGeom>
          <a:noFill/>
          <a:ln/>
        </p:spPr>
        <p:txBody>
          <a:bodyPr wrap="square" lIns="0" tIns="0" rIns="0" bIns="0" rtlCol="0" anchor="t"/>
          <a:lstStyle/>
          <a:p>
            <a:pPr algn="l" indent="0" marL="0">
              <a:lnSpc>
                <a:spcPts val="2450"/>
              </a:lnSpc>
              <a:buNone/>
            </a:pPr>
            <a:r>
              <a:rPr lang="en-US" sz="1550" dirty="0">
                <a:solidFill>
                  <a:srgbClr val="405449"/>
                </a:solidFill>
                <a:latin typeface="Nobile" pitchFamily="34" charset="0"/>
                <a:ea typeface="Nobile" pitchFamily="34" charset="-122"/>
                <a:cs typeface="Nobile" pitchFamily="34" charset="-120"/>
              </a:rPr>
              <a:t>Focus on deployment metrics, infrastructure health, and automation pipeline status. Include detailed technical metrics with drill-down capabilities for troubleshooting. Emphasize trends and historical data for capacity planning.</a:t>
            </a:r>
            <a:endParaRPr lang="en-US" sz="1550" dirty="0"/>
          </a:p>
        </p:txBody>
      </p:sp>
      <p:pic>
        <p:nvPicPr>
          <p:cNvPr id="7" name="Image 2" descr="preencoded.png">    </p:cNvPr>
          <p:cNvPicPr>
            <a:picLocks noChangeAspect="1"/>
          </p:cNvPicPr>
          <p:nvPr/>
        </p:nvPicPr>
        <p:blipFill>
          <a:blip r:embed="rId3"/>
          <a:stretch>
            <a:fillRect/>
          </a:stretch>
        </p:blipFill>
        <p:spPr>
          <a:xfrm>
            <a:off x="6279475" y="4293632"/>
            <a:ext cx="495657" cy="495657"/>
          </a:xfrm>
          <a:prstGeom prst="rect">
            <a:avLst/>
          </a:prstGeom>
        </p:spPr>
      </p:pic>
      <p:sp>
        <p:nvSpPr>
          <p:cNvPr id="8" name="Text 3"/>
          <p:cNvSpPr/>
          <p:nvPr/>
        </p:nvSpPr>
        <p:spPr>
          <a:xfrm>
            <a:off x="7022902" y="4411266"/>
            <a:ext cx="2841665" cy="309801"/>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Business Stakeholders</a:t>
            </a:r>
            <a:endParaRPr lang="en-US" sz="1950" dirty="0"/>
          </a:p>
        </p:txBody>
      </p:sp>
      <p:sp>
        <p:nvSpPr>
          <p:cNvPr id="9" name="Text 4"/>
          <p:cNvSpPr/>
          <p:nvPr/>
        </p:nvSpPr>
        <p:spPr>
          <a:xfrm>
            <a:off x="7022902" y="4840010"/>
            <a:ext cx="6814423" cy="951548"/>
          </a:xfrm>
          <a:prstGeom prst="rect">
            <a:avLst/>
          </a:prstGeom>
          <a:noFill/>
          <a:ln/>
        </p:spPr>
        <p:txBody>
          <a:bodyPr wrap="square" lIns="0" tIns="0" rIns="0" bIns="0" rtlCol="0" anchor="t"/>
          <a:lstStyle/>
          <a:p>
            <a:pPr algn="l" indent="0" marL="0">
              <a:lnSpc>
                <a:spcPts val="2450"/>
              </a:lnSpc>
              <a:buNone/>
            </a:pPr>
            <a:r>
              <a:rPr lang="en-US" sz="1550" dirty="0">
                <a:solidFill>
                  <a:srgbClr val="405449"/>
                </a:solidFill>
                <a:latin typeface="Nobile" pitchFamily="34" charset="0"/>
                <a:ea typeface="Nobile" pitchFamily="34" charset="-122"/>
                <a:cs typeface="Nobile" pitchFamily="34" charset="-120"/>
              </a:rPr>
              <a:t>Highlight system availability, customer impact metrics, and cost optimization opportunities. Use executive summary formats with clear indicators of business risk and performance against SLAs.</a:t>
            </a:r>
            <a:endParaRPr lang="en-US" sz="1550" dirty="0"/>
          </a:p>
        </p:txBody>
      </p:sp>
      <p:pic>
        <p:nvPicPr>
          <p:cNvPr id="10" name="Image 3" descr="preencoded.png">    </p:cNvPr>
          <p:cNvPicPr>
            <a:picLocks noChangeAspect="1"/>
          </p:cNvPicPr>
          <p:nvPr/>
        </p:nvPicPr>
        <p:blipFill>
          <a:blip r:embed="rId4"/>
          <a:stretch>
            <a:fillRect/>
          </a:stretch>
        </p:blipFill>
        <p:spPr>
          <a:xfrm>
            <a:off x="6279475" y="6188035"/>
            <a:ext cx="495657" cy="495657"/>
          </a:xfrm>
          <a:prstGeom prst="rect">
            <a:avLst/>
          </a:prstGeom>
        </p:spPr>
      </p:pic>
      <p:sp>
        <p:nvSpPr>
          <p:cNvPr id="11" name="Text 5"/>
          <p:cNvSpPr/>
          <p:nvPr/>
        </p:nvSpPr>
        <p:spPr>
          <a:xfrm>
            <a:off x="7022902" y="6305669"/>
            <a:ext cx="2478524" cy="309801"/>
          </a:xfrm>
          <a:prstGeom prst="rect">
            <a:avLst/>
          </a:prstGeom>
          <a:noFill/>
          <a:ln/>
        </p:spPr>
        <p:txBody>
          <a:bodyPr wrap="none" lIns="0" tIns="0" rIns="0" bIns="0" rtlCol="0" anchor="t"/>
          <a:lstStyle/>
          <a:p>
            <a:pPr algn="l" indent="0" marL="0">
              <a:lnSpc>
                <a:spcPts val="2400"/>
              </a:lnSpc>
              <a:buNone/>
            </a:pPr>
            <a:r>
              <a:rPr lang="en-US" sz="1950" b="1" dirty="0">
                <a:solidFill>
                  <a:srgbClr val="405449"/>
                </a:solidFill>
                <a:latin typeface="Fraunces Extra Bold" pitchFamily="34" charset="0"/>
                <a:ea typeface="Fraunces Extra Bold" pitchFamily="34" charset="-122"/>
                <a:cs typeface="Fraunces Extra Bold" pitchFamily="34" charset="-120"/>
              </a:rPr>
              <a:t>Security Teams</a:t>
            </a:r>
            <a:endParaRPr lang="en-US" sz="1950" dirty="0"/>
          </a:p>
        </p:txBody>
      </p:sp>
      <p:sp>
        <p:nvSpPr>
          <p:cNvPr id="12" name="Text 6"/>
          <p:cNvSpPr/>
          <p:nvPr/>
        </p:nvSpPr>
        <p:spPr>
          <a:xfrm>
            <a:off x="7022902" y="6734413"/>
            <a:ext cx="6814423" cy="951548"/>
          </a:xfrm>
          <a:prstGeom prst="rect">
            <a:avLst/>
          </a:prstGeom>
          <a:noFill/>
          <a:ln/>
        </p:spPr>
        <p:txBody>
          <a:bodyPr wrap="square" lIns="0" tIns="0" rIns="0" bIns="0" rtlCol="0" anchor="t"/>
          <a:lstStyle/>
          <a:p>
            <a:pPr algn="l" indent="0" marL="0">
              <a:lnSpc>
                <a:spcPts val="2450"/>
              </a:lnSpc>
              <a:buNone/>
            </a:pPr>
            <a:r>
              <a:rPr lang="en-US" sz="1550" dirty="0">
                <a:solidFill>
                  <a:srgbClr val="405449"/>
                </a:solidFill>
                <a:latin typeface="Nobile" pitchFamily="34" charset="0"/>
                <a:ea typeface="Nobile" pitchFamily="34" charset="-122"/>
                <a:cs typeface="Nobile" pitchFamily="34" charset="-120"/>
              </a:rPr>
              <a:t>Emphasize threat detection, compliance metrics, and incident response times. Include security event correlation and risk assessment visualizations with clear escalation indicators.</a:t>
            </a:r>
            <a:endParaRPr lang="en-US" sz="15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5486400" cy="8229600"/>
          </a:xfrm>
          <a:prstGeom prst="rect">
            <a:avLst/>
          </a:prstGeom>
        </p:spPr>
      </p:pic>
      <p:sp>
        <p:nvSpPr>
          <p:cNvPr id="3" name="Text 0"/>
          <p:cNvSpPr/>
          <p:nvPr/>
        </p:nvSpPr>
        <p:spPr>
          <a:xfrm>
            <a:off x="6269355" y="538877"/>
            <a:ext cx="7578090" cy="1162288"/>
          </a:xfrm>
          <a:prstGeom prst="rect">
            <a:avLst/>
          </a:prstGeom>
          <a:noFill/>
          <a:ln/>
        </p:spPr>
        <p:txBody>
          <a:bodyPr wrap="square" lIns="0" tIns="0" rIns="0" bIns="0" rtlCol="0" anchor="t"/>
          <a:lstStyle/>
          <a:p>
            <a:pPr algn="l" indent="0" marL="0">
              <a:lnSpc>
                <a:spcPts val="4550"/>
              </a:lnSpc>
              <a:buNone/>
            </a:pPr>
            <a:r>
              <a:rPr lang="en-US" sz="3650" b="1" dirty="0">
                <a:solidFill>
                  <a:srgbClr val="3B4540"/>
                </a:solidFill>
                <a:latin typeface="Fraunces Extra Bold" pitchFamily="34" charset="0"/>
                <a:ea typeface="Fraunces Extra Bold" pitchFamily="34" charset="-122"/>
                <a:cs typeface="Fraunces Extra Bold" pitchFamily="34" charset="-120"/>
              </a:rPr>
              <a:t>Key Takeaways: Dashboard Excellence</a:t>
            </a:r>
            <a:endParaRPr lang="en-US" sz="3650" dirty="0"/>
          </a:p>
        </p:txBody>
      </p:sp>
      <p:sp>
        <p:nvSpPr>
          <p:cNvPr id="4" name="Shape 1"/>
          <p:cNvSpPr/>
          <p:nvPr/>
        </p:nvSpPr>
        <p:spPr>
          <a:xfrm>
            <a:off x="6269355" y="1980009"/>
            <a:ext cx="418386" cy="418386"/>
          </a:xfrm>
          <a:prstGeom prst="roundRect">
            <a:avLst>
              <a:gd name="adj" fmla="val 40004"/>
            </a:avLst>
          </a:prstGeom>
          <a:solidFill>
            <a:srgbClr val="E8F3E8"/>
          </a:solidFill>
          <a:ln/>
        </p:spPr>
      </p:sp>
      <p:sp>
        <p:nvSpPr>
          <p:cNvPr id="5" name="Text 2"/>
          <p:cNvSpPr/>
          <p:nvPr/>
        </p:nvSpPr>
        <p:spPr>
          <a:xfrm>
            <a:off x="6339126" y="2014895"/>
            <a:ext cx="278844" cy="348615"/>
          </a:xfrm>
          <a:prstGeom prst="rect">
            <a:avLst/>
          </a:prstGeom>
          <a:noFill/>
          <a:ln/>
        </p:spPr>
        <p:txBody>
          <a:bodyPr wrap="none" lIns="0" tIns="0" rIns="0" bIns="0" rtlCol="0" anchor="t"/>
          <a:lstStyle/>
          <a:p>
            <a:pPr algn="ctr" indent="0" marL="0">
              <a:lnSpc>
                <a:spcPts val="2150"/>
              </a:lnSpc>
              <a:buNone/>
            </a:pPr>
            <a:r>
              <a:rPr lang="en-US" sz="2150" b="1" dirty="0">
                <a:solidFill>
                  <a:srgbClr val="405449"/>
                </a:solidFill>
                <a:latin typeface="Fraunces Extra Bold" pitchFamily="34" charset="0"/>
                <a:ea typeface="Fraunces Extra Bold" pitchFamily="34" charset="-122"/>
                <a:cs typeface="Fraunces Extra Bold" pitchFamily="34" charset="-120"/>
              </a:rPr>
              <a:t>1</a:t>
            </a:r>
            <a:endParaRPr lang="en-US" sz="2150" dirty="0"/>
          </a:p>
        </p:txBody>
      </p:sp>
      <p:sp>
        <p:nvSpPr>
          <p:cNvPr id="6" name="Text 3"/>
          <p:cNvSpPr/>
          <p:nvPr/>
        </p:nvSpPr>
        <p:spPr>
          <a:xfrm>
            <a:off x="6873597" y="2014776"/>
            <a:ext cx="3310652" cy="348615"/>
          </a:xfrm>
          <a:prstGeom prst="rect">
            <a:avLst/>
          </a:prstGeom>
          <a:noFill/>
          <a:ln/>
        </p:spPr>
        <p:txBody>
          <a:bodyPr wrap="none" lIns="0" tIns="0" rIns="0" bIns="0" rtlCol="0" anchor="t"/>
          <a:lstStyle/>
          <a:p>
            <a:pPr algn="l" indent="0" marL="0">
              <a:lnSpc>
                <a:spcPts val="2700"/>
              </a:lnSpc>
              <a:buNone/>
            </a:pPr>
            <a:r>
              <a:rPr lang="en-US" sz="2150" b="1" dirty="0">
                <a:solidFill>
                  <a:srgbClr val="405449"/>
                </a:solidFill>
                <a:latin typeface="Fraunces Extra Bold" pitchFamily="34" charset="0"/>
                <a:ea typeface="Fraunces Extra Bold" pitchFamily="34" charset="-122"/>
                <a:cs typeface="Fraunces Extra Bold" pitchFamily="34" charset="-120"/>
              </a:rPr>
              <a:t>Purpose-Driven Design</a:t>
            </a:r>
            <a:endParaRPr lang="en-US" sz="2150" dirty="0"/>
          </a:p>
        </p:txBody>
      </p:sp>
      <p:sp>
        <p:nvSpPr>
          <p:cNvPr id="7" name="Text 4"/>
          <p:cNvSpPr/>
          <p:nvPr/>
        </p:nvSpPr>
        <p:spPr>
          <a:xfrm>
            <a:off x="6873597" y="2474952"/>
            <a:ext cx="6973848" cy="892612"/>
          </a:xfrm>
          <a:prstGeom prst="rect">
            <a:avLst/>
          </a:prstGeom>
          <a:noFill/>
          <a:ln/>
        </p:spPr>
        <p:txBody>
          <a:bodyPr wrap="square" lIns="0" tIns="0" rIns="0" bIns="0" rtlCol="0" anchor="t"/>
          <a:lstStyle/>
          <a:p>
            <a:pPr algn="l" indent="0" marL="0">
              <a:lnSpc>
                <a:spcPts val="2300"/>
              </a:lnSpc>
              <a:buNone/>
            </a:pPr>
            <a:r>
              <a:rPr lang="en-US" sz="1450" dirty="0">
                <a:solidFill>
                  <a:srgbClr val="405449"/>
                </a:solidFill>
                <a:latin typeface="Nobile" pitchFamily="34" charset="0"/>
                <a:ea typeface="Nobile" pitchFamily="34" charset="-122"/>
                <a:cs typeface="Nobile" pitchFamily="34" charset="-120"/>
              </a:rPr>
              <a:t>Every dashboard should solve specific problems for clearly defined user personas. Resist the temptation to create "everything dashboards" that serve no one well.</a:t>
            </a:r>
            <a:endParaRPr lang="en-US" sz="1450" dirty="0"/>
          </a:p>
        </p:txBody>
      </p:sp>
      <p:sp>
        <p:nvSpPr>
          <p:cNvPr id="8" name="Shape 5"/>
          <p:cNvSpPr/>
          <p:nvPr/>
        </p:nvSpPr>
        <p:spPr>
          <a:xfrm>
            <a:off x="6269355" y="3739396"/>
            <a:ext cx="418386" cy="418386"/>
          </a:xfrm>
          <a:prstGeom prst="roundRect">
            <a:avLst>
              <a:gd name="adj" fmla="val 40004"/>
            </a:avLst>
          </a:prstGeom>
          <a:solidFill>
            <a:srgbClr val="E8F3E8"/>
          </a:solidFill>
          <a:ln/>
        </p:spPr>
      </p:sp>
      <p:sp>
        <p:nvSpPr>
          <p:cNvPr id="9" name="Text 6"/>
          <p:cNvSpPr/>
          <p:nvPr/>
        </p:nvSpPr>
        <p:spPr>
          <a:xfrm>
            <a:off x="6339126" y="3774281"/>
            <a:ext cx="278844" cy="348615"/>
          </a:xfrm>
          <a:prstGeom prst="rect">
            <a:avLst/>
          </a:prstGeom>
          <a:noFill/>
          <a:ln/>
        </p:spPr>
        <p:txBody>
          <a:bodyPr wrap="none" lIns="0" tIns="0" rIns="0" bIns="0" rtlCol="0" anchor="t"/>
          <a:lstStyle/>
          <a:p>
            <a:pPr algn="ctr" indent="0" marL="0">
              <a:lnSpc>
                <a:spcPts val="2150"/>
              </a:lnSpc>
              <a:buNone/>
            </a:pPr>
            <a:r>
              <a:rPr lang="en-US" sz="2150" b="1" dirty="0">
                <a:solidFill>
                  <a:srgbClr val="405449"/>
                </a:solidFill>
                <a:latin typeface="Fraunces Extra Bold" pitchFamily="34" charset="0"/>
                <a:ea typeface="Fraunces Extra Bold" pitchFamily="34" charset="-122"/>
                <a:cs typeface="Fraunces Extra Bold" pitchFamily="34" charset="-120"/>
              </a:rPr>
              <a:t>2</a:t>
            </a:r>
            <a:endParaRPr lang="en-US" sz="2150" dirty="0"/>
          </a:p>
        </p:txBody>
      </p:sp>
      <p:sp>
        <p:nvSpPr>
          <p:cNvPr id="10" name="Text 7"/>
          <p:cNvSpPr/>
          <p:nvPr/>
        </p:nvSpPr>
        <p:spPr>
          <a:xfrm>
            <a:off x="6873597" y="3774162"/>
            <a:ext cx="5486876" cy="348615"/>
          </a:xfrm>
          <a:prstGeom prst="rect">
            <a:avLst/>
          </a:prstGeom>
          <a:noFill/>
          <a:ln/>
        </p:spPr>
        <p:txBody>
          <a:bodyPr wrap="none" lIns="0" tIns="0" rIns="0" bIns="0" rtlCol="0" anchor="t"/>
          <a:lstStyle/>
          <a:p>
            <a:pPr algn="l" indent="0" marL="0">
              <a:lnSpc>
                <a:spcPts val="2700"/>
              </a:lnSpc>
              <a:buNone/>
            </a:pPr>
            <a:r>
              <a:rPr lang="en-US" sz="2150" b="1" dirty="0">
                <a:solidFill>
                  <a:srgbClr val="405449"/>
                </a:solidFill>
                <a:latin typeface="Fraunces Extra Bold" pitchFamily="34" charset="0"/>
                <a:ea typeface="Fraunces Extra Bold" pitchFamily="34" charset="-122"/>
                <a:cs typeface="Fraunces Extra Bold" pitchFamily="34" charset="-120"/>
              </a:rPr>
              <a:t>Actionable Insights Over Pretty Charts</a:t>
            </a:r>
            <a:endParaRPr lang="en-US" sz="2150" dirty="0"/>
          </a:p>
        </p:txBody>
      </p:sp>
      <p:sp>
        <p:nvSpPr>
          <p:cNvPr id="11" name="Text 8"/>
          <p:cNvSpPr/>
          <p:nvPr/>
        </p:nvSpPr>
        <p:spPr>
          <a:xfrm>
            <a:off x="6873597" y="4234339"/>
            <a:ext cx="6973848" cy="892612"/>
          </a:xfrm>
          <a:prstGeom prst="rect">
            <a:avLst/>
          </a:prstGeom>
          <a:noFill/>
          <a:ln/>
        </p:spPr>
        <p:txBody>
          <a:bodyPr wrap="square" lIns="0" tIns="0" rIns="0" bIns="0" rtlCol="0" anchor="t"/>
          <a:lstStyle/>
          <a:p>
            <a:pPr algn="l" indent="0" marL="0">
              <a:lnSpc>
                <a:spcPts val="2300"/>
              </a:lnSpc>
              <a:buNone/>
            </a:pPr>
            <a:r>
              <a:rPr lang="en-US" sz="1450" dirty="0">
                <a:solidFill>
                  <a:srgbClr val="405449"/>
                </a:solidFill>
                <a:latin typeface="Nobile" pitchFamily="34" charset="0"/>
                <a:ea typeface="Nobile" pitchFamily="34" charset="-122"/>
                <a:cs typeface="Nobile" pitchFamily="34" charset="-120"/>
              </a:rPr>
              <a:t>Focus on metrics that enable decision-making and action. Beautiful visualizations are worthless if they don't drive operational improvements or business outcomes.</a:t>
            </a:r>
            <a:endParaRPr lang="en-US" sz="1450" dirty="0"/>
          </a:p>
        </p:txBody>
      </p:sp>
      <p:sp>
        <p:nvSpPr>
          <p:cNvPr id="12" name="Shape 9"/>
          <p:cNvSpPr/>
          <p:nvPr/>
        </p:nvSpPr>
        <p:spPr>
          <a:xfrm>
            <a:off x="6269355" y="5498783"/>
            <a:ext cx="418386" cy="418386"/>
          </a:xfrm>
          <a:prstGeom prst="roundRect">
            <a:avLst>
              <a:gd name="adj" fmla="val 40004"/>
            </a:avLst>
          </a:prstGeom>
          <a:solidFill>
            <a:srgbClr val="E8F3E8"/>
          </a:solidFill>
          <a:ln/>
        </p:spPr>
      </p:sp>
      <p:sp>
        <p:nvSpPr>
          <p:cNvPr id="13" name="Text 10"/>
          <p:cNvSpPr/>
          <p:nvPr/>
        </p:nvSpPr>
        <p:spPr>
          <a:xfrm>
            <a:off x="6339126" y="5533668"/>
            <a:ext cx="278844" cy="348615"/>
          </a:xfrm>
          <a:prstGeom prst="rect">
            <a:avLst/>
          </a:prstGeom>
          <a:noFill/>
          <a:ln/>
        </p:spPr>
        <p:txBody>
          <a:bodyPr wrap="none" lIns="0" tIns="0" rIns="0" bIns="0" rtlCol="0" anchor="t"/>
          <a:lstStyle/>
          <a:p>
            <a:pPr algn="ctr" indent="0" marL="0">
              <a:lnSpc>
                <a:spcPts val="2150"/>
              </a:lnSpc>
              <a:buNone/>
            </a:pPr>
            <a:r>
              <a:rPr lang="en-US" sz="2150" b="1" dirty="0">
                <a:solidFill>
                  <a:srgbClr val="405449"/>
                </a:solidFill>
                <a:latin typeface="Fraunces Extra Bold" pitchFamily="34" charset="0"/>
                <a:ea typeface="Fraunces Extra Bold" pitchFamily="34" charset="-122"/>
                <a:cs typeface="Fraunces Extra Bold" pitchFamily="34" charset="-120"/>
              </a:rPr>
              <a:t>3</a:t>
            </a:r>
            <a:endParaRPr lang="en-US" sz="2150" dirty="0"/>
          </a:p>
        </p:txBody>
      </p:sp>
      <p:sp>
        <p:nvSpPr>
          <p:cNvPr id="14" name="Text 11"/>
          <p:cNvSpPr/>
          <p:nvPr/>
        </p:nvSpPr>
        <p:spPr>
          <a:xfrm>
            <a:off x="6873597" y="5533549"/>
            <a:ext cx="4415433" cy="348615"/>
          </a:xfrm>
          <a:prstGeom prst="rect">
            <a:avLst/>
          </a:prstGeom>
          <a:noFill/>
          <a:ln/>
        </p:spPr>
        <p:txBody>
          <a:bodyPr wrap="none" lIns="0" tIns="0" rIns="0" bIns="0" rtlCol="0" anchor="t"/>
          <a:lstStyle/>
          <a:p>
            <a:pPr algn="l" indent="0" marL="0">
              <a:lnSpc>
                <a:spcPts val="2700"/>
              </a:lnSpc>
              <a:buNone/>
            </a:pPr>
            <a:r>
              <a:rPr lang="en-US" sz="2150" b="1" dirty="0">
                <a:solidFill>
                  <a:srgbClr val="405449"/>
                </a:solidFill>
                <a:latin typeface="Fraunces Extra Bold" pitchFamily="34" charset="0"/>
                <a:ea typeface="Fraunces Extra Bold" pitchFamily="34" charset="-122"/>
                <a:cs typeface="Fraunces Extra Bold" pitchFamily="34" charset="-120"/>
              </a:rPr>
              <a:t>Iterate Based on User Feedback</a:t>
            </a:r>
            <a:endParaRPr lang="en-US" sz="2150" dirty="0"/>
          </a:p>
        </p:txBody>
      </p:sp>
      <p:sp>
        <p:nvSpPr>
          <p:cNvPr id="15" name="Text 12"/>
          <p:cNvSpPr/>
          <p:nvPr/>
        </p:nvSpPr>
        <p:spPr>
          <a:xfrm>
            <a:off x="6873597" y="5993725"/>
            <a:ext cx="6973848" cy="892612"/>
          </a:xfrm>
          <a:prstGeom prst="rect">
            <a:avLst/>
          </a:prstGeom>
          <a:noFill/>
          <a:ln/>
        </p:spPr>
        <p:txBody>
          <a:bodyPr wrap="square" lIns="0" tIns="0" rIns="0" bIns="0" rtlCol="0" anchor="t"/>
          <a:lstStyle/>
          <a:p>
            <a:pPr algn="l" indent="0" marL="0">
              <a:lnSpc>
                <a:spcPts val="2300"/>
              </a:lnSpc>
              <a:buNone/>
            </a:pPr>
            <a:r>
              <a:rPr lang="en-US" sz="1450" dirty="0">
                <a:solidFill>
                  <a:srgbClr val="405449"/>
                </a:solidFill>
                <a:latin typeface="Nobile" pitchFamily="34" charset="0"/>
                <a:ea typeface="Nobile" pitchFamily="34" charset="-122"/>
                <a:cs typeface="Nobile" pitchFamily="34" charset="-120"/>
              </a:rPr>
              <a:t>Dashboard effectiveness is measured by user adoption and problem resolution speed. Continuously gather feedback and refine your visualizations based on real-world usage patterns.</a:t>
            </a:r>
            <a:endParaRPr lang="en-US" sz="1450" dirty="0"/>
          </a:p>
        </p:txBody>
      </p:sp>
      <p:sp>
        <p:nvSpPr>
          <p:cNvPr id="16" name="Text 13"/>
          <p:cNvSpPr/>
          <p:nvPr/>
        </p:nvSpPr>
        <p:spPr>
          <a:xfrm>
            <a:off x="6269355" y="7095530"/>
            <a:ext cx="7578090" cy="595074"/>
          </a:xfrm>
          <a:prstGeom prst="rect">
            <a:avLst/>
          </a:prstGeom>
          <a:noFill/>
          <a:ln/>
        </p:spPr>
        <p:txBody>
          <a:bodyPr wrap="square" lIns="0" tIns="0" rIns="0" bIns="0" rtlCol="0" anchor="t"/>
          <a:lstStyle/>
          <a:p>
            <a:pPr algn="l" indent="0" marL="0">
              <a:lnSpc>
                <a:spcPts val="2300"/>
              </a:lnSpc>
              <a:buNone/>
            </a:pPr>
            <a:r>
              <a:rPr lang="en-US" sz="1450" dirty="0">
                <a:solidFill>
                  <a:srgbClr val="405449"/>
                </a:solidFill>
                <a:latin typeface="Nobile" pitchFamily="34" charset="0"/>
                <a:ea typeface="Nobile" pitchFamily="34" charset="-122"/>
                <a:cs typeface="Nobile" pitchFamily="34" charset="-120"/>
              </a:rPr>
              <a:t>Master these principles to transform your monitoring data into strategic business assets that drive informed decision-making across your organization.</a:t>
            </a:r>
            <a:endParaRPr lang="en-US" sz="14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2025-09-16T11:46:10Z</dcterms:created>
  <dcterms:modified xsi:type="dcterms:W3CDTF">2025-09-16T11:46:10Z</dcterms:modified>
</cp:coreProperties>
</file>