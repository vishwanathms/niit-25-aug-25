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4630400" cy="8229600"/>
  <p:notesSz cx="8229600" cy="14630400"/>
  <p:embeddedFontLst>
    <p:embeddedFont>
      <p:font typeface="Fraunces Extra Bold"/>
      <p:regular r:id="rId22"/>
    </p:embeddedFont>
    <p:embeddedFont>
      <p:font typeface="Fraunces Extra Bold"/>
      <p:regular r:id="rId23"/>
    </p:embeddedFont>
    <p:embeddedFont>
      <p:font typeface="Nobile"/>
      <p:regular r:id="rId24"/>
    </p:embeddedFont>
    <p:embeddedFont>
      <p:font typeface="Nobile"/>
      <p:regular r:id="rId25"/>
    </p:embeddedFont>
    <p:embeddedFont>
      <p:font typeface="Nobile"/>
      <p:regular r:id="rId26"/>
    </p:embeddedFont>
    <p:embeddedFont>
      <p:font typeface="Nobile"/>
      <p:regular r:id="rId2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 Id="rId26" Type="http://schemas.openxmlformats.org/officeDocument/2006/relationships/font" Target="fonts/font5.fntdata"/><Relationship Id="rId27"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8.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9.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0.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5.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6.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757964"/>
            <a:ext cx="7556421" cy="1240155"/>
          </a:xfrm>
          <a:prstGeom prst="rect">
            <a:avLst/>
          </a:prstGeom>
          <a:noFill/>
          <a:ln/>
        </p:spPr>
        <p:txBody>
          <a:bodyPr wrap="square" lIns="0" tIns="0" rIns="0" bIns="0" rtlCol="0" anchor="t"/>
          <a:lstStyle/>
          <a:p>
            <a:pPr algn="l" indent="0" marL="0">
              <a:lnSpc>
                <a:spcPts val="4850"/>
              </a:lnSpc>
              <a:buNone/>
            </a:pPr>
            <a:r>
              <a:rPr lang="en-US" sz="3900" b="1" dirty="0">
                <a:solidFill>
                  <a:srgbClr val="3B4540"/>
                </a:solidFill>
                <a:latin typeface="Fraunces Extra Bold" pitchFamily="34" charset="0"/>
                <a:ea typeface="Fraunces Extra Bold" pitchFamily="34" charset="-122"/>
                <a:cs typeface="Fraunces Extra Bold" pitchFamily="34" charset="-120"/>
              </a:rPr>
              <a:t>Splunk Architecture &amp; Data Ingestion</a:t>
            </a:r>
            <a:endParaRPr lang="en-US" sz="3900" dirty="0"/>
          </a:p>
        </p:txBody>
      </p:sp>
      <p:sp>
        <p:nvSpPr>
          <p:cNvPr id="4" name="Text 1"/>
          <p:cNvSpPr/>
          <p:nvPr/>
        </p:nvSpPr>
        <p:spPr>
          <a:xfrm>
            <a:off x="793790" y="4295775"/>
            <a:ext cx="7556421" cy="317540"/>
          </a:xfrm>
          <a:prstGeom prst="rect">
            <a:avLst/>
          </a:prstGeom>
          <a:noFill/>
          <a:ln/>
        </p:spPr>
        <p:txBody>
          <a:bodyPr wrap="non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Mastering Indexers, Forwarders, Search Heads, and Core Indexing Concepts</a:t>
            </a:r>
            <a:endParaRPr lang="en-US" sz="1550" dirty="0"/>
          </a:p>
        </p:txBody>
      </p:sp>
      <p:sp>
        <p:nvSpPr>
          <p:cNvPr id="5" name="Text 2"/>
          <p:cNvSpPr/>
          <p:nvPr/>
        </p:nvSpPr>
        <p:spPr>
          <a:xfrm>
            <a:off x="793790" y="4836557"/>
            <a:ext cx="7556421" cy="63507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A comprehensive guide for IT professionals navigating enterprise data management and analytics infrastructure</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153001"/>
            <a:ext cx="8207573" cy="620078"/>
          </a:xfrm>
          <a:prstGeom prst="rect">
            <a:avLst/>
          </a:prstGeom>
          <a:noFill/>
          <a:ln/>
        </p:spPr>
        <p:txBody>
          <a:bodyPr wrap="none" lIns="0" tIns="0" rIns="0" bIns="0" rtlCol="0" anchor="t"/>
          <a:lstStyle/>
          <a:p>
            <a:pPr algn="l" indent="0" marL="0">
              <a:lnSpc>
                <a:spcPts val="4850"/>
              </a:lnSpc>
              <a:buNone/>
            </a:pPr>
            <a:r>
              <a:rPr lang="en-US" sz="3900" b="1" dirty="0">
                <a:solidFill>
                  <a:srgbClr val="3B4540"/>
                </a:solidFill>
                <a:latin typeface="Fraunces Extra Bold" pitchFamily="34" charset="0"/>
                <a:ea typeface="Fraunces Extra Bold" pitchFamily="34" charset="-122"/>
                <a:cs typeface="Fraunces Extra Bold" pitchFamily="34" charset="-120"/>
              </a:rPr>
              <a:t>Introduction to Splunk Platform</a:t>
            </a:r>
            <a:endParaRPr lang="en-US" sz="3900" dirty="0"/>
          </a:p>
        </p:txBody>
      </p:sp>
      <p:sp>
        <p:nvSpPr>
          <p:cNvPr id="3" name="Text 1"/>
          <p:cNvSpPr/>
          <p:nvPr/>
        </p:nvSpPr>
        <p:spPr>
          <a:xfrm>
            <a:off x="793790" y="2249329"/>
            <a:ext cx="7632025" cy="127015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Splunk is a powerful platform designed for searching, monitoring, and analyzing machine-generated data at scale. It transforms raw data from applications, servers, and network devices into actionable insights through advanced search capabilities and real-time analytics.</a:t>
            </a:r>
            <a:endParaRPr lang="en-US" sz="1550" dirty="0"/>
          </a:p>
        </p:txBody>
      </p:sp>
      <p:sp>
        <p:nvSpPr>
          <p:cNvPr id="4" name="Text 2"/>
          <p:cNvSpPr/>
          <p:nvPr/>
        </p:nvSpPr>
        <p:spPr>
          <a:xfrm>
            <a:off x="793790" y="3717846"/>
            <a:ext cx="2977039" cy="372070"/>
          </a:xfrm>
          <a:prstGeom prst="rect">
            <a:avLst/>
          </a:prstGeom>
          <a:noFill/>
          <a:ln/>
        </p:spPr>
        <p:txBody>
          <a:bodyPr wrap="none" lIns="0" tIns="0" rIns="0" bIns="0" rtlCol="0" anchor="t"/>
          <a:lstStyle/>
          <a:p>
            <a:pPr algn="l" indent="0" marL="0">
              <a:lnSpc>
                <a:spcPts val="2900"/>
              </a:lnSpc>
              <a:buNone/>
            </a:pPr>
            <a:r>
              <a:rPr lang="en-US" sz="2300" b="1" dirty="0">
                <a:solidFill>
                  <a:srgbClr val="3B4540"/>
                </a:solidFill>
                <a:latin typeface="Fraunces Extra Bold" pitchFamily="34" charset="0"/>
                <a:ea typeface="Fraunces Extra Bold" pitchFamily="34" charset="-122"/>
                <a:cs typeface="Fraunces Extra Bold" pitchFamily="34" charset="-120"/>
              </a:rPr>
              <a:t>Core Use Cases</a:t>
            </a:r>
            <a:endParaRPr lang="en-US" sz="2300" dirty="0"/>
          </a:p>
        </p:txBody>
      </p:sp>
      <p:sp>
        <p:nvSpPr>
          <p:cNvPr id="5" name="Text 3"/>
          <p:cNvSpPr/>
          <p:nvPr/>
        </p:nvSpPr>
        <p:spPr>
          <a:xfrm>
            <a:off x="793790" y="4288274"/>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05449"/>
                </a:solidFill>
                <a:latin typeface="Nobile" pitchFamily="34" charset="0"/>
                <a:ea typeface="Nobile" pitchFamily="34" charset="-122"/>
                <a:cs typeface="Nobile" pitchFamily="34" charset="-120"/>
              </a:rPr>
              <a:t>Log management and infrastructure monitoring</a:t>
            </a:r>
            <a:endParaRPr lang="en-US" sz="1550" dirty="0"/>
          </a:p>
        </p:txBody>
      </p:sp>
      <p:sp>
        <p:nvSpPr>
          <p:cNvPr id="6" name="Text 4"/>
          <p:cNvSpPr/>
          <p:nvPr/>
        </p:nvSpPr>
        <p:spPr>
          <a:xfrm>
            <a:off x="793790" y="4675227"/>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05449"/>
                </a:solidFill>
                <a:latin typeface="Nobile" pitchFamily="34" charset="0"/>
                <a:ea typeface="Nobile" pitchFamily="34" charset="-122"/>
                <a:cs typeface="Nobile" pitchFamily="34" charset="-120"/>
              </a:rPr>
              <a:t>Security information and event management (SIEM)</a:t>
            </a:r>
            <a:endParaRPr lang="en-US" sz="1550" dirty="0"/>
          </a:p>
        </p:txBody>
      </p:sp>
      <p:sp>
        <p:nvSpPr>
          <p:cNvPr id="7" name="Text 5"/>
          <p:cNvSpPr/>
          <p:nvPr/>
        </p:nvSpPr>
        <p:spPr>
          <a:xfrm>
            <a:off x="793790" y="5062180"/>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05449"/>
                </a:solidFill>
                <a:latin typeface="Nobile" pitchFamily="34" charset="0"/>
                <a:ea typeface="Nobile" pitchFamily="34" charset="-122"/>
                <a:cs typeface="Nobile" pitchFamily="34" charset="-120"/>
              </a:rPr>
              <a:t>Application performance monitoring and troubleshooting</a:t>
            </a:r>
            <a:endParaRPr lang="en-US" sz="1550" dirty="0"/>
          </a:p>
        </p:txBody>
      </p:sp>
      <p:sp>
        <p:nvSpPr>
          <p:cNvPr id="8" name="Text 6"/>
          <p:cNvSpPr/>
          <p:nvPr/>
        </p:nvSpPr>
        <p:spPr>
          <a:xfrm>
            <a:off x="793790" y="5449133"/>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05449"/>
                </a:solidFill>
                <a:latin typeface="Nobile" pitchFamily="34" charset="0"/>
                <a:ea typeface="Nobile" pitchFamily="34" charset="-122"/>
                <a:cs typeface="Nobile" pitchFamily="34" charset="-120"/>
              </a:rPr>
              <a:t>Business intelligence and operational analytics</a:t>
            </a:r>
            <a:endParaRPr lang="en-US" sz="1550" dirty="0"/>
          </a:p>
        </p:txBody>
      </p:sp>
      <p:sp>
        <p:nvSpPr>
          <p:cNvPr id="9" name="Text 7"/>
          <p:cNvSpPr/>
          <p:nvPr/>
        </p:nvSpPr>
        <p:spPr>
          <a:xfrm>
            <a:off x="793790" y="5945267"/>
            <a:ext cx="7632025" cy="95261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The platform consists of four primary components: </a:t>
            </a:r>
            <a:pPr algn="l" indent="0" marL="0">
              <a:lnSpc>
                <a:spcPts val="2500"/>
              </a:lnSpc>
              <a:buNone/>
            </a:pPr>
            <a:r>
              <a:rPr lang="en-US" sz="1550" dirty="0">
                <a:solidFill>
                  <a:srgbClr val="438951"/>
                </a:solidFill>
                <a:latin typeface="Nobile" pitchFamily="34" charset="0"/>
                <a:ea typeface="Nobile" pitchFamily="34" charset="-122"/>
                <a:cs typeface="Nobile" pitchFamily="34" charset="-120"/>
              </a:rPr>
              <a:t>Forwarders</a:t>
            </a:r>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 for data collection, </a:t>
            </a:r>
            <a:pPr algn="l" indent="0" marL="0">
              <a:lnSpc>
                <a:spcPts val="2500"/>
              </a:lnSpc>
              <a:buNone/>
            </a:pPr>
            <a:r>
              <a:rPr lang="en-US" sz="1550" dirty="0">
                <a:solidFill>
                  <a:srgbClr val="438951"/>
                </a:solidFill>
                <a:latin typeface="Nobile" pitchFamily="34" charset="0"/>
                <a:ea typeface="Nobile" pitchFamily="34" charset="-122"/>
                <a:cs typeface="Nobile" pitchFamily="34" charset="-120"/>
              </a:rPr>
              <a:t>Indexers</a:t>
            </a:r>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 for processing and storage, </a:t>
            </a:r>
            <a:pPr algn="l" indent="0" marL="0">
              <a:lnSpc>
                <a:spcPts val="2500"/>
              </a:lnSpc>
              <a:buNone/>
            </a:pPr>
            <a:r>
              <a:rPr lang="en-US" sz="1550" dirty="0">
                <a:solidFill>
                  <a:srgbClr val="438951"/>
                </a:solidFill>
                <a:latin typeface="Nobile" pitchFamily="34" charset="0"/>
                <a:ea typeface="Nobile" pitchFamily="34" charset="-122"/>
                <a:cs typeface="Nobile" pitchFamily="34" charset="-120"/>
              </a:rPr>
              <a:t>Search Heads</a:t>
            </a:r>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 for user interaction, and </a:t>
            </a:r>
            <a:pPr algn="l" indent="0" marL="0">
              <a:lnSpc>
                <a:spcPts val="2500"/>
              </a:lnSpc>
              <a:buNone/>
            </a:pPr>
            <a:r>
              <a:rPr lang="en-US" sz="1550" dirty="0">
                <a:solidFill>
                  <a:srgbClr val="438951"/>
                </a:solidFill>
                <a:latin typeface="Nobile" pitchFamily="34" charset="0"/>
                <a:ea typeface="Nobile" pitchFamily="34" charset="-122"/>
                <a:cs typeface="Nobile" pitchFamily="34" charset="-120"/>
              </a:rPr>
              <a:t>Deployment Servers</a:t>
            </a:r>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 for configuration management.</a:t>
            </a:r>
            <a:endParaRPr lang="en-US" sz="1550" dirty="0"/>
          </a:p>
        </p:txBody>
      </p:sp>
      <p:pic>
        <p:nvPicPr>
          <p:cNvPr id="10" name="Image 0" descr="preencoded.png">    </p:cNvPr>
          <p:cNvPicPr>
            <a:picLocks noChangeAspect="1"/>
          </p:cNvPicPr>
          <p:nvPr/>
        </p:nvPicPr>
        <p:blipFill>
          <a:blip r:embed="rId1"/>
          <a:stretch>
            <a:fillRect/>
          </a:stretch>
        </p:blipFill>
        <p:spPr>
          <a:xfrm>
            <a:off x="8917543" y="2293977"/>
            <a:ext cx="4926568" cy="308145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887135"/>
            <a:ext cx="7236738" cy="589121"/>
          </a:xfrm>
          <a:prstGeom prst="rect">
            <a:avLst/>
          </a:prstGeom>
          <a:noFill/>
          <a:ln/>
        </p:spPr>
        <p:txBody>
          <a:bodyPr wrap="none" lIns="0" tIns="0" rIns="0" bIns="0" rtlCol="0" anchor="t"/>
          <a:lstStyle/>
          <a:p>
            <a:pPr algn="l" indent="0" marL="0">
              <a:lnSpc>
                <a:spcPts val="4600"/>
              </a:lnSpc>
              <a:buNone/>
            </a:pPr>
            <a:r>
              <a:rPr lang="en-US" sz="3700" b="1" dirty="0">
                <a:solidFill>
                  <a:srgbClr val="3B4540"/>
                </a:solidFill>
                <a:latin typeface="Fraunces Extra Bold" pitchFamily="34" charset="0"/>
                <a:ea typeface="Fraunces Extra Bold" pitchFamily="34" charset="-122"/>
                <a:cs typeface="Fraunces Extra Bold" pitchFamily="34" charset="-120"/>
              </a:rPr>
              <a:t>Splunk Architecture Overview</a:t>
            </a:r>
            <a:endParaRPr lang="en-US" sz="3700" dirty="0"/>
          </a:p>
        </p:txBody>
      </p:sp>
      <p:pic>
        <p:nvPicPr>
          <p:cNvPr id="4" name="Image 1" descr="preencoded.png">    </p:cNvPr>
          <p:cNvPicPr>
            <a:picLocks noChangeAspect="1"/>
          </p:cNvPicPr>
          <p:nvPr/>
        </p:nvPicPr>
        <p:blipFill>
          <a:blip r:embed="rId2"/>
          <a:stretch>
            <a:fillRect/>
          </a:stretch>
        </p:blipFill>
        <p:spPr>
          <a:xfrm>
            <a:off x="6280190" y="1759029"/>
            <a:ext cx="942737" cy="1388150"/>
          </a:xfrm>
          <a:prstGeom prst="rect">
            <a:avLst/>
          </a:prstGeom>
        </p:spPr>
      </p:pic>
      <p:sp>
        <p:nvSpPr>
          <p:cNvPr id="5" name="Text 1"/>
          <p:cNvSpPr/>
          <p:nvPr/>
        </p:nvSpPr>
        <p:spPr>
          <a:xfrm>
            <a:off x="7411403" y="1947505"/>
            <a:ext cx="2356842" cy="294680"/>
          </a:xfrm>
          <a:prstGeom prst="rect">
            <a:avLst/>
          </a:prstGeom>
          <a:noFill/>
          <a:ln/>
        </p:spPr>
        <p:txBody>
          <a:bodyPr wrap="none" lIns="0" tIns="0" rIns="0" bIns="0" rtlCol="0" anchor="t"/>
          <a:lstStyle/>
          <a:p>
            <a:pPr algn="l" indent="0" marL="0">
              <a:lnSpc>
                <a:spcPts val="2300"/>
              </a:lnSpc>
              <a:buNone/>
            </a:pPr>
            <a:r>
              <a:rPr lang="en-US" sz="1850" b="1" dirty="0">
                <a:solidFill>
                  <a:srgbClr val="405449"/>
                </a:solidFill>
                <a:latin typeface="Fraunces Extra Bold" pitchFamily="34" charset="0"/>
                <a:ea typeface="Fraunces Extra Bold" pitchFamily="34" charset="-122"/>
                <a:cs typeface="Fraunces Extra Bold" pitchFamily="34" charset="-120"/>
              </a:rPr>
              <a:t>Forwarders</a:t>
            </a:r>
            <a:endParaRPr lang="en-US" sz="1850" dirty="0"/>
          </a:p>
        </p:txBody>
      </p:sp>
      <p:sp>
        <p:nvSpPr>
          <p:cNvPr id="6" name="Text 2"/>
          <p:cNvSpPr/>
          <p:nvPr/>
        </p:nvSpPr>
        <p:spPr>
          <a:xfrm>
            <a:off x="7411403" y="2355294"/>
            <a:ext cx="6425208" cy="603409"/>
          </a:xfrm>
          <a:prstGeom prst="rect">
            <a:avLst/>
          </a:prstGeom>
          <a:noFill/>
          <a:ln/>
        </p:spPr>
        <p:txBody>
          <a:bodyPr wrap="square" lIns="0" tIns="0" rIns="0" bIns="0" rtlCol="0" anchor="t"/>
          <a:lstStyle/>
          <a:p>
            <a:pPr algn="l" indent="0" marL="0">
              <a:lnSpc>
                <a:spcPts val="2350"/>
              </a:lnSpc>
              <a:buNone/>
            </a:pPr>
            <a:r>
              <a:rPr lang="en-US" sz="1450" dirty="0">
                <a:solidFill>
                  <a:srgbClr val="405449"/>
                </a:solidFill>
                <a:latin typeface="Nobile" pitchFamily="34" charset="0"/>
                <a:ea typeface="Nobile" pitchFamily="34" charset="-122"/>
                <a:cs typeface="Nobile" pitchFamily="34" charset="-120"/>
              </a:rPr>
              <a:t>Lightweight agents that collect and transmit data from source systems to indexers with minimal resource overhead</a:t>
            </a:r>
            <a:endParaRPr lang="en-US" sz="1450" dirty="0"/>
          </a:p>
        </p:txBody>
      </p:sp>
      <p:pic>
        <p:nvPicPr>
          <p:cNvPr id="7" name="Image 2" descr="preencoded.png">    </p:cNvPr>
          <p:cNvPicPr>
            <a:picLocks noChangeAspect="1"/>
          </p:cNvPicPr>
          <p:nvPr/>
        </p:nvPicPr>
        <p:blipFill>
          <a:blip r:embed="rId3"/>
          <a:stretch>
            <a:fillRect/>
          </a:stretch>
        </p:blipFill>
        <p:spPr>
          <a:xfrm>
            <a:off x="6280190" y="3147179"/>
            <a:ext cx="942737" cy="1388150"/>
          </a:xfrm>
          <a:prstGeom prst="rect">
            <a:avLst/>
          </a:prstGeom>
        </p:spPr>
      </p:pic>
      <p:sp>
        <p:nvSpPr>
          <p:cNvPr id="8" name="Text 3"/>
          <p:cNvSpPr/>
          <p:nvPr/>
        </p:nvSpPr>
        <p:spPr>
          <a:xfrm>
            <a:off x="7411403" y="3335655"/>
            <a:ext cx="2356842" cy="294680"/>
          </a:xfrm>
          <a:prstGeom prst="rect">
            <a:avLst/>
          </a:prstGeom>
          <a:noFill/>
          <a:ln/>
        </p:spPr>
        <p:txBody>
          <a:bodyPr wrap="none" lIns="0" tIns="0" rIns="0" bIns="0" rtlCol="0" anchor="t"/>
          <a:lstStyle/>
          <a:p>
            <a:pPr algn="l" indent="0" marL="0">
              <a:lnSpc>
                <a:spcPts val="2300"/>
              </a:lnSpc>
              <a:buNone/>
            </a:pPr>
            <a:r>
              <a:rPr lang="en-US" sz="1850" b="1" dirty="0">
                <a:solidFill>
                  <a:srgbClr val="405449"/>
                </a:solidFill>
                <a:latin typeface="Fraunces Extra Bold" pitchFamily="34" charset="0"/>
                <a:ea typeface="Fraunces Extra Bold" pitchFamily="34" charset="-122"/>
                <a:cs typeface="Fraunces Extra Bold" pitchFamily="34" charset="-120"/>
              </a:rPr>
              <a:t>Indexers</a:t>
            </a:r>
            <a:endParaRPr lang="en-US" sz="1850" dirty="0"/>
          </a:p>
        </p:txBody>
      </p:sp>
      <p:sp>
        <p:nvSpPr>
          <p:cNvPr id="9" name="Text 4"/>
          <p:cNvSpPr/>
          <p:nvPr/>
        </p:nvSpPr>
        <p:spPr>
          <a:xfrm>
            <a:off x="7411403" y="3743444"/>
            <a:ext cx="6425208" cy="603409"/>
          </a:xfrm>
          <a:prstGeom prst="rect">
            <a:avLst/>
          </a:prstGeom>
          <a:noFill/>
          <a:ln/>
        </p:spPr>
        <p:txBody>
          <a:bodyPr wrap="square" lIns="0" tIns="0" rIns="0" bIns="0" rtlCol="0" anchor="t"/>
          <a:lstStyle/>
          <a:p>
            <a:pPr algn="l" indent="0" marL="0">
              <a:lnSpc>
                <a:spcPts val="2350"/>
              </a:lnSpc>
              <a:buNone/>
            </a:pPr>
            <a:r>
              <a:rPr lang="en-US" sz="1450" dirty="0">
                <a:solidFill>
                  <a:srgbClr val="405449"/>
                </a:solidFill>
                <a:latin typeface="Nobile" pitchFamily="34" charset="0"/>
                <a:ea typeface="Nobile" pitchFamily="34" charset="-122"/>
                <a:cs typeface="Nobile" pitchFamily="34" charset="-120"/>
              </a:rPr>
              <a:t>Core processing engines that parse, index, and store incoming data in searchable formats with compression</a:t>
            </a:r>
            <a:endParaRPr lang="en-US" sz="1450" dirty="0"/>
          </a:p>
        </p:txBody>
      </p:sp>
      <p:pic>
        <p:nvPicPr>
          <p:cNvPr id="10" name="Image 3" descr="preencoded.png">    </p:cNvPr>
          <p:cNvPicPr>
            <a:picLocks noChangeAspect="1"/>
          </p:cNvPicPr>
          <p:nvPr/>
        </p:nvPicPr>
        <p:blipFill>
          <a:blip r:embed="rId4"/>
          <a:stretch>
            <a:fillRect/>
          </a:stretch>
        </p:blipFill>
        <p:spPr>
          <a:xfrm>
            <a:off x="6280190" y="4535329"/>
            <a:ext cx="942737" cy="1388150"/>
          </a:xfrm>
          <a:prstGeom prst="rect">
            <a:avLst/>
          </a:prstGeom>
        </p:spPr>
      </p:pic>
      <p:sp>
        <p:nvSpPr>
          <p:cNvPr id="11" name="Text 5"/>
          <p:cNvSpPr/>
          <p:nvPr/>
        </p:nvSpPr>
        <p:spPr>
          <a:xfrm>
            <a:off x="7411403" y="4723805"/>
            <a:ext cx="2356842" cy="294680"/>
          </a:xfrm>
          <a:prstGeom prst="rect">
            <a:avLst/>
          </a:prstGeom>
          <a:noFill/>
          <a:ln/>
        </p:spPr>
        <p:txBody>
          <a:bodyPr wrap="none" lIns="0" tIns="0" rIns="0" bIns="0" rtlCol="0" anchor="t"/>
          <a:lstStyle/>
          <a:p>
            <a:pPr algn="l" indent="0" marL="0">
              <a:lnSpc>
                <a:spcPts val="2300"/>
              </a:lnSpc>
              <a:buNone/>
            </a:pPr>
            <a:r>
              <a:rPr lang="en-US" sz="1850" b="1" dirty="0">
                <a:solidFill>
                  <a:srgbClr val="405449"/>
                </a:solidFill>
                <a:latin typeface="Fraunces Extra Bold" pitchFamily="34" charset="0"/>
                <a:ea typeface="Fraunces Extra Bold" pitchFamily="34" charset="-122"/>
                <a:cs typeface="Fraunces Extra Bold" pitchFamily="34" charset="-120"/>
              </a:rPr>
              <a:t>Search Heads</a:t>
            </a:r>
            <a:endParaRPr lang="en-US" sz="1850" dirty="0"/>
          </a:p>
        </p:txBody>
      </p:sp>
      <p:sp>
        <p:nvSpPr>
          <p:cNvPr id="12" name="Text 6"/>
          <p:cNvSpPr/>
          <p:nvPr/>
        </p:nvSpPr>
        <p:spPr>
          <a:xfrm>
            <a:off x="7411403" y="5131594"/>
            <a:ext cx="6425208" cy="603409"/>
          </a:xfrm>
          <a:prstGeom prst="rect">
            <a:avLst/>
          </a:prstGeom>
          <a:noFill/>
          <a:ln/>
        </p:spPr>
        <p:txBody>
          <a:bodyPr wrap="square" lIns="0" tIns="0" rIns="0" bIns="0" rtlCol="0" anchor="t"/>
          <a:lstStyle/>
          <a:p>
            <a:pPr algn="l" indent="0" marL="0">
              <a:lnSpc>
                <a:spcPts val="2350"/>
              </a:lnSpc>
              <a:buNone/>
            </a:pPr>
            <a:r>
              <a:rPr lang="en-US" sz="1450" dirty="0">
                <a:solidFill>
                  <a:srgbClr val="405449"/>
                </a:solidFill>
                <a:latin typeface="Nobile" pitchFamily="34" charset="0"/>
                <a:ea typeface="Nobile" pitchFamily="34" charset="-122"/>
                <a:cs typeface="Nobile" pitchFamily="34" charset="-120"/>
              </a:rPr>
              <a:t>User interface layer providing search capabilities, dashboards, alerts, and visualization tools for data analysis</a:t>
            </a:r>
            <a:endParaRPr lang="en-US" sz="1450" dirty="0"/>
          </a:p>
        </p:txBody>
      </p:sp>
      <p:sp>
        <p:nvSpPr>
          <p:cNvPr id="13" name="Text 7"/>
          <p:cNvSpPr/>
          <p:nvPr/>
        </p:nvSpPr>
        <p:spPr>
          <a:xfrm>
            <a:off x="6280190" y="6135529"/>
            <a:ext cx="7556421" cy="1206818"/>
          </a:xfrm>
          <a:prstGeom prst="rect">
            <a:avLst/>
          </a:prstGeom>
          <a:noFill/>
          <a:ln/>
        </p:spPr>
        <p:txBody>
          <a:bodyPr wrap="square" lIns="0" tIns="0" rIns="0" bIns="0" rtlCol="0" anchor="t"/>
          <a:lstStyle/>
          <a:p>
            <a:pPr algn="l" indent="0" marL="0">
              <a:lnSpc>
                <a:spcPts val="2350"/>
              </a:lnSpc>
              <a:buNone/>
            </a:pPr>
            <a:r>
              <a:rPr lang="en-US" sz="1450" dirty="0">
                <a:solidFill>
                  <a:srgbClr val="405449"/>
                </a:solidFill>
                <a:latin typeface="Nobile" pitchFamily="34" charset="0"/>
                <a:ea typeface="Nobile" pitchFamily="34" charset="-122"/>
                <a:cs typeface="Nobile" pitchFamily="34" charset="-120"/>
              </a:rPr>
              <a:t>This distributed architecture enables horizontal scaling, high availability, and efficient data processing across enterprise environments. Optional components like Deployment Servers and Cluster Masters provide centralized management for large-scale deployments.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579001"/>
            <a:ext cx="7430691" cy="527090"/>
          </a:xfrm>
          <a:prstGeom prst="rect">
            <a:avLst/>
          </a:prstGeom>
          <a:noFill/>
          <a:ln/>
        </p:spPr>
        <p:txBody>
          <a:bodyPr wrap="none" lIns="0" tIns="0" rIns="0" bIns="0" rtlCol="0" anchor="t"/>
          <a:lstStyle/>
          <a:p>
            <a:pPr algn="l" indent="0" marL="0">
              <a:lnSpc>
                <a:spcPts val="4150"/>
              </a:lnSpc>
              <a:buNone/>
            </a:pPr>
            <a:r>
              <a:rPr lang="en-US" sz="3300" b="1" dirty="0">
                <a:solidFill>
                  <a:srgbClr val="3B4540"/>
                </a:solidFill>
                <a:latin typeface="Fraunces Extra Bold" pitchFamily="34" charset="0"/>
                <a:ea typeface="Fraunces Extra Bold" pitchFamily="34" charset="-122"/>
                <a:cs typeface="Fraunces Extra Bold" pitchFamily="34" charset="-120"/>
              </a:rPr>
              <a:t>Understanding Splunk Forwarders</a:t>
            </a:r>
            <a:endParaRPr lang="en-US" sz="3300" dirty="0"/>
          </a:p>
        </p:txBody>
      </p:sp>
      <p:pic>
        <p:nvPicPr>
          <p:cNvPr id="3" name="Image 0" descr="preencoded.png">    </p:cNvPr>
          <p:cNvPicPr>
            <a:picLocks noChangeAspect="1"/>
          </p:cNvPicPr>
          <p:nvPr/>
        </p:nvPicPr>
        <p:blipFill>
          <a:blip r:embed="rId1"/>
          <a:stretch>
            <a:fillRect/>
          </a:stretch>
        </p:blipFill>
        <p:spPr>
          <a:xfrm>
            <a:off x="793790" y="1548884"/>
            <a:ext cx="5368290" cy="5182195"/>
          </a:xfrm>
          <a:prstGeom prst="rect">
            <a:avLst/>
          </a:prstGeom>
        </p:spPr>
      </p:pic>
      <p:sp>
        <p:nvSpPr>
          <p:cNvPr id="4" name="Text 1"/>
          <p:cNvSpPr/>
          <p:nvPr/>
        </p:nvSpPr>
        <p:spPr>
          <a:xfrm>
            <a:off x="7528560" y="1510903"/>
            <a:ext cx="6315670" cy="1079659"/>
          </a:xfrm>
          <a:prstGeom prst="rect">
            <a:avLst/>
          </a:prstGeom>
          <a:noFill/>
          <a:ln/>
        </p:spPr>
        <p:txBody>
          <a:bodyPr wrap="square" lIns="0" tIns="0" rIns="0" bIns="0" rtlCol="0" anchor="t"/>
          <a:lstStyle/>
          <a:p>
            <a:pPr algn="l" indent="0" marL="0">
              <a:lnSpc>
                <a:spcPts val="2100"/>
              </a:lnSpc>
              <a:buNone/>
            </a:pPr>
            <a:r>
              <a:rPr lang="en-US" sz="1300" dirty="0">
                <a:solidFill>
                  <a:srgbClr val="405449"/>
                </a:solidFill>
                <a:latin typeface="Nobile" pitchFamily="34" charset="0"/>
                <a:ea typeface="Nobile" pitchFamily="34" charset="-122"/>
                <a:cs typeface="Nobile" pitchFamily="34" charset="-120"/>
              </a:rPr>
              <a:t>Forwarders are lightweight software agents installed on source machines to collect and transmit data efficiently. They serve as the data collection layer in Splunk's architecture, ensuring secure and reliable data transmission to indexers.</a:t>
            </a:r>
            <a:endParaRPr lang="en-US" sz="1300" dirty="0"/>
          </a:p>
        </p:txBody>
      </p:sp>
      <p:sp>
        <p:nvSpPr>
          <p:cNvPr id="5" name="Shape 2"/>
          <p:cNvSpPr/>
          <p:nvPr/>
        </p:nvSpPr>
        <p:spPr>
          <a:xfrm>
            <a:off x="7528560" y="2780347"/>
            <a:ext cx="6315670" cy="1624727"/>
          </a:xfrm>
          <a:prstGeom prst="roundRect">
            <a:avLst>
              <a:gd name="adj" fmla="val 9345"/>
            </a:avLst>
          </a:prstGeom>
          <a:solidFill>
            <a:srgbClr val="FAFFFA"/>
          </a:solidFill>
          <a:ln w="22860">
            <a:solidFill>
              <a:srgbClr val="CED9CE"/>
            </a:solidFill>
            <a:prstDash val="solid"/>
          </a:ln>
        </p:spPr>
      </p:sp>
      <p:sp>
        <p:nvSpPr>
          <p:cNvPr id="6" name="Text 3"/>
          <p:cNvSpPr/>
          <p:nvPr/>
        </p:nvSpPr>
        <p:spPr>
          <a:xfrm>
            <a:off x="7720013" y="2971800"/>
            <a:ext cx="2721769" cy="263485"/>
          </a:xfrm>
          <a:prstGeom prst="rect">
            <a:avLst/>
          </a:prstGeom>
          <a:noFill/>
          <a:ln/>
        </p:spPr>
        <p:txBody>
          <a:bodyPr wrap="none" lIns="0" tIns="0" rIns="0" bIns="0" rtlCol="0" anchor="t"/>
          <a:lstStyle/>
          <a:p>
            <a:pPr algn="l" indent="0" marL="0">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Universal Forwarder (UF)</a:t>
            </a:r>
            <a:endParaRPr lang="en-US" sz="1650" dirty="0"/>
          </a:p>
        </p:txBody>
      </p:sp>
      <p:sp>
        <p:nvSpPr>
          <p:cNvPr id="7" name="Text 4"/>
          <p:cNvSpPr/>
          <p:nvPr/>
        </p:nvSpPr>
        <p:spPr>
          <a:xfrm>
            <a:off x="7720013" y="3403878"/>
            <a:ext cx="5932765" cy="809744"/>
          </a:xfrm>
          <a:prstGeom prst="rect">
            <a:avLst/>
          </a:prstGeom>
          <a:noFill/>
          <a:ln/>
        </p:spPr>
        <p:txBody>
          <a:bodyPr wrap="square" lIns="0" tIns="0" rIns="0" bIns="0" rtlCol="0" anchor="t"/>
          <a:lstStyle/>
          <a:p>
            <a:pPr algn="l" indent="0" marL="0">
              <a:lnSpc>
                <a:spcPts val="2100"/>
              </a:lnSpc>
              <a:buNone/>
            </a:pPr>
            <a:r>
              <a:rPr lang="en-US" sz="1300" dirty="0">
                <a:solidFill>
                  <a:srgbClr val="405449"/>
                </a:solidFill>
                <a:latin typeface="Nobile" pitchFamily="34" charset="0"/>
                <a:ea typeface="Nobile" pitchFamily="34" charset="-122"/>
                <a:cs typeface="Nobile" pitchFamily="34" charset="-120"/>
              </a:rPr>
              <a:t>Minimal footprint agent that forwards raw data without processing. Ideal for production servers where resource consumption must be minimized. Handles compression and secure transmission automatically.</a:t>
            </a:r>
            <a:endParaRPr lang="en-US" sz="1300" dirty="0"/>
          </a:p>
        </p:txBody>
      </p:sp>
      <p:sp>
        <p:nvSpPr>
          <p:cNvPr id="8" name="Shape 5"/>
          <p:cNvSpPr/>
          <p:nvPr/>
        </p:nvSpPr>
        <p:spPr>
          <a:xfrm>
            <a:off x="7528560" y="4573667"/>
            <a:ext cx="6315670" cy="1624727"/>
          </a:xfrm>
          <a:prstGeom prst="roundRect">
            <a:avLst>
              <a:gd name="adj" fmla="val 9345"/>
            </a:avLst>
          </a:prstGeom>
          <a:solidFill>
            <a:srgbClr val="FAFFFA"/>
          </a:solidFill>
          <a:ln w="22860">
            <a:solidFill>
              <a:srgbClr val="CED9CE"/>
            </a:solidFill>
            <a:prstDash val="solid"/>
          </a:ln>
        </p:spPr>
      </p:sp>
      <p:sp>
        <p:nvSpPr>
          <p:cNvPr id="9" name="Text 6"/>
          <p:cNvSpPr/>
          <p:nvPr/>
        </p:nvSpPr>
        <p:spPr>
          <a:xfrm>
            <a:off x="7720013" y="4765119"/>
            <a:ext cx="2395657" cy="263485"/>
          </a:xfrm>
          <a:prstGeom prst="rect">
            <a:avLst/>
          </a:prstGeom>
          <a:noFill/>
          <a:ln/>
        </p:spPr>
        <p:txBody>
          <a:bodyPr wrap="none" lIns="0" tIns="0" rIns="0" bIns="0" rtlCol="0" anchor="t"/>
          <a:lstStyle/>
          <a:p>
            <a:pPr algn="l" indent="0" marL="0">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Heavy Forwarder (HF)</a:t>
            </a:r>
            <a:endParaRPr lang="en-US" sz="1650" dirty="0"/>
          </a:p>
        </p:txBody>
      </p:sp>
      <p:sp>
        <p:nvSpPr>
          <p:cNvPr id="10" name="Text 7"/>
          <p:cNvSpPr/>
          <p:nvPr/>
        </p:nvSpPr>
        <p:spPr>
          <a:xfrm>
            <a:off x="7720013" y="5197197"/>
            <a:ext cx="5932765" cy="809744"/>
          </a:xfrm>
          <a:prstGeom prst="rect">
            <a:avLst/>
          </a:prstGeom>
          <a:noFill/>
          <a:ln/>
        </p:spPr>
        <p:txBody>
          <a:bodyPr wrap="square" lIns="0" tIns="0" rIns="0" bIns="0" rtlCol="0" anchor="t"/>
          <a:lstStyle/>
          <a:p>
            <a:pPr algn="l" indent="0" marL="0">
              <a:lnSpc>
                <a:spcPts val="2100"/>
              </a:lnSpc>
              <a:buNone/>
            </a:pPr>
            <a:r>
              <a:rPr lang="en-US" sz="1300" dirty="0">
                <a:solidFill>
                  <a:srgbClr val="405449"/>
                </a:solidFill>
                <a:latin typeface="Nobile" pitchFamily="34" charset="0"/>
                <a:ea typeface="Nobile" pitchFamily="34" charset="-122"/>
                <a:cs typeface="Nobile" pitchFamily="34" charset="-120"/>
              </a:rPr>
              <a:t>Full Splunk instance capable of parsing, filtering, and transforming data before forwarding. Used when data preprocessing is required or when acting as an intermediate aggregation point.</a:t>
            </a:r>
            <a:endParaRPr lang="en-US" sz="1300" dirty="0"/>
          </a:p>
        </p:txBody>
      </p:sp>
      <p:sp>
        <p:nvSpPr>
          <p:cNvPr id="11" name="Text 8"/>
          <p:cNvSpPr/>
          <p:nvPr/>
        </p:nvSpPr>
        <p:spPr>
          <a:xfrm>
            <a:off x="793790" y="7110651"/>
            <a:ext cx="13042821" cy="539829"/>
          </a:xfrm>
          <a:prstGeom prst="rect">
            <a:avLst/>
          </a:prstGeom>
          <a:noFill/>
          <a:ln/>
        </p:spPr>
        <p:txBody>
          <a:bodyPr wrap="square" lIns="0" tIns="0" rIns="0" bIns="0" rtlCol="0" anchor="t"/>
          <a:lstStyle/>
          <a:p>
            <a:pPr algn="l" indent="0" marL="0">
              <a:lnSpc>
                <a:spcPts val="2100"/>
              </a:lnSpc>
              <a:buNone/>
            </a:pPr>
            <a:r>
              <a:rPr lang="en-US" sz="1300" dirty="0">
                <a:solidFill>
                  <a:srgbClr val="405449"/>
                </a:solidFill>
                <a:latin typeface="Nobile" pitchFamily="34" charset="0"/>
                <a:ea typeface="Nobile" pitchFamily="34" charset="-122"/>
                <a:cs typeface="Nobile" pitchFamily="34" charset="-120"/>
              </a:rPr>
              <a:t>Common deployment scenarios include collecting application logs, system metrics, security events, and network device data. Forwarders support load balancing across multiple indexers and automatic failover for high availability.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382435"/>
            <a:ext cx="10108287" cy="620078"/>
          </a:xfrm>
          <a:prstGeom prst="rect">
            <a:avLst/>
          </a:prstGeom>
          <a:noFill/>
          <a:ln/>
        </p:spPr>
        <p:txBody>
          <a:bodyPr wrap="none" lIns="0" tIns="0" rIns="0" bIns="0" rtlCol="0" anchor="t"/>
          <a:lstStyle/>
          <a:p>
            <a:pPr algn="l" indent="0" marL="0">
              <a:lnSpc>
                <a:spcPts val="4850"/>
              </a:lnSpc>
              <a:buNone/>
            </a:pPr>
            <a:r>
              <a:rPr lang="en-US" sz="3900" b="1" dirty="0">
                <a:solidFill>
                  <a:srgbClr val="3B4540"/>
                </a:solidFill>
                <a:latin typeface="Fraunces Extra Bold" pitchFamily="34" charset="0"/>
                <a:ea typeface="Fraunces Extra Bold" pitchFamily="34" charset="-122"/>
                <a:cs typeface="Fraunces Extra Bold" pitchFamily="34" charset="-120"/>
              </a:rPr>
              <a:t>Splunk Indexers: The Processing Engine</a:t>
            </a:r>
            <a:endParaRPr lang="en-US" sz="3900" dirty="0"/>
          </a:p>
        </p:txBody>
      </p:sp>
      <p:sp>
        <p:nvSpPr>
          <p:cNvPr id="3" name="Text 1"/>
          <p:cNvSpPr/>
          <p:nvPr/>
        </p:nvSpPr>
        <p:spPr>
          <a:xfrm>
            <a:off x="793790" y="2399348"/>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Indexers form the backbone of Splunk's data processing infrastructure. They receive raw data from forwarders, parse it into searchable events, and store the results in compressed, indexed formats optimized for fast retrieval and analysis.</a:t>
            </a:r>
            <a:endParaRPr lang="en-US" sz="1550" dirty="0"/>
          </a:p>
        </p:txBody>
      </p:sp>
      <p:sp>
        <p:nvSpPr>
          <p:cNvPr id="4" name="Shape 2"/>
          <p:cNvSpPr/>
          <p:nvPr/>
        </p:nvSpPr>
        <p:spPr>
          <a:xfrm>
            <a:off x="793790" y="3257669"/>
            <a:ext cx="4215289" cy="2731175"/>
          </a:xfrm>
          <a:prstGeom prst="roundRect">
            <a:avLst>
              <a:gd name="adj" fmla="val 6540"/>
            </a:avLst>
          </a:prstGeom>
          <a:solidFill>
            <a:srgbClr val="E8F3E8"/>
          </a:solidFill>
          <a:ln/>
        </p:spPr>
      </p:sp>
      <p:sp>
        <p:nvSpPr>
          <p:cNvPr id="5" name="Text 3"/>
          <p:cNvSpPr/>
          <p:nvPr/>
        </p:nvSpPr>
        <p:spPr>
          <a:xfrm>
            <a:off x="992148" y="3456027"/>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Data Ingestion</a:t>
            </a:r>
            <a:endParaRPr lang="en-US" sz="1950" dirty="0"/>
          </a:p>
        </p:txBody>
      </p:sp>
      <p:sp>
        <p:nvSpPr>
          <p:cNvPr id="6" name="Text 4"/>
          <p:cNvSpPr/>
          <p:nvPr/>
        </p:nvSpPr>
        <p:spPr>
          <a:xfrm>
            <a:off x="992148" y="3885247"/>
            <a:ext cx="3818573" cy="1587698"/>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Receives data streams from multiple forwarders simultaneously, handling various data formats and sources with configurable parsing rules and data transformation pipelines.</a:t>
            </a:r>
            <a:endParaRPr lang="en-US" sz="1550" dirty="0"/>
          </a:p>
        </p:txBody>
      </p:sp>
      <p:sp>
        <p:nvSpPr>
          <p:cNvPr id="7" name="Shape 5"/>
          <p:cNvSpPr/>
          <p:nvPr/>
        </p:nvSpPr>
        <p:spPr>
          <a:xfrm>
            <a:off x="5207437" y="3257669"/>
            <a:ext cx="4215408" cy="2731175"/>
          </a:xfrm>
          <a:prstGeom prst="roundRect">
            <a:avLst>
              <a:gd name="adj" fmla="val 6540"/>
            </a:avLst>
          </a:prstGeom>
          <a:solidFill>
            <a:srgbClr val="E8F3E8"/>
          </a:solidFill>
          <a:ln/>
        </p:spPr>
      </p:sp>
      <p:sp>
        <p:nvSpPr>
          <p:cNvPr id="8" name="Text 6"/>
          <p:cNvSpPr/>
          <p:nvPr/>
        </p:nvSpPr>
        <p:spPr>
          <a:xfrm>
            <a:off x="5405795" y="3456027"/>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Event Processing</a:t>
            </a:r>
            <a:endParaRPr lang="en-US" sz="1950" dirty="0"/>
          </a:p>
        </p:txBody>
      </p:sp>
      <p:sp>
        <p:nvSpPr>
          <p:cNvPr id="9" name="Text 7"/>
          <p:cNvSpPr/>
          <p:nvPr/>
        </p:nvSpPr>
        <p:spPr>
          <a:xfrm>
            <a:off x="5405795" y="3885247"/>
            <a:ext cx="3818692" cy="1587698"/>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Breaks raw data into individual events, extracts timestamps, assigns metadata, and performs field extraction according to sourcetype configurations and parsing rules.</a:t>
            </a:r>
            <a:endParaRPr lang="en-US" sz="1550" dirty="0"/>
          </a:p>
        </p:txBody>
      </p:sp>
      <p:sp>
        <p:nvSpPr>
          <p:cNvPr id="10" name="Shape 8"/>
          <p:cNvSpPr/>
          <p:nvPr/>
        </p:nvSpPr>
        <p:spPr>
          <a:xfrm>
            <a:off x="9621203" y="3257669"/>
            <a:ext cx="4215289" cy="2731175"/>
          </a:xfrm>
          <a:prstGeom prst="roundRect">
            <a:avLst>
              <a:gd name="adj" fmla="val 6540"/>
            </a:avLst>
          </a:prstGeom>
          <a:solidFill>
            <a:srgbClr val="E8F3E8"/>
          </a:solidFill>
          <a:ln/>
        </p:spPr>
      </p:sp>
      <p:sp>
        <p:nvSpPr>
          <p:cNvPr id="11" name="Text 9"/>
          <p:cNvSpPr/>
          <p:nvPr/>
        </p:nvSpPr>
        <p:spPr>
          <a:xfrm>
            <a:off x="9819561" y="3456027"/>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Index Storage</a:t>
            </a:r>
            <a:endParaRPr lang="en-US" sz="1950" dirty="0"/>
          </a:p>
        </p:txBody>
      </p:sp>
      <p:sp>
        <p:nvSpPr>
          <p:cNvPr id="12" name="Text 10"/>
          <p:cNvSpPr/>
          <p:nvPr/>
        </p:nvSpPr>
        <p:spPr>
          <a:xfrm>
            <a:off x="9819561" y="3885247"/>
            <a:ext cx="3818573" cy="1905238"/>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Stores processed events in compressed buckets with efficient indexing structures, enabling fast search operations and optimized storage utilization across hot, warm, and cold tiers.</a:t>
            </a:r>
            <a:endParaRPr lang="en-US" sz="1550" dirty="0"/>
          </a:p>
        </p:txBody>
      </p:sp>
      <p:sp>
        <p:nvSpPr>
          <p:cNvPr id="13" name="Text 11"/>
          <p:cNvSpPr/>
          <p:nvPr/>
        </p:nvSpPr>
        <p:spPr>
          <a:xfrm>
            <a:off x="793790" y="6212086"/>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Indexer clustering provides data replication and high availability, ensuring business continuity and search performance even during hardware failures or maintenance windows.</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585907"/>
            <a:ext cx="8416409" cy="589121"/>
          </a:xfrm>
          <a:prstGeom prst="rect">
            <a:avLst/>
          </a:prstGeom>
          <a:noFill/>
          <a:ln/>
        </p:spPr>
        <p:txBody>
          <a:bodyPr wrap="none" lIns="0" tIns="0" rIns="0" bIns="0" rtlCol="0" anchor="t"/>
          <a:lstStyle/>
          <a:p>
            <a:pPr algn="l" indent="0" marL="0">
              <a:lnSpc>
                <a:spcPts val="4600"/>
              </a:lnSpc>
              <a:buNone/>
            </a:pPr>
            <a:r>
              <a:rPr lang="en-US" sz="3700" b="1" dirty="0">
                <a:solidFill>
                  <a:srgbClr val="3B4540"/>
                </a:solidFill>
                <a:latin typeface="Fraunces Extra Bold" pitchFamily="34" charset="0"/>
                <a:ea typeface="Fraunces Extra Bold" pitchFamily="34" charset="-122"/>
                <a:cs typeface="Fraunces Extra Bold" pitchFamily="34" charset="-120"/>
              </a:rPr>
              <a:t>Search Heads: User Interface Layer</a:t>
            </a:r>
            <a:endParaRPr lang="en-US" sz="3700" dirty="0"/>
          </a:p>
        </p:txBody>
      </p:sp>
      <p:sp>
        <p:nvSpPr>
          <p:cNvPr id="3" name="Text 1"/>
          <p:cNvSpPr/>
          <p:nvPr/>
        </p:nvSpPr>
        <p:spPr>
          <a:xfrm>
            <a:off x="793790" y="1627465"/>
            <a:ext cx="4941094" cy="1508522"/>
          </a:xfrm>
          <a:prstGeom prst="rect">
            <a:avLst/>
          </a:prstGeom>
          <a:noFill/>
          <a:ln/>
        </p:spPr>
        <p:txBody>
          <a:bodyPr wrap="square" lIns="0" tIns="0" rIns="0" bIns="0" rtlCol="0" anchor="t"/>
          <a:lstStyle/>
          <a:p>
            <a:pPr algn="l" indent="0" marL="0">
              <a:lnSpc>
                <a:spcPts val="2350"/>
              </a:lnSpc>
              <a:buNone/>
            </a:pPr>
            <a:r>
              <a:rPr lang="en-US" sz="1450" dirty="0">
                <a:solidFill>
                  <a:srgbClr val="405449"/>
                </a:solidFill>
                <a:latin typeface="Nobile" pitchFamily="34" charset="0"/>
                <a:ea typeface="Nobile" pitchFamily="34" charset="-122"/>
                <a:cs typeface="Nobile" pitchFamily="34" charset="-120"/>
              </a:rPr>
              <a:t>Search Heads provide the primary user interface for Splunk, enabling search queries, dashboard creation, alert configuration, and data visualization. They coordinate distributed searches across multiple indexers and present consolidated results to users.</a:t>
            </a:r>
            <a:endParaRPr lang="en-US" sz="1450" dirty="0"/>
          </a:p>
        </p:txBody>
      </p:sp>
      <p:sp>
        <p:nvSpPr>
          <p:cNvPr id="4" name="Text 2"/>
          <p:cNvSpPr/>
          <p:nvPr/>
        </p:nvSpPr>
        <p:spPr>
          <a:xfrm>
            <a:off x="793790" y="3324463"/>
            <a:ext cx="2828211" cy="353378"/>
          </a:xfrm>
          <a:prstGeom prst="rect">
            <a:avLst/>
          </a:prstGeom>
          <a:noFill/>
          <a:ln/>
        </p:spPr>
        <p:txBody>
          <a:bodyPr wrap="none" lIns="0" tIns="0" rIns="0" bIns="0" rtlCol="0" anchor="t"/>
          <a:lstStyle/>
          <a:p>
            <a:pPr algn="l" indent="0" marL="0">
              <a:lnSpc>
                <a:spcPts val="2750"/>
              </a:lnSpc>
              <a:buNone/>
            </a:pPr>
            <a:r>
              <a:rPr lang="en-US" sz="2200" b="1" dirty="0">
                <a:solidFill>
                  <a:srgbClr val="3B4540"/>
                </a:solidFill>
                <a:latin typeface="Fraunces Extra Bold" pitchFamily="34" charset="0"/>
                <a:ea typeface="Fraunces Extra Bold" pitchFamily="34" charset="-122"/>
                <a:cs typeface="Fraunces Extra Bold" pitchFamily="34" charset="-120"/>
              </a:rPr>
              <a:t>Key Capabilities</a:t>
            </a:r>
            <a:endParaRPr lang="en-US" sz="2200" dirty="0"/>
          </a:p>
        </p:txBody>
      </p:sp>
      <p:sp>
        <p:nvSpPr>
          <p:cNvPr id="5" name="Text 3"/>
          <p:cNvSpPr/>
          <p:nvPr/>
        </p:nvSpPr>
        <p:spPr>
          <a:xfrm>
            <a:off x="793790" y="3866317"/>
            <a:ext cx="4941094" cy="301704"/>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405449"/>
                </a:solidFill>
                <a:latin typeface="Nobile" pitchFamily="34" charset="0"/>
                <a:ea typeface="Nobile" pitchFamily="34" charset="-122"/>
                <a:cs typeface="Nobile" pitchFamily="34" charset="-120"/>
              </a:rPr>
              <a:t>SPL (Search Processing Language) query execution</a:t>
            </a:r>
            <a:endParaRPr lang="en-US" sz="1450" dirty="0"/>
          </a:p>
        </p:txBody>
      </p:sp>
      <p:sp>
        <p:nvSpPr>
          <p:cNvPr id="6" name="Text 4"/>
          <p:cNvSpPr/>
          <p:nvPr/>
        </p:nvSpPr>
        <p:spPr>
          <a:xfrm>
            <a:off x="793790" y="4233982"/>
            <a:ext cx="4941094" cy="301704"/>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405449"/>
                </a:solidFill>
                <a:latin typeface="Nobile" pitchFamily="34" charset="0"/>
                <a:ea typeface="Nobile" pitchFamily="34" charset="-122"/>
                <a:cs typeface="Nobile" pitchFamily="34" charset="-120"/>
              </a:rPr>
              <a:t>Dashboard and visualization creation</a:t>
            </a:r>
            <a:endParaRPr lang="en-US" sz="1450" dirty="0"/>
          </a:p>
        </p:txBody>
      </p:sp>
      <p:sp>
        <p:nvSpPr>
          <p:cNvPr id="7" name="Text 5"/>
          <p:cNvSpPr/>
          <p:nvPr/>
        </p:nvSpPr>
        <p:spPr>
          <a:xfrm>
            <a:off x="793790" y="4601647"/>
            <a:ext cx="4941094" cy="301704"/>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405449"/>
                </a:solidFill>
                <a:latin typeface="Nobile" pitchFamily="34" charset="0"/>
                <a:ea typeface="Nobile" pitchFamily="34" charset="-122"/>
                <a:cs typeface="Nobile" pitchFamily="34" charset="-120"/>
              </a:rPr>
              <a:t>Real-time monitoring and alerting</a:t>
            </a:r>
            <a:endParaRPr lang="en-US" sz="1450" dirty="0"/>
          </a:p>
        </p:txBody>
      </p:sp>
      <p:sp>
        <p:nvSpPr>
          <p:cNvPr id="8" name="Text 6"/>
          <p:cNvSpPr/>
          <p:nvPr/>
        </p:nvSpPr>
        <p:spPr>
          <a:xfrm>
            <a:off x="793790" y="4969312"/>
            <a:ext cx="4941094" cy="301704"/>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405449"/>
                </a:solidFill>
                <a:latin typeface="Nobile" pitchFamily="34" charset="0"/>
                <a:ea typeface="Nobile" pitchFamily="34" charset="-122"/>
                <a:cs typeface="Nobile" pitchFamily="34" charset="-120"/>
              </a:rPr>
              <a:t>Report scheduling and distribution</a:t>
            </a:r>
            <a:endParaRPr lang="en-US" sz="1450" dirty="0"/>
          </a:p>
        </p:txBody>
      </p:sp>
      <p:sp>
        <p:nvSpPr>
          <p:cNvPr id="9" name="Text 7"/>
          <p:cNvSpPr/>
          <p:nvPr/>
        </p:nvSpPr>
        <p:spPr>
          <a:xfrm>
            <a:off x="793790" y="5336977"/>
            <a:ext cx="4941094" cy="301704"/>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405449"/>
                </a:solidFill>
                <a:latin typeface="Nobile" pitchFamily="34" charset="0"/>
                <a:ea typeface="Nobile" pitchFamily="34" charset="-122"/>
                <a:cs typeface="Nobile" pitchFamily="34" charset="-120"/>
              </a:rPr>
              <a:t>User access control and role management</a:t>
            </a:r>
            <a:endParaRPr lang="en-US" sz="1450" dirty="0"/>
          </a:p>
        </p:txBody>
      </p:sp>
      <p:pic>
        <p:nvPicPr>
          <p:cNvPr id="10" name="Image 0" descr="preencoded.png">    </p:cNvPr>
          <p:cNvPicPr>
            <a:picLocks noChangeAspect="1"/>
          </p:cNvPicPr>
          <p:nvPr/>
        </p:nvPicPr>
        <p:blipFill>
          <a:blip r:embed="rId1"/>
          <a:stretch>
            <a:fillRect/>
          </a:stretch>
        </p:blipFill>
        <p:spPr>
          <a:xfrm>
            <a:off x="6202561" y="1669852"/>
            <a:ext cx="7259479" cy="4686895"/>
          </a:xfrm>
          <a:prstGeom prst="rect">
            <a:avLst/>
          </a:prstGeom>
        </p:spPr>
      </p:pic>
      <p:sp>
        <p:nvSpPr>
          <p:cNvPr id="11" name="Text 8"/>
          <p:cNvSpPr/>
          <p:nvPr/>
        </p:nvSpPr>
        <p:spPr>
          <a:xfrm>
            <a:off x="6202561" y="6568797"/>
            <a:ext cx="7641669" cy="905113"/>
          </a:xfrm>
          <a:prstGeom prst="rect">
            <a:avLst/>
          </a:prstGeom>
          <a:noFill/>
          <a:ln/>
        </p:spPr>
        <p:txBody>
          <a:bodyPr wrap="square" lIns="0" tIns="0" rIns="0" bIns="0" rtlCol="0" anchor="t"/>
          <a:lstStyle/>
          <a:p>
            <a:pPr algn="l" indent="0" marL="0">
              <a:lnSpc>
                <a:spcPts val="2350"/>
              </a:lnSpc>
              <a:buNone/>
            </a:pPr>
            <a:r>
              <a:rPr lang="en-US" sz="1450" dirty="0">
                <a:solidFill>
                  <a:srgbClr val="405449"/>
                </a:solidFill>
                <a:latin typeface="Nobile" pitchFamily="34" charset="0"/>
                <a:ea typeface="Nobile" pitchFamily="34" charset="-122"/>
                <a:cs typeface="Nobile" pitchFamily="34" charset="-120"/>
              </a:rPr>
              <a:t>Search Head clustering ensures redundancy and load balancing, allowing multiple users to perform complex searches simultaneously without performance degradation.</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358503"/>
            <a:ext cx="6344126" cy="620078"/>
          </a:xfrm>
          <a:prstGeom prst="rect">
            <a:avLst/>
          </a:prstGeom>
          <a:noFill/>
          <a:ln/>
        </p:spPr>
        <p:txBody>
          <a:bodyPr wrap="none" lIns="0" tIns="0" rIns="0" bIns="0" rtlCol="0" anchor="t"/>
          <a:lstStyle/>
          <a:p>
            <a:pPr algn="l" indent="0" marL="0">
              <a:lnSpc>
                <a:spcPts val="4850"/>
              </a:lnSpc>
              <a:buNone/>
            </a:pPr>
            <a:r>
              <a:rPr lang="en-US" sz="3900" b="1" dirty="0">
                <a:solidFill>
                  <a:srgbClr val="3B4540"/>
                </a:solidFill>
                <a:latin typeface="Fraunces Extra Bold" pitchFamily="34" charset="0"/>
                <a:ea typeface="Fraunces Extra Bold" pitchFamily="34" charset="-122"/>
                <a:cs typeface="Fraunces Extra Bold" pitchFamily="34" charset="-120"/>
              </a:rPr>
              <a:t>Data Ingestion Workflow</a:t>
            </a:r>
            <a:endParaRPr lang="en-US" sz="3900" dirty="0"/>
          </a:p>
        </p:txBody>
      </p:sp>
      <p:pic>
        <p:nvPicPr>
          <p:cNvPr id="3" name="Image 0" descr="preencoded.png">    </p:cNvPr>
          <p:cNvPicPr>
            <a:picLocks noChangeAspect="1"/>
          </p:cNvPicPr>
          <p:nvPr/>
        </p:nvPicPr>
        <p:blipFill>
          <a:blip r:embed="rId1"/>
          <a:stretch>
            <a:fillRect/>
          </a:stretch>
        </p:blipFill>
        <p:spPr>
          <a:xfrm>
            <a:off x="793790" y="2375416"/>
            <a:ext cx="198358" cy="248007"/>
          </a:xfrm>
          <a:prstGeom prst="rect">
            <a:avLst/>
          </a:prstGeom>
        </p:spPr>
      </p:pic>
      <p:sp>
        <p:nvSpPr>
          <p:cNvPr id="4" name="Shape 1"/>
          <p:cNvSpPr/>
          <p:nvPr/>
        </p:nvSpPr>
        <p:spPr>
          <a:xfrm>
            <a:off x="793790" y="2689741"/>
            <a:ext cx="4215289" cy="22860"/>
          </a:xfrm>
          <a:prstGeom prst="rect">
            <a:avLst/>
          </a:prstGeom>
          <a:solidFill>
            <a:srgbClr val="438951"/>
          </a:solidFill>
          <a:ln/>
        </p:spPr>
      </p:sp>
      <p:sp>
        <p:nvSpPr>
          <p:cNvPr id="5" name="Text 2"/>
          <p:cNvSpPr/>
          <p:nvPr/>
        </p:nvSpPr>
        <p:spPr>
          <a:xfrm>
            <a:off x="793790" y="2834640"/>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Data Sources</a:t>
            </a:r>
            <a:endParaRPr lang="en-US" sz="1950" dirty="0"/>
          </a:p>
        </p:txBody>
      </p:sp>
      <p:sp>
        <p:nvSpPr>
          <p:cNvPr id="6" name="Text 3"/>
          <p:cNvSpPr/>
          <p:nvPr/>
        </p:nvSpPr>
        <p:spPr>
          <a:xfrm>
            <a:off x="793790" y="3263860"/>
            <a:ext cx="4215289" cy="127015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Various input sources including log files, databases, APIs, network streams, metrics, and custom applications generate machine data for analysis.</a:t>
            </a:r>
            <a:endParaRPr lang="en-US" sz="1550" dirty="0"/>
          </a:p>
        </p:txBody>
      </p:sp>
      <p:pic>
        <p:nvPicPr>
          <p:cNvPr id="7" name="Image 1" descr="preencoded.png">    </p:cNvPr>
          <p:cNvPicPr>
            <a:picLocks noChangeAspect="1"/>
          </p:cNvPicPr>
          <p:nvPr/>
        </p:nvPicPr>
        <p:blipFill>
          <a:blip r:embed="rId2"/>
          <a:stretch>
            <a:fillRect/>
          </a:stretch>
        </p:blipFill>
        <p:spPr>
          <a:xfrm>
            <a:off x="5207437" y="2375416"/>
            <a:ext cx="198358" cy="248007"/>
          </a:xfrm>
          <a:prstGeom prst="rect">
            <a:avLst/>
          </a:prstGeom>
        </p:spPr>
      </p:pic>
      <p:sp>
        <p:nvSpPr>
          <p:cNvPr id="8" name="Shape 4"/>
          <p:cNvSpPr/>
          <p:nvPr/>
        </p:nvSpPr>
        <p:spPr>
          <a:xfrm>
            <a:off x="5207437" y="2689741"/>
            <a:ext cx="4215408" cy="22860"/>
          </a:xfrm>
          <a:prstGeom prst="rect">
            <a:avLst/>
          </a:prstGeom>
          <a:solidFill>
            <a:srgbClr val="438951"/>
          </a:solidFill>
          <a:ln/>
        </p:spPr>
      </p:sp>
      <p:sp>
        <p:nvSpPr>
          <p:cNvPr id="9" name="Text 5"/>
          <p:cNvSpPr/>
          <p:nvPr/>
        </p:nvSpPr>
        <p:spPr>
          <a:xfrm>
            <a:off x="5207437" y="2834640"/>
            <a:ext cx="3069193" cy="310158"/>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Collection &amp; Forwarding</a:t>
            </a:r>
            <a:endParaRPr lang="en-US" sz="1950" dirty="0"/>
          </a:p>
        </p:txBody>
      </p:sp>
      <p:sp>
        <p:nvSpPr>
          <p:cNvPr id="10" name="Text 6"/>
          <p:cNvSpPr/>
          <p:nvPr/>
        </p:nvSpPr>
        <p:spPr>
          <a:xfrm>
            <a:off x="5207437" y="3263860"/>
            <a:ext cx="4215408" cy="127015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Forwarders monitor source systems, collect data in real-time or batch mode, and transmit securely to indexers with compression and encryption.</a:t>
            </a:r>
            <a:endParaRPr lang="en-US" sz="1550" dirty="0"/>
          </a:p>
        </p:txBody>
      </p:sp>
      <p:pic>
        <p:nvPicPr>
          <p:cNvPr id="11" name="Image 2" descr="preencoded.png">    </p:cNvPr>
          <p:cNvPicPr>
            <a:picLocks noChangeAspect="1"/>
          </p:cNvPicPr>
          <p:nvPr/>
        </p:nvPicPr>
        <p:blipFill>
          <a:blip r:embed="rId3"/>
          <a:stretch>
            <a:fillRect/>
          </a:stretch>
        </p:blipFill>
        <p:spPr>
          <a:xfrm>
            <a:off x="9621203" y="2375416"/>
            <a:ext cx="198358" cy="248007"/>
          </a:xfrm>
          <a:prstGeom prst="rect">
            <a:avLst/>
          </a:prstGeom>
        </p:spPr>
      </p:pic>
      <p:sp>
        <p:nvSpPr>
          <p:cNvPr id="12" name="Shape 7"/>
          <p:cNvSpPr/>
          <p:nvPr/>
        </p:nvSpPr>
        <p:spPr>
          <a:xfrm>
            <a:off x="9621203" y="2689741"/>
            <a:ext cx="4215289" cy="22860"/>
          </a:xfrm>
          <a:prstGeom prst="rect">
            <a:avLst/>
          </a:prstGeom>
          <a:solidFill>
            <a:srgbClr val="438951"/>
          </a:solidFill>
          <a:ln/>
        </p:spPr>
      </p:sp>
      <p:sp>
        <p:nvSpPr>
          <p:cNvPr id="13" name="Text 8"/>
          <p:cNvSpPr/>
          <p:nvPr/>
        </p:nvSpPr>
        <p:spPr>
          <a:xfrm>
            <a:off x="9621203" y="2834640"/>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Parsing &amp; Indexing</a:t>
            </a:r>
            <a:endParaRPr lang="en-US" sz="1950" dirty="0"/>
          </a:p>
        </p:txBody>
      </p:sp>
      <p:sp>
        <p:nvSpPr>
          <p:cNvPr id="14" name="Text 9"/>
          <p:cNvSpPr/>
          <p:nvPr/>
        </p:nvSpPr>
        <p:spPr>
          <a:xfrm>
            <a:off x="9621203" y="3263860"/>
            <a:ext cx="4215289" cy="127015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Indexers parse raw data into discrete events, extract timestamps and fields, apply sourcetype rules, and store in optimized index structures.</a:t>
            </a:r>
            <a:endParaRPr lang="en-US" sz="1550" dirty="0"/>
          </a:p>
        </p:txBody>
      </p:sp>
      <p:pic>
        <p:nvPicPr>
          <p:cNvPr id="15" name="Image 3" descr="preencoded.png">    </p:cNvPr>
          <p:cNvPicPr>
            <a:picLocks noChangeAspect="1"/>
          </p:cNvPicPr>
          <p:nvPr/>
        </p:nvPicPr>
        <p:blipFill>
          <a:blip r:embed="rId4"/>
          <a:stretch>
            <a:fillRect/>
          </a:stretch>
        </p:blipFill>
        <p:spPr>
          <a:xfrm>
            <a:off x="793790" y="4881205"/>
            <a:ext cx="198358" cy="248007"/>
          </a:xfrm>
          <a:prstGeom prst="rect">
            <a:avLst/>
          </a:prstGeom>
        </p:spPr>
      </p:pic>
      <p:sp>
        <p:nvSpPr>
          <p:cNvPr id="16" name="Shape 10"/>
          <p:cNvSpPr/>
          <p:nvPr/>
        </p:nvSpPr>
        <p:spPr>
          <a:xfrm>
            <a:off x="793790" y="5195530"/>
            <a:ext cx="6422112" cy="22860"/>
          </a:xfrm>
          <a:prstGeom prst="rect">
            <a:avLst/>
          </a:prstGeom>
          <a:solidFill>
            <a:srgbClr val="438951"/>
          </a:solidFill>
          <a:ln/>
        </p:spPr>
      </p:sp>
      <p:sp>
        <p:nvSpPr>
          <p:cNvPr id="17" name="Text 11"/>
          <p:cNvSpPr/>
          <p:nvPr/>
        </p:nvSpPr>
        <p:spPr>
          <a:xfrm>
            <a:off x="793790" y="5340429"/>
            <a:ext cx="2672239" cy="310158"/>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Storage Management</a:t>
            </a:r>
            <a:endParaRPr lang="en-US" sz="1950" dirty="0"/>
          </a:p>
        </p:txBody>
      </p:sp>
      <p:sp>
        <p:nvSpPr>
          <p:cNvPr id="18" name="Text 12"/>
          <p:cNvSpPr/>
          <p:nvPr/>
        </p:nvSpPr>
        <p:spPr>
          <a:xfrm>
            <a:off x="793790" y="5769650"/>
            <a:ext cx="6422112" cy="95261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Processed events are stored in time-based buckets with lifecycle management, moving through hot, warm, cold, and frozen states based on retention policies.</a:t>
            </a:r>
            <a:endParaRPr lang="en-US" sz="1550" dirty="0"/>
          </a:p>
        </p:txBody>
      </p:sp>
      <p:pic>
        <p:nvPicPr>
          <p:cNvPr id="19" name="Image 4" descr="preencoded.png">    </p:cNvPr>
          <p:cNvPicPr>
            <a:picLocks noChangeAspect="1"/>
          </p:cNvPicPr>
          <p:nvPr/>
        </p:nvPicPr>
        <p:blipFill>
          <a:blip r:embed="rId5"/>
          <a:stretch>
            <a:fillRect/>
          </a:stretch>
        </p:blipFill>
        <p:spPr>
          <a:xfrm>
            <a:off x="7414260" y="4881205"/>
            <a:ext cx="198358" cy="248007"/>
          </a:xfrm>
          <a:prstGeom prst="rect">
            <a:avLst/>
          </a:prstGeom>
        </p:spPr>
      </p:pic>
      <p:sp>
        <p:nvSpPr>
          <p:cNvPr id="20" name="Shape 13"/>
          <p:cNvSpPr/>
          <p:nvPr/>
        </p:nvSpPr>
        <p:spPr>
          <a:xfrm>
            <a:off x="7414260" y="5195530"/>
            <a:ext cx="6422231" cy="22860"/>
          </a:xfrm>
          <a:prstGeom prst="rect">
            <a:avLst/>
          </a:prstGeom>
          <a:solidFill>
            <a:srgbClr val="438951"/>
          </a:solidFill>
          <a:ln/>
        </p:spPr>
      </p:sp>
      <p:sp>
        <p:nvSpPr>
          <p:cNvPr id="21" name="Text 14"/>
          <p:cNvSpPr/>
          <p:nvPr/>
        </p:nvSpPr>
        <p:spPr>
          <a:xfrm>
            <a:off x="7414260" y="5340429"/>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Search &amp; Analysis</a:t>
            </a:r>
            <a:endParaRPr lang="en-US" sz="1950" dirty="0"/>
          </a:p>
        </p:txBody>
      </p:sp>
      <p:sp>
        <p:nvSpPr>
          <p:cNvPr id="22" name="Text 15"/>
          <p:cNvSpPr/>
          <p:nvPr/>
        </p:nvSpPr>
        <p:spPr>
          <a:xfrm>
            <a:off x="7414260" y="5769650"/>
            <a:ext cx="6422231" cy="95261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Search heads enable users to query indexed data, create visualizations, build dashboards, and configure alerts for proactive monitoring and analysis.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87241" y="542092"/>
            <a:ext cx="8265676" cy="491966"/>
          </a:xfrm>
          <a:prstGeom prst="rect">
            <a:avLst/>
          </a:prstGeom>
          <a:noFill/>
          <a:ln/>
        </p:spPr>
        <p:txBody>
          <a:bodyPr wrap="none" lIns="0" tIns="0" rIns="0" bIns="0" rtlCol="0" anchor="t"/>
          <a:lstStyle/>
          <a:p>
            <a:pPr algn="l" indent="0" marL="0">
              <a:lnSpc>
                <a:spcPts val="3850"/>
              </a:lnSpc>
              <a:buNone/>
            </a:pPr>
            <a:r>
              <a:rPr lang="en-US" sz="3050" b="1" dirty="0">
                <a:solidFill>
                  <a:srgbClr val="3B4540"/>
                </a:solidFill>
                <a:latin typeface="Fraunces Extra Bold" pitchFamily="34" charset="0"/>
                <a:ea typeface="Fraunces Extra Bold" pitchFamily="34" charset="-122"/>
                <a:cs typeface="Fraunces Extra Bold" pitchFamily="34" charset="-120"/>
              </a:rPr>
              <a:t>Data Parsing &amp; Event Processing Pipeline</a:t>
            </a:r>
            <a:endParaRPr lang="en-US" sz="3050" dirty="0"/>
          </a:p>
        </p:txBody>
      </p:sp>
      <p:pic>
        <p:nvPicPr>
          <p:cNvPr id="3" name="Image 0" descr="preencoded.png">    </p:cNvPr>
          <p:cNvPicPr>
            <a:picLocks noChangeAspect="1"/>
          </p:cNvPicPr>
          <p:nvPr/>
        </p:nvPicPr>
        <p:blipFill>
          <a:blip r:embed="rId1"/>
          <a:stretch>
            <a:fillRect/>
          </a:stretch>
        </p:blipFill>
        <p:spPr>
          <a:xfrm>
            <a:off x="787241" y="1447205"/>
            <a:ext cx="5068729" cy="3126700"/>
          </a:xfrm>
          <a:prstGeom prst="rect">
            <a:avLst/>
          </a:prstGeom>
        </p:spPr>
      </p:pic>
      <p:sp>
        <p:nvSpPr>
          <p:cNvPr id="4" name="Text 1"/>
          <p:cNvSpPr/>
          <p:nvPr/>
        </p:nvSpPr>
        <p:spPr>
          <a:xfrm>
            <a:off x="7514868" y="1411843"/>
            <a:ext cx="6335911" cy="755809"/>
          </a:xfrm>
          <a:prstGeom prst="rect">
            <a:avLst/>
          </a:prstGeom>
          <a:noFill/>
          <a:ln/>
        </p:spPr>
        <p:txBody>
          <a:bodyPr wrap="square" lIns="0" tIns="0" rIns="0" bIns="0" rtlCol="0" anchor="t"/>
          <a:lstStyle/>
          <a:p>
            <a:pPr algn="l" indent="0" marL="0">
              <a:lnSpc>
                <a:spcPts val="1950"/>
              </a:lnSpc>
              <a:buNone/>
            </a:pPr>
            <a:r>
              <a:rPr lang="en-US" sz="1200" dirty="0">
                <a:solidFill>
                  <a:srgbClr val="405449"/>
                </a:solidFill>
                <a:latin typeface="Nobile" pitchFamily="34" charset="0"/>
                <a:ea typeface="Nobile" pitchFamily="34" charset="-122"/>
                <a:cs typeface="Nobile" pitchFamily="34" charset="-120"/>
              </a:rPr>
              <a:t>The parsing pipeline transforms raw data into structured, searchable events through a series of configurable processing stages. Understanding this pipeline is crucial for optimizing data ingestion and search performance.</a:t>
            </a:r>
            <a:endParaRPr lang="en-US" sz="1200" dirty="0"/>
          </a:p>
        </p:txBody>
      </p:sp>
      <p:pic>
        <p:nvPicPr>
          <p:cNvPr id="5" name="Image 1" descr="preencoded.png">    </p:cNvPr>
          <p:cNvPicPr>
            <a:picLocks noChangeAspect="1"/>
          </p:cNvPicPr>
          <p:nvPr/>
        </p:nvPicPr>
        <p:blipFill>
          <a:blip r:embed="rId2"/>
          <a:stretch>
            <a:fillRect/>
          </a:stretch>
        </p:blipFill>
        <p:spPr>
          <a:xfrm>
            <a:off x="7514868" y="2344698"/>
            <a:ext cx="472321" cy="1143000"/>
          </a:xfrm>
          <a:prstGeom prst="rect">
            <a:avLst/>
          </a:prstGeom>
        </p:spPr>
      </p:pic>
      <p:sp>
        <p:nvSpPr>
          <p:cNvPr id="6" name="Text 2"/>
          <p:cNvSpPr/>
          <p:nvPr/>
        </p:nvSpPr>
        <p:spPr>
          <a:xfrm>
            <a:off x="8144589" y="2502098"/>
            <a:ext cx="1968341" cy="245983"/>
          </a:xfrm>
          <a:prstGeom prst="rect">
            <a:avLst/>
          </a:prstGeom>
          <a:noFill/>
          <a:ln/>
        </p:spPr>
        <p:txBody>
          <a:bodyPr wrap="none" lIns="0" tIns="0" rIns="0" bIns="0" rtlCol="0" anchor="t"/>
          <a:lstStyle/>
          <a:p>
            <a:pPr algn="l" indent="0" marL="0">
              <a:lnSpc>
                <a:spcPts val="1900"/>
              </a:lnSpc>
              <a:buNone/>
            </a:pPr>
            <a:r>
              <a:rPr lang="en-US" sz="1500" b="1" dirty="0">
                <a:solidFill>
                  <a:srgbClr val="405449"/>
                </a:solidFill>
                <a:latin typeface="Fraunces Extra Bold" pitchFamily="34" charset="0"/>
                <a:ea typeface="Fraunces Extra Bold" pitchFamily="34" charset="-122"/>
                <a:cs typeface="Fraunces Extra Bold" pitchFamily="34" charset="-120"/>
              </a:rPr>
              <a:t>Input Processing</a:t>
            </a:r>
            <a:endParaRPr lang="en-US" sz="1500" dirty="0"/>
          </a:p>
        </p:txBody>
      </p:sp>
      <p:sp>
        <p:nvSpPr>
          <p:cNvPr id="7" name="Text 3"/>
          <p:cNvSpPr/>
          <p:nvPr/>
        </p:nvSpPr>
        <p:spPr>
          <a:xfrm>
            <a:off x="8144589" y="2905482"/>
            <a:ext cx="5706189" cy="503873"/>
          </a:xfrm>
          <a:prstGeom prst="rect">
            <a:avLst/>
          </a:prstGeom>
          <a:noFill/>
          <a:ln/>
        </p:spPr>
        <p:txBody>
          <a:bodyPr wrap="square" lIns="0" tIns="0" rIns="0" bIns="0" rtlCol="0" anchor="t"/>
          <a:lstStyle/>
          <a:p>
            <a:pPr algn="l" indent="0" marL="0">
              <a:lnSpc>
                <a:spcPts val="1950"/>
              </a:lnSpc>
              <a:buNone/>
            </a:pPr>
            <a:r>
              <a:rPr lang="en-US" sz="1200" dirty="0">
                <a:solidFill>
                  <a:srgbClr val="405449"/>
                </a:solidFill>
                <a:latin typeface="Nobile" pitchFamily="34" charset="0"/>
                <a:ea typeface="Nobile" pitchFamily="34" charset="-122"/>
                <a:cs typeface="Nobile" pitchFamily="34" charset="-120"/>
              </a:rPr>
              <a:t>Raw data collection from various sources with initial filtering and routing based on source configuration and input specifications.</a:t>
            </a:r>
            <a:endParaRPr lang="en-US" sz="1200" dirty="0"/>
          </a:p>
        </p:txBody>
      </p:sp>
      <p:pic>
        <p:nvPicPr>
          <p:cNvPr id="8" name="Image 2" descr="preencoded.png">    </p:cNvPr>
          <p:cNvPicPr>
            <a:picLocks noChangeAspect="1"/>
          </p:cNvPicPr>
          <p:nvPr/>
        </p:nvPicPr>
        <p:blipFill>
          <a:blip r:embed="rId3"/>
          <a:stretch>
            <a:fillRect/>
          </a:stretch>
        </p:blipFill>
        <p:spPr>
          <a:xfrm>
            <a:off x="7750969" y="3724156"/>
            <a:ext cx="472321" cy="1143000"/>
          </a:xfrm>
          <a:prstGeom prst="rect">
            <a:avLst/>
          </a:prstGeom>
        </p:spPr>
      </p:pic>
      <p:sp>
        <p:nvSpPr>
          <p:cNvPr id="9" name="Text 4"/>
          <p:cNvSpPr/>
          <p:nvPr/>
        </p:nvSpPr>
        <p:spPr>
          <a:xfrm>
            <a:off x="8380690" y="3881557"/>
            <a:ext cx="2208014" cy="245983"/>
          </a:xfrm>
          <a:prstGeom prst="rect">
            <a:avLst/>
          </a:prstGeom>
          <a:noFill/>
          <a:ln/>
        </p:spPr>
        <p:txBody>
          <a:bodyPr wrap="none" lIns="0" tIns="0" rIns="0" bIns="0" rtlCol="0" anchor="t"/>
          <a:lstStyle/>
          <a:p>
            <a:pPr algn="l" indent="0" marL="0">
              <a:lnSpc>
                <a:spcPts val="1900"/>
              </a:lnSpc>
              <a:buNone/>
            </a:pPr>
            <a:r>
              <a:rPr lang="en-US" sz="1500" b="1" dirty="0">
                <a:solidFill>
                  <a:srgbClr val="405449"/>
                </a:solidFill>
                <a:latin typeface="Fraunces Extra Bold" pitchFamily="34" charset="0"/>
                <a:ea typeface="Fraunces Extra Bold" pitchFamily="34" charset="-122"/>
                <a:cs typeface="Fraunces Extra Bold" pitchFamily="34" charset="-120"/>
              </a:rPr>
              <a:t>Parsing &amp; Structuring</a:t>
            </a:r>
            <a:endParaRPr lang="en-US" sz="1500" dirty="0"/>
          </a:p>
        </p:txBody>
      </p:sp>
      <p:sp>
        <p:nvSpPr>
          <p:cNvPr id="10" name="Text 5"/>
          <p:cNvSpPr/>
          <p:nvPr/>
        </p:nvSpPr>
        <p:spPr>
          <a:xfrm>
            <a:off x="8380690" y="4284940"/>
            <a:ext cx="5470088" cy="755809"/>
          </a:xfrm>
          <a:prstGeom prst="rect">
            <a:avLst/>
          </a:prstGeom>
          <a:noFill/>
          <a:ln/>
        </p:spPr>
        <p:txBody>
          <a:bodyPr wrap="square" lIns="0" tIns="0" rIns="0" bIns="0" rtlCol="0" anchor="t"/>
          <a:lstStyle/>
          <a:p>
            <a:pPr algn="l" indent="0" marL="0">
              <a:lnSpc>
                <a:spcPts val="1950"/>
              </a:lnSpc>
              <a:buNone/>
            </a:pPr>
            <a:r>
              <a:rPr lang="en-US" sz="1200" dirty="0">
                <a:solidFill>
                  <a:srgbClr val="405449"/>
                </a:solidFill>
                <a:latin typeface="Nobile" pitchFamily="34" charset="0"/>
                <a:ea typeface="Nobile" pitchFamily="34" charset="-122"/>
                <a:cs typeface="Nobile" pitchFamily="34" charset="-120"/>
              </a:rPr>
              <a:t>Line breaking, timestamp recognition, and event boundary detection. Multi-line event handling and sourcetype-specific parsing rules are applied.</a:t>
            </a:r>
            <a:endParaRPr lang="en-US" sz="1200" dirty="0"/>
          </a:p>
        </p:txBody>
      </p:sp>
      <p:pic>
        <p:nvPicPr>
          <p:cNvPr id="11" name="Image 3" descr="preencoded.png">    </p:cNvPr>
          <p:cNvPicPr>
            <a:picLocks noChangeAspect="1"/>
          </p:cNvPicPr>
          <p:nvPr/>
        </p:nvPicPr>
        <p:blipFill>
          <a:blip r:embed="rId4"/>
          <a:stretch>
            <a:fillRect/>
          </a:stretch>
        </p:blipFill>
        <p:spPr>
          <a:xfrm>
            <a:off x="7987189" y="5355550"/>
            <a:ext cx="472321" cy="1143000"/>
          </a:xfrm>
          <a:prstGeom prst="rect">
            <a:avLst/>
          </a:prstGeom>
        </p:spPr>
      </p:pic>
      <p:sp>
        <p:nvSpPr>
          <p:cNvPr id="12" name="Text 6"/>
          <p:cNvSpPr/>
          <p:nvPr/>
        </p:nvSpPr>
        <p:spPr>
          <a:xfrm>
            <a:off x="8616910" y="5512951"/>
            <a:ext cx="1968341" cy="245983"/>
          </a:xfrm>
          <a:prstGeom prst="rect">
            <a:avLst/>
          </a:prstGeom>
          <a:noFill/>
          <a:ln/>
        </p:spPr>
        <p:txBody>
          <a:bodyPr wrap="none" lIns="0" tIns="0" rIns="0" bIns="0" rtlCol="0" anchor="t"/>
          <a:lstStyle/>
          <a:p>
            <a:pPr algn="l" indent="0" marL="0">
              <a:lnSpc>
                <a:spcPts val="1900"/>
              </a:lnSpc>
              <a:buNone/>
            </a:pPr>
            <a:r>
              <a:rPr lang="en-US" sz="1500" b="1" dirty="0">
                <a:solidFill>
                  <a:srgbClr val="405449"/>
                </a:solidFill>
                <a:latin typeface="Fraunces Extra Bold" pitchFamily="34" charset="0"/>
                <a:ea typeface="Fraunces Extra Bold" pitchFamily="34" charset="-122"/>
                <a:cs typeface="Fraunces Extra Bold" pitchFamily="34" charset="-120"/>
              </a:rPr>
              <a:t>Indexing &amp; Storage</a:t>
            </a:r>
            <a:endParaRPr lang="en-US" sz="1500" dirty="0"/>
          </a:p>
        </p:txBody>
      </p:sp>
      <p:sp>
        <p:nvSpPr>
          <p:cNvPr id="13" name="Text 7"/>
          <p:cNvSpPr/>
          <p:nvPr/>
        </p:nvSpPr>
        <p:spPr>
          <a:xfrm>
            <a:off x="8616910" y="5916335"/>
            <a:ext cx="5233868" cy="755809"/>
          </a:xfrm>
          <a:prstGeom prst="rect">
            <a:avLst/>
          </a:prstGeom>
          <a:noFill/>
          <a:ln/>
        </p:spPr>
        <p:txBody>
          <a:bodyPr wrap="square" lIns="0" tIns="0" rIns="0" bIns="0" rtlCol="0" anchor="t"/>
          <a:lstStyle/>
          <a:p>
            <a:pPr algn="l" indent="0" marL="0">
              <a:lnSpc>
                <a:spcPts val="1950"/>
              </a:lnSpc>
              <a:buNone/>
            </a:pPr>
            <a:r>
              <a:rPr lang="en-US" sz="1200" dirty="0">
                <a:solidFill>
                  <a:srgbClr val="405449"/>
                </a:solidFill>
                <a:latin typeface="Nobile" pitchFamily="34" charset="0"/>
                <a:ea typeface="Nobile" pitchFamily="34" charset="-122"/>
                <a:cs typeface="Nobile" pitchFamily="34" charset="-120"/>
              </a:rPr>
              <a:t>Final event creation with metadata assignment, field extraction, and storage in appropriate index buckets with compression and optimization.</a:t>
            </a:r>
            <a:endParaRPr lang="en-US" sz="1200" dirty="0"/>
          </a:p>
        </p:txBody>
      </p:sp>
      <p:sp>
        <p:nvSpPr>
          <p:cNvPr id="14" name="Text 8"/>
          <p:cNvSpPr/>
          <p:nvPr/>
        </p:nvSpPr>
        <p:spPr>
          <a:xfrm>
            <a:off x="787241" y="7183636"/>
            <a:ext cx="13055918" cy="503873"/>
          </a:xfrm>
          <a:prstGeom prst="rect">
            <a:avLst/>
          </a:prstGeom>
          <a:noFill/>
          <a:ln/>
        </p:spPr>
        <p:txBody>
          <a:bodyPr wrap="square" lIns="0" tIns="0" rIns="0" bIns="0" rtlCol="0" anchor="t"/>
          <a:lstStyle/>
          <a:p>
            <a:pPr algn="l" indent="0" marL="0">
              <a:lnSpc>
                <a:spcPts val="1950"/>
              </a:lnSpc>
              <a:buNone/>
            </a:pPr>
            <a:r>
              <a:rPr lang="en-US" sz="1200" dirty="0">
                <a:solidFill>
                  <a:srgbClr val="405449"/>
                </a:solidFill>
                <a:latin typeface="Nobile" pitchFamily="34" charset="0"/>
                <a:ea typeface="Nobile" pitchFamily="34" charset="-122"/>
                <a:cs typeface="Nobile" pitchFamily="34" charset="-120"/>
              </a:rPr>
              <a:t>Critical parsing configurations include timestamp extraction patterns, line breaking rules, and field extraction definitions. Proper configuration ensures optimal search performance and accurate event boundaries.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050012"/>
            <a:ext cx="7757636" cy="620078"/>
          </a:xfrm>
          <a:prstGeom prst="rect">
            <a:avLst/>
          </a:prstGeom>
          <a:noFill/>
          <a:ln/>
        </p:spPr>
        <p:txBody>
          <a:bodyPr wrap="none" lIns="0" tIns="0" rIns="0" bIns="0" rtlCol="0" anchor="t"/>
          <a:lstStyle/>
          <a:p>
            <a:pPr algn="l" indent="0" marL="0">
              <a:lnSpc>
                <a:spcPts val="4850"/>
              </a:lnSpc>
              <a:buNone/>
            </a:pPr>
            <a:r>
              <a:rPr lang="en-US" sz="3900" b="1" dirty="0">
                <a:solidFill>
                  <a:srgbClr val="3B4540"/>
                </a:solidFill>
                <a:latin typeface="Fraunces Extra Bold" pitchFamily="34" charset="0"/>
                <a:ea typeface="Fraunces Extra Bold" pitchFamily="34" charset="-122"/>
                <a:cs typeface="Fraunces Extra Bold" pitchFamily="34" charset="-120"/>
              </a:rPr>
              <a:t>Understanding Splunk Indexes</a:t>
            </a:r>
            <a:endParaRPr lang="en-US" sz="3900" dirty="0"/>
          </a:p>
        </p:txBody>
      </p:sp>
      <p:sp>
        <p:nvSpPr>
          <p:cNvPr id="3" name="Text 1"/>
          <p:cNvSpPr/>
          <p:nvPr/>
        </p:nvSpPr>
        <p:spPr>
          <a:xfrm>
            <a:off x="793790" y="2066925"/>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Indexes are logical containers that organize and store processed events in Splunk. They provide the foundation for data organization, retention management, and search optimization across the platform.</a:t>
            </a:r>
            <a:endParaRPr lang="en-US" sz="1550" dirty="0"/>
          </a:p>
        </p:txBody>
      </p:sp>
      <p:pic>
        <p:nvPicPr>
          <p:cNvPr id="4" name="Image 0" descr="preencoded.png">    </p:cNvPr>
          <p:cNvPicPr>
            <a:picLocks noChangeAspect="1"/>
          </p:cNvPicPr>
          <p:nvPr/>
        </p:nvPicPr>
        <p:blipFill>
          <a:blip r:embed="rId1"/>
          <a:stretch>
            <a:fillRect/>
          </a:stretch>
        </p:blipFill>
        <p:spPr>
          <a:xfrm>
            <a:off x="793790" y="2925247"/>
            <a:ext cx="496133" cy="496133"/>
          </a:xfrm>
          <a:prstGeom prst="rect">
            <a:avLst/>
          </a:prstGeom>
        </p:spPr>
      </p:pic>
      <p:sp>
        <p:nvSpPr>
          <p:cNvPr id="5" name="Text 2"/>
          <p:cNvSpPr/>
          <p:nvPr/>
        </p:nvSpPr>
        <p:spPr>
          <a:xfrm>
            <a:off x="1537930" y="3042999"/>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Event Indexes</a:t>
            </a:r>
            <a:endParaRPr lang="en-US" sz="1950" dirty="0"/>
          </a:p>
        </p:txBody>
      </p:sp>
      <p:sp>
        <p:nvSpPr>
          <p:cNvPr id="6" name="Text 3"/>
          <p:cNvSpPr/>
          <p:nvPr/>
        </p:nvSpPr>
        <p:spPr>
          <a:xfrm>
            <a:off x="1537930" y="3472220"/>
            <a:ext cx="5653207" cy="95261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Primary storage for log data and events. Most common index type containing timestamped, searchable events from applications, systems, and network devices.</a:t>
            </a:r>
            <a:endParaRPr lang="en-US" sz="1550" dirty="0"/>
          </a:p>
        </p:txBody>
      </p:sp>
      <p:pic>
        <p:nvPicPr>
          <p:cNvPr id="7" name="Image 1" descr="preencoded.png">    </p:cNvPr>
          <p:cNvPicPr>
            <a:picLocks noChangeAspect="1"/>
          </p:cNvPicPr>
          <p:nvPr/>
        </p:nvPicPr>
        <p:blipFill>
          <a:blip r:embed="rId2"/>
          <a:stretch>
            <a:fillRect/>
          </a:stretch>
        </p:blipFill>
        <p:spPr>
          <a:xfrm>
            <a:off x="7439144" y="2925247"/>
            <a:ext cx="496133" cy="496133"/>
          </a:xfrm>
          <a:prstGeom prst="rect">
            <a:avLst/>
          </a:prstGeom>
        </p:spPr>
      </p:pic>
      <p:sp>
        <p:nvSpPr>
          <p:cNvPr id="8" name="Text 4"/>
          <p:cNvSpPr/>
          <p:nvPr/>
        </p:nvSpPr>
        <p:spPr>
          <a:xfrm>
            <a:off x="8183285" y="3042999"/>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Metric Indexes</a:t>
            </a:r>
            <a:endParaRPr lang="en-US" sz="1950" dirty="0"/>
          </a:p>
        </p:txBody>
      </p:sp>
      <p:sp>
        <p:nvSpPr>
          <p:cNvPr id="9" name="Text 5"/>
          <p:cNvSpPr/>
          <p:nvPr/>
        </p:nvSpPr>
        <p:spPr>
          <a:xfrm>
            <a:off x="8183285" y="3472220"/>
            <a:ext cx="5653326" cy="95261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Specialized storage for time-series numerical data. Optimized for high-volume metrics with efficient compression and fast aggregation capabilities.</a:t>
            </a:r>
            <a:endParaRPr lang="en-US" sz="1550" dirty="0"/>
          </a:p>
        </p:txBody>
      </p:sp>
      <p:pic>
        <p:nvPicPr>
          <p:cNvPr id="10" name="Image 2" descr="preencoded.png">    </p:cNvPr>
          <p:cNvPicPr>
            <a:picLocks noChangeAspect="1"/>
          </p:cNvPicPr>
          <p:nvPr/>
        </p:nvPicPr>
        <p:blipFill>
          <a:blip r:embed="rId3"/>
          <a:stretch>
            <a:fillRect/>
          </a:stretch>
        </p:blipFill>
        <p:spPr>
          <a:xfrm>
            <a:off x="793790" y="4821674"/>
            <a:ext cx="496133" cy="496133"/>
          </a:xfrm>
          <a:prstGeom prst="rect">
            <a:avLst/>
          </a:prstGeom>
        </p:spPr>
      </p:pic>
      <p:sp>
        <p:nvSpPr>
          <p:cNvPr id="11" name="Text 6"/>
          <p:cNvSpPr/>
          <p:nvPr/>
        </p:nvSpPr>
        <p:spPr>
          <a:xfrm>
            <a:off x="1537930" y="4939427"/>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Summary Indexes</a:t>
            </a:r>
            <a:endParaRPr lang="en-US" sz="1950" dirty="0"/>
          </a:p>
        </p:txBody>
      </p:sp>
      <p:sp>
        <p:nvSpPr>
          <p:cNvPr id="12" name="Text 7"/>
          <p:cNvSpPr/>
          <p:nvPr/>
        </p:nvSpPr>
        <p:spPr>
          <a:xfrm>
            <a:off x="1537930" y="5368647"/>
            <a:ext cx="5653207" cy="95261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Contains pre-computed search results and aggregated data. Used for accelerating complex searches and generating historical trend reports.</a:t>
            </a:r>
            <a:endParaRPr lang="en-US" sz="1550" dirty="0"/>
          </a:p>
        </p:txBody>
      </p:sp>
      <p:pic>
        <p:nvPicPr>
          <p:cNvPr id="13" name="Image 3" descr="preencoded.png">    </p:cNvPr>
          <p:cNvPicPr>
            <a:picLocks noChangeAspect="1"/>
          </p:cNvPicPr>
          <p:nvPr/>
        </p:nvPicPr>
        <p:blipFill>
          <a:blip r:embed="rId4"/>
          <a:stretch>
            <a:fillRect/>
          </a:stretch>
        </p:blipFill>
        <p:spPr>
          <a:xfrm>
            <a:off x="7439144" y="4821674"/>
            <a:ext cx="496133" cy="496133"/>
          </a:xfrm>
          <a:prstGeom prst="rect">
            <a:avLst/>
          </a:prstGeom>
        </p:spPr>
      </p:pic>
      <p:sp>
        <p:nvSpPr>
          <p:cNvPr id="14" name="Text 8"/>
          <p:cNvSpPr/>
          <p:nvPr/>
        </p:nvSpPr>
        <p:spPr>
          <a:xfrm>
            <a:off x="8183285" y="4939427"/>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Internal Indexes</a:t>
            </a:r>
            <a:endParaRPr lang="en-US" sz="1950" dirty="0"/>
          </a:p>
        </p:txBody>
      </p:sp>
      <p:sp>
        <p:nvSpPr>
          <p:cNvPr id="15" name="Text 9"/>
          <p:cNvSpPr/>
          <p:nvPr/>
        </p:nvSpPr>
        <p:spPr>
          <a:xfrm>
            <a:off x="8183285" y="5368647"/>
            <a:ext cx="5653326" cy="95261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Splunk's operational data including audit logs, performance metrics, and system health information for platform monitoring and troubleshooting.</a:t>
            </a:r>
            <a:endParaRPr lang="en-US" sz="1550" dirty="0"/>
          </a:p>
        </p:txBody>
      </p:sp>
      <p:sp>
        <p:nvSpPr>
          <p:cNvPr id="16" name="Text 10"/>
          <p:cNvSpPr/>
          <p:nvPr/>
        </p:nvSpPr>
        <p:spPr>
          <a:xfrm>
            <a:off x="793790" y="6544508"/>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Index lifecycle management automatically moves data through hot (actively written), warm (searchable), cold (archived), and frozen (compressed/deleted) buckets based on age and storage policies.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976074"/>
            <a:ext cx="11206758" cy="620078"/>
          </a:xfrm>
          <a:prstGeom prst="rect">
            <a:avLst/>
          </a:prstGeom>
          <a:noFill/>
          <a:ln/>
        </p:spPr>
        <p:txBody>
          <a:bodyPr wrap="none" lIns="0" tIns="0" rIns="0" bIns="0" rtlCol="0" anchor="t"/>
          <a:lstStyle/>
          <a:p>
            <a:pPr algn="l" indent="0" marL="0">
              <a:lnSpc>
                <a:spcPts val="4850"/>
              </a:lnSpc>
              <a:buNone/>
            </a:pPr>
            <a:r>
              <a:rPr lang="en-US" sz="3900" b="1" dirty="0">
                <a:solidFill>
                  <a:srgbClr val="3B4540"/>
                </a:solidFill>
                <a:latin typeface="Fraunces Extra Bold" pitchFamily="34" charset="0"/>
                <a:ea typeface="Fraunces Extra Bold" pitchFamily="34" charset="-122"/>
                <a:cs typeface="Fraunces Extra Bold" pitchFamily="34" charset="-120"/>
              </a:rPr>
              <a:t>Sourcetypes: Data Classification Framework</a:t>
            </a:r>
            <a:endParaRPr lang="en-US" sz="3900" dirty="0"/>
          </a:p>
        </p:txBody>
      </p:sp>
      <p:sp>
        <p:nvSpPr>
          <p:cNvPr id="3" name="Text 1"/>
          <p:cNvSpPr/>
          <p:nvPr/>
        </p:nvSpPr>
        <p:spPr>
          <a:xfrm>
            <a:off x="793790" y="2072402"/>
            <a:ext cx="7632025" cy="127015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Sourcetypes define how Splunk interprets and processes incoming data, serving as templates for parsing rules, field extractions, and search-time operations. They are among the most critical configuration elements in Splunk deployments.</a:t>
            </a:r>
            <a:endParaRPr lang="en-US" sz="1550" dirty="0"/>
          </a:p>
        </p:txBody>
      </p:sp>
      <p:sp>
        <p:nvSpPr>
          <p:cNvPr id="4" name="Text 2"/>
          <p:cNvSpPr/>
          <p:nvPr/>
        </p:nvSpPr>
        <p:spPr>
          <a:xfrm>
            <a:off x="793790" y="3521154"/>
            <a:ext cx="7632025" cy="95261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Each sourcetype specifies timestamp patterns, line breaking rules, field extraction methods, and data transformation logic. Proper sourcetype configuration ensures accurate parsing and optimal search performance.</a:t>
            </a:r>
            <a:endParaRPr lang="en-US" sz="1550" dirty="0"/>
          </a:p>
        </p:txBody>
      </p:sp>
      <p:sp>
        <p:nvSpPr>
          <p:cNvPr id="5" name="Text 3"/>
          <p:cNvSpPr/>
          <p:nvPr/>
        </p:nvSpPr>
        <p:spPr>
          <a:xfrm>
            <a:off x="793790" y="4672132"/>
            <a:ext cx="4670227" cy="372070"/>
          </a:xfrm>
          <a:prstGeom prst="rect">
            <a:avLst/>
          </a:prstGeom>
          <a:noFill/>
          <a:ln/>
        </p:spPr>
        <p:txBody>
          <a:bodyPr wrap="none" lIns="0" tIns="0" rIns="0" bIns="0" rtlCol="0" anchor="t"/>
          <a:lstStyle/>
          <a:p>
            <a:pPr algn="l" indent="0" marL="0">
              <a:lnSpc>
                <a:spcPts val="2900"/>
              </a:lnSpc>
              <a:buNone/>
            </a:pPr>
            <a:r>
              <a:rPr lang="en-US" sz="2300" b="1" dirty="0">
                <a:solidFill>
                  <a:srgbClr val="3B4540"/>
                </a:solidFill>
                <a:latin typeface="Fraunces Extra Bold" pitchFamily="34" charset="0"/>
                <a:ea typeface="Fraunces Extra Bold" pitchFamily="34" charset="-122"/>
                <a:cs typeface="Fraunces Extra Bold" pitchFamily="34" charset="-120"/>
              </a:rPr>
              <a:t>Common Sourcetype Examples</a:t>
            </a:r>
            <a:endParaRPr lang="en-US" sz="2300" dirty="0"/>
          </a:p>
        </p:txBody>
      </p:sp>
      <p:sp>
        <p:nvSpPr>
          <p:cNvPr id="6" name="Text 4"/>
          <p:cNvSpPr/>
          <p:nvPr/>
        </p:nvSpPr>
        <p:spPr>
          <a:xfrm>
            <a:off x="793790" y="5242560"/>
            <a:ext cx="7632025" cy="33278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05449"/>
                </a:solidFill>
                <a:highlight>
                  <a:srgbClr val="EDF2ED"/>
                </a:highlight>
                <a:latin typeface="Consolas" pitchFamily="34" charset="0"/>
                <a:ea typeface="Consolas" pitchFamily="34" charset="-122"/>
                <a:cs typeface="Consolas" pitchFamily="34" charset="-120"/>
              </a:rPr>
              <a:t>syslog</a:t>
            </a:r>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 - Standard Unix/Linux system logs</a:t>
            </a:r>
            <a:endParaRPr lang="en-US" sz="1550" dirty="0"/>
          </a:p>
        </p:txBody>
      </p:sp>
      <p:sp>
        <p:nvSpPr>
          <p:cNvPr id="7" name="Text 5"/>
          <p:cNvSpPr/>
          <p:nvPr/>
        </p:nvSpPr>
        <p:spPr>
          <a:xfrm>
            <a:off x="793790" y="5644753"/>
            <a:ext cx="7632025" cy="33278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05449"/>
                </a:solidFill>
                <a:highlight>
                  <a:srgbClr val="EDF2ED"/>
                </a:highlight>
                <a:latin typeface="Consolas" pitchFamily="34" charset="0"/>
                <a:ea typeface="Consolas" pitchFamily="34" charset="-122"/>
                <a:cs typeface="Consolas" pitchFamily="34" charset="-120"/>
              </a:rPr>
              <a:t>access_combined</a:t>
            </a:r>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 - Apache web server access logs</a:t>
            </a:r>
            <a:endParaRPr lang="en-US" sz="1550" dirty="0"/>
          </a:p>
        </p:txBody>
      </p:sp>
      <p:sp>
        <p:nvSpPr>
          <p:cNvPr id="8" name="Text 6"/>
          <p:cNvSpPr/>
          <p:nvPr/>
        </p:nvSpPr>
        <p:spPr>
          <a:xfrm>
            <a:off x="793790" y="6046946"/>
            <a:ext cx="7632025" cy="33278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05449"/>
                </a:solidFill>
                <a:highlight>
                  <a:srgbClr val="EDF2ED"/>
                </a:highlight>
                <a:latin typeface="Consolas" pitchFamily="34" charset="0"/>
                <a:ea typeface="Consolas" pitchFamily="34" charset="-122"/>
                <a:cs typeface="Consolas" pitchFamily="34" charset="-120"/>
              </a:rPr>
              <a:t>csv</a:t>
            </a:r>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 - Comma-separated value data files</a:t>
            </a:r>
            <a:endParaRPr lang="en-US" sz="1550" dirty="0"/>
          </a:p>
        </p:txBody>
      </p:sp>
      <p:sp>
        <p:nvSpPr>
          <p:cNvPr id="9" name="Text 7"/>
          <p:cNvSpPr/>
          <p:nvPr/>
        </p:nvSpPr>
        <p:spPr>
          <a:xfrm>
            <a:off x="793790" y="6449139"/>
            <a:ext cx="7632025" cy="33278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05449"/>
                </a:solidFill>
                <a:highlight>
                  <a:srgbClr val="EDF2ED"/>
                </a:highlight>
                <a:latin typeface="Consolas" pitchFamily="34" charset="0"/>
                <a:ea typeface="Consolas" pitchFamily="34" charset="-122"/>
                <a:cs typeface="Consolas" pitchFamily="34" charset="-120"/>
              </a:rPr>
              <a:t>json</a:t>
            </a:r>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 - JavaScript Object Notation format</a:t>
            </a:r>
            <a:endParaRPr lang="en-US" sz="1550" dirty="0"/>
          </a:p>
        </p:txBody>
      </p:sp>
      <p:sp>
        <p:nvSpPr>
          <p:cNvPr id="10" name="Text 8"/>
          <p:cNvSpPr/>
          <p:nvPr/>
        </p:nvSpPr>
        <p:spPr>
          <a:xfrm>
            <a:off x="793790" y="6851333"/>
            <a:ext cx="7632025" cy="33278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05449"/>
                </a:solidFill>
                <a:highlight>
                  <a:srgbClr val="EDF2ED"/>
                </a:highlight>
                <a:latin typeface="Consolas" pitchFamily="34" charset="0"/>
                <a:ea typeface="Consolas" pitchFamily="34" charset="-122"/>
                <a:cs typeface="Consolas" pitchFamily="34" charset="-120"/>
              </a:rPr>
              <a:t>windows:security</a:t>
            </a:r>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 - Windows security event logs</a:t>
            </a:r>
            <a:endParaRPr lang="en-US" sz="1550" dirty="0"/>
          </a:p>
        </p:txBody>
      </p:sp>
      <p:pic>
        <p:nvPicPr>
          <p:cNvPr id="11" name="Image 0" descr="preencoded.png">    </p:cNvPr>
          <p:cNvPicPr>
            <a:picLocks noChangeAspect="1"/>
          </p:cNvPicPr>
          <p:nvPr/>
        </p:nvPicPr>
        <p:blipFill>
          <a:blip r:embed="rId1"/>
          <a:stretch>
            <a:fillRect/>
          </a:stretch>
        </p:blipFill>
        <p:spPr>
          <a:xfrm>
            <a:off x="8917543" y="2117050"/>
            <a:ext cx="4926568" cy="3283506"/>
          </a:xfrm>
          <a:prstGeom prst="rect">
            <a:avLst/>
          </a:prstGeom>
        </p:spPr>
      </p:pic>
      <p:sp>
        <p:nvSpPr>
          <p:cNvPr id="12" name="Text 9"/>
          <p:cNvSpPr/>
          <p:nvPr/>
        </p:nvSpPr>
        <p:spPr>
          <a:xfrm>
            <a:off x="8917543" y="5623798"/>
            <a:ext cx="4926568" cy="95261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Custom sourcetypes can be created for proprietary log formats or specialized data sources, providing flexibility for unique parsing requirements.</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640913"/>
            <a:ext cx="5641300" cy="527090"/>
          </a:xfrm>
          <a:prstGeom prst="rect">
            <a:avLst/>
          </a:prstGeom>
          <a:noFill/>
          <a:ln/>
        </p:spPr>
        <p:txBody>
          <a:bodyPr wrap="none" lIns="0" tIns="0" rIns="0" bIns="0" rtlCol="0" anchor="t"/>
          <a:lstStyle/>
          <a:p>
            <a:pPr algn="l" indent="0" marL="0">
              <a:lnSpc>
                <a:spcPts val="4150"/>
              </a:lnSpc>
              <a:buNone/>
            </a:pPr>
            <a:r>
              <a:rPr lang="en-US" sz="3300" b="1" dirty="0">
                <a:solidFill>
                  <a:srgbClr val="3B4540"/>
                </a:solidFill>
                <a:latin typeface="Fraunces Extra Bold" pitchFamily="34" charset="0"/>
                <a:ea typeface="Fraunces Extra Bold" pitchFamily="34" charset="-122"/>
                <a:cs typeface="Fraunces Extra Bold" pitchFamily="34" charset="-120"/>
              </a:rPr>
              <a:t>Anatomy of Splunk Events</a:t>
            </a:r>
            <a:endParaRPr lang="en-US" sz="3300" dirty="0"/>
          </a:p>
        </p:txBody>
      </p:sp>
      <p:sp>
        <p:nvSpPr>
          <p:cNvPr id="4" name="Text 1"/>
          <p:cNvSpPr/>
          <p:nvPr/>
        </p:nvSpPr>
        <p:spPr>
          <a:xfrm>
            <a:off x="793790" y="1421011"/>
            <a:ext cx="7556421" cy="809744"/>
          </a:xfrm>
          <a:prstGeom prst="rect">
            <a:avLst/>
          </a:prstGeom>
          <a:noFill/>
          <a:ln/>
        </p:spPr>
        <p:txBody>
          <a:bodyPr wrap="square" lIns="0" tIns="0" rIns="0" bIns="0" rtlCol="0" anchor="t"/>
          <a:lstStyle/>
          <a:p>
            <a:pPr algn="l" indent="0" marL="0">
              <a:lnSpc>
                <a:spcPts val="2100"/>
              </a:lnSpc>
              <a:buNone/>
            </a:pPr>
            <a:r>
              <a:rPr lang="en-US" sz="1300" dirty="0">
                <a:solidFill>
                  <a:srgbClr val="405449"/>
                </a:solidFill>
                <a:latin typeface="Nobile" pitchFamily="34" charset="0"/>
                <a:ea typeface="Nobile" pitchFamily="34" charset="-122"/>
                <a:cs typeface="Nobile" pitchFamily="34" charset="-120"/>
              </a:rPr>
              <a:t>Events represent the fundamental unit of data in Splunk - individual, timestamped records that can be searched, analyzed, and visualized. Understanding event structure is essential for effective search creation and data analysis.</a:t>
            </a:r>
            <a:endParaRPr lang="en-US" sz="1300" dirty="0"/>
          </a:p>
        </p:txBody>
      </p:sp>
      <p:sp>
        <p:nvSpPr>
          <p:cNvPr id="5" name="Shape 2"/>
          <p:cNvSpPr/>
          <p:nvPr/>
        </p:nvSpPr>
        <p:spPr>
          <a:xfrm>
            <a:off x="793790" y="2420541"/>
            <a:ext cx="7556421" cy="2332911"/>
          </a:xfrm>
          <a:prstGeom prst="roundRect">
            <a:avLst>
              <a:gd name="adj" fmla="val 4703"/>
            </a:avLst>
          </a:prstGeom>
          <a:solidFill>
            <a:srgbClr val="FAFFFA"/>
          </a:solidFill>
          <a:ln w="22860">
            <a:solidFill>
              <a:srgbClr val="CED9CE"/>
            </a:solidFill>
            <a:prstDash val="solid"/>
          </a:ln>
        </p:spPr>
      </p:sp>
      <p:sp>
        <p:nvSpPr>
          <p:cNvPr id="6" name="Shape 3"/>
          <p:cNvSpPr/>
          <p:nvPr/>
        </p:nvSpPr>
        <p:spPr>
          <a:xfrm>
            <a:off x="770930" y="2420541"/>
            <a:ext cx="91440" cy="2332911"/>
          </a:xfrm>
          <a:prstGeom prst="roundRect">
            <a:avLst>
              <a:gd name="adj" fmla="val 166047"/>
            </a:avLst>
          </a:prstGeom>
          <a:solidFill>
            <a:srgbClr val="438951"/>
          </a:solidFill>
          <a:ln/>
        </p:spPr>
      </p:sp>
      <p:sp>
        <p:nvSpPr>
          <p:cNvPr id="7" name="Text 4"/>
          <p:cNvSpPr/>
          <p:nvPr/>
        </p:nvSpPr>
        <p:spPr>
          <a:xfrm>
            <a:off x="1053822" y="2611993"/>
            <a:ext cx="2215515" cy="263485"/>
          </a:xfrm>
          <a:prstGeom prst="rect">
            <a:avLst/>
          </a:prstGeom>
          <a:noFill/>
          <a:ln/>
        </p:spPr>
        <p:txBody>
          <a:bodyPr wrap="none" lIns="0" tIns="0" rIns="0" bIns="0" rtlCol="0" anchor="t"/>
          <a:lstStyle/>
          <a:p>
            <a:pPr algn="l" indent="0" marL="0">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Core Event Metadata</a:t>
            </a:r>
            <a:endParaRPr lang="en-US" sz="1650" dirty="0"/>
          </a:p>
        </p:txBody>
      </p:sp>
      <p:sp>
        <p:nvSpPr>
          <p:cNvPr id="8" name="Text 5"/>
          <p:cNvSpPr/>
          <p:nvPr/>
        </p:nvSpPr>
        <p:spPr>
          <a:xfrm>
            <a:off x="1053822" y="2976682"/>
            <a:ext cx="7104936"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438951"/>
                </a:solidFill>
                <a:latin typeface="Nobile" pitchFamily="34" charset="0"/>
                <a:ea typeface="Nobile" pitchFamily="34" charset="-122"/>
                <a:cs typeface="Nobile" pitchFamily="34" charset="-120"/>
              </a:rPr>
              <a:t>Timestamp:</a:t>
            </a:r>
            <a:pPr algn="l" indent="0" marL="0">
              <a:lnSpc>
                <a:spcPts val="2100"/>
              </a:lnSpc>
              <a:buNone/>
            </a:pPr>
            <a:r>
              <a:rPr lang="en-US" sz="1300" dirty="0">
                <a:solidFill>
                  <a:srgbClr val="405449"/>
                </a:solidFill>
                <a:latin typeface="Nobile" pitchFamily="34" charset="0"/>
                <a:ea typeface="Nobile" pitchFamily="34" charset="-122"/>
                <a:cs typeface="Nobile" pitchFamily="34" charset="-120"/>
              </a:rPr>
              <a:t> When the event occurred</a:t>
            </a:r>
            <a:endParaRPr lang="en-US" sz="1300" dirty="0"/>
          </a:p>
        </p:txBody>
      </p:sp>
      <p:sp>
        <p:nvSpPr>
          <p:cNvPr id="9" name="Text 6"/>
          <p:cNvSpPr/>
          <p:nvPr/>
        </p:nvSpPr>
        <p:spPr>
          <a:xfrm>
            <a:off x="1053822" y="3305532"/>
            <a:ext cx="7104936"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438951"/>
                </a:solidFill>
                <a:latin typeface="Nobile" pitchFamily="34" charset="0"/>
                <a:ea typeface="Nobile" pitchFamily="34" charset="-122"/>
                <a:cs typeface="Nobile" pitchFamily="34" charset="-120"/>
              </a:rPr>
              <a:t>Host:</a:t>
            </a:r>
            <a:pPr algn="l" indent="0" marL="0">
              <a:lnSpc>
                <a:spcPts val="2100"/>
              </a:lnSpc>
              <a:buNone/>
            </a:pPr>
            <a:r>
              <a:rPr lang="en-US" sz="1300" dirty="0">
                <a:solidFill>
                  <a:srgbClr val="405449"/>
                </a:solidFill>
                <a:latin typeface="Nobile" pitchFamily="34" charset="0"/>
                <a:ea typeface="Nobile" pitchFamily="34" charset="-122"/>
                <a:cs typeface="Nobile" pitchFamily="34" charset="-120"/>
              </a:rPr>
              <a:t> Source machine or system</a:t>
            </a:r>
            <a:endParaRPr lang="en-US" sz="1300" dirty="0"/>
          </a:p>
        </p:txBody>
      </p:sp>
      <p:sp>
        <p:nvSpPr>
          <p:cNvPr id="10" name="Text 7"/>
          <p:cNvSpPr/>
          <p:nvPr/>
        </p:nvSpPr>
        <p:spPr>
          <a:xfrm>
            <a:off x="1053822" y="3634383"/>
            <a:ext cx="7104936"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438951"/>
                </a:solidFill>
                <a:latin typeface="Nobile" pitchFamily="34" charset="0"/>
                <a:ea typeface="Nobile" pitchFamily="34" charset="-122"/>
                <a:cs typeface="Nobile" pitchFamily="34" charset="-120"/>
              </a:rPr>
              <a:t>Source:</a:t>
            </a:r>
            <a:pPr algn="l" indent="0" marL="0">
              <a:lnSpc>
                <a:spcPts val="2100"/>
              </a:lnSpc>
              <a:buNone/>
            </a:pPr>
            <a:r>
              <a:rPr lang="en-US" sz="1300" dirty="0">
                <a:solidFill>
                  <a:srgbClr val="405449"/>
                </a:solidFill>
                <a:latin typeface="Nobile" pitchFamily="34" charset="0"/>
                <a:ea typeface="Nobile" pitchFamily="34" charset="-122"/>
                <a:cs typeface="Nobile" pitchFamily="34" charset="-120"/>
              </a:rPr>
              <a:t> Original data file or stream</a:t>
            </a:r>
            <a:endParaRPr lang="en-US" sz="1300" dirty="0"/>
          </a:p>
        </p:txBody>
      </p:sp>
      <p:sp>
        <p:nvSpPr>
          <p:cNvPr id="11" name="Text 8"/>
          <p:cNvSpPr/>
          <p:nvPr/>
        </p:nvSpPr>
        <p:spPr>
          <a:xfrm>
            <a:off x="1053822" y="3963233"/>
            <a:ext cx="7104936"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438951"/>
                </a:solidFill>
                <a:latin typeface="Nobile" pitchFamily="34" charset="0"/>
                <a:ea typeface="Nobile" pitchFamily="34" charset="-122"/>
                <a:cs typeface="Nobile" pitchFamily="34" charset="-120"/>
              </a:rPr>
              <a:t>Sourcetype:</a:t>
            </a:r>
            <a:pPr algn="l" indent="0" marL="0">
              <a:lnSpc>
                <a:spcPts val="2100"/>
              </a:lnSpc>
              <a:buNone/>
            </a:pPr>
            <a:r>
              <a:rPr lang="en-US" sz="1300" dirty="0">
                <a:solidFill>
                  <a:srgbClr val="405449"/>
                </a:solidFill>
                <a:latin typeface="Nobile" pitchFamily="34" charset="0"/>
                <a:ea typeface="Nobile" pitchFamily="34" charset="-122"/>
                <a:cs typeface="Nobile" pitchFamily="34" charset="-120"/>
              </a:rPr>
              <a:t> Data format classification</a:t>
            </a:r>
            <a:endParaRPr lang="en-US" sz="1300" dirty="0"/>
          </a:p>
        </p:txBody>
      </p:sp>
      <p:sp>
        <p:nvSpPr>
          <p:cNvPr id="12" name="Text 9"/>
          <p:cNvSpPr/>
          <p:nvPr/>
        </p:nvSpPr>
        <p:spPr>
          <a:xfrm>
            <a:off x="1053822" y="4292084"/>
            <a:ext cx="7104936"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438951"/>
                </a:solidFill>
                <a:latin typeface="Nobile" pitchFamily="34" charset="0"/>
                <a:ea typeface="Nobile" pitchFamily="34" charset="-122"/>
                <a:cs typeface="Nobile" pitchFamily="34" charset="-120"/>
              </a:rPr>
              <a:t>Index:</a:t>
            </a:r>
            <a:pPr algn="l" indent="0" marL="0">
              <a:lnSpc>
                <a:spcPts val="2100"/>
              </a:lnSpc>
              <a:buNone/>
            </a:pPr>
            <a:r>
              <a:rPr lang="en-US" sz="1300" dirty="0">
                <a:solidFill>
                  <a:srgbClr val="405449"/>
                </a:solidFill>
                <a:latin typeface="Nobile" pitchFamily="34" charset="0"/>
                <a:ea typeface="Nobile" pitchFamily="34" charset="-122"/>
                <a:cs typeface="Nobile" pitchFamily="34" charset="-120"/>
              </a:rPr>
              <a:t> Storage location</a:t>
            </a:r>
            <a:endParaRPr lang="en-US" sz="1300" dirty="0"/>
          </a:p>
        </p:txBody>
      </p:sp>
      <p:sp>
        <p:nvSpPr>
          <p:cNvPr id="13" name="Shape 10"/>
          <p:cNvSpPr/>
          <p:nvPr/>
        </p:nvSpPr>
        <p:spPr>
          <a:xfrm>
            <a:off x="793790" y="4922044"/>
            <a:ext cx="7556421" cy="1557338"/>
          </a:xfrm>
          <a:prstGeom prst="roundRect">
            <a:avLst>
              <a:gd name="adj" fmla="val 7046"/>
            </a:avLst>
          </a:prstGeom>
          <a:solidFill>
            <a:srgbClr val="FAFFFA"/>
          </a:solidFill>
          <a:ln w="22860">
            <a:solidFill>
              <a:srgbClr val="CED9CE"/>
            </a:solidFill>
            <a:prstDash val="solid"/>
          </a:ln>
        </p:spPr>
      </p:sp>
      <p:sp>
        <p:nvSpPr>
          <p:cNvPr id="14" name="Shape 11"/>
          <p:cNvSpPr/>
          <p:nvPr/>
        </p:nvSpPr>
        <p:spPr>
          <a:xfrm>
            <a:off x="770930" y="4922044"/>
            <a:ext cx="91440" cy="1557338"/>
          </a:xfrm>
          <a:prstGeom prst="roundRect">
            <a:avLst>
              <a:gd name="adj" fmla="val 166047"/>
            </a:avLst>
          </a:prstGeom>
          <a:solidFill>
            <a:srgbClr val="438951"/>
          </a:solidFill>
          <a:ln/>
        </p:spPr>
      </p:sp>
      <p:sp>
        <p:nvSpPr>
          <p:cNvPr id="15" name="Text 12"/>
          <p:cNvSpPr/>
          <p:nvPr/>
        </p:nvSpPr>
        <p:spPr>
          <a:xfrm>
            <a:off x="1053822" y="5113496"/>
            <a:ext cx="2108716" cy="263485"/>
          </a:xfrm>
          <a:prstGeom prst="rect">
            <a:avLst/>
          </a:prstGeom>
          <a:noFill/>
          <a:ln/>
        </p:spPr>
        <p:txBody>
          <a:bodyPr wrap="none" lIns="0" tIns="0" rIns="0" bIns="0" rtlCol="0" anchor="t"/>
          <a:lstStyle/>
          <a:p>
            <a:pPr algn="l" indent="0" marL="0">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Extracted Fields</a:t>
            </a:r>
            <a:endParaRPr lang="en-US" sz="1650" dirty="0"/>
          </a:p>
        </p:txBody>
      </p:sp>
      <p:sp>
        <p:nvSpPr>
          <p:cNvPr id="16" name="Text 13"/>
          <p:cNvSpPr/>
          <p:nvPr/>
        </p:nvSpPr>
        <p:spPr>
          <a:xfrm>
            <a:off x="1053822" y="5478185"/>
            <a:ext cx="7104936" cy="809744"/>
          </a:xfrm>
          <a:prstGeom prst="rect">
            <a:avLst/>
          </a:prstGeom>
          <a:noFill/>
          <a:ln/>
        </p:spPr>
        <p:txBody>
          <a:bodyPr wrap="square" lIns="0" tIns="0" rIns="0" bIns="0" rtlCol="0" anchor="t"/>
          <a:lstStyle/>
          <a:p>
            <a:pPr algn="l" indent="0" marL="0">
              <a:lnSpc>
                <a:spcPts val="2100"/>
              </a:lnSpc>
              <a:buNone/>
            </a:pPr>
            <a:r>
              <a:rPr lang="en-US" sz="1300" dirty="0">
                <a:solidFill>
                  <a:srgbClr val="405449"/>
                </a:solidFill>
                <a:latin typeface="Nobile" pitchFamily="34" charset="0"/>
                <a:ea typeface="Nobile" pitchFamily="34" charset="-122"/>
                <a:cs typeface="Nobile" pitchFamily="34" charset="-120"/>
              </a:rPr>
              <a:t>Splunk automatically extracts common fields and allows custom field extraction through regular expressions, delimited parsing, or key-value pair recognition for enhanced search capabilities.</a:t>
            </a:r>
            <a:endParaRPr lang="en-US" sz="1300" dirty="0"/>
          </a:p>
        </p:txBody>
      </p:sp>
      <p:sp>
        <p:nvSpPr>
          <p:cNvPr id="17" name="Text 14"/>
          <p:cNvSpPr/>
          <p:nvPr/>
        </p:nvSpPr>
        <p:spPr>
          <a:xfrm>
            <a:off x="1046798" y="6858953"/>
            <a:ext cx="7303413" cy="539829"/>
          </a:xfrm>
          <a:prstGeom prst="rect">
            <a:avLst/>
          </a:prstGeom>
          <a:noFill/>
          <a:ln/>
        </p:spPr>
        <p:txBody>
          <a:bodyPr wrap="square" lIns="0" tIns="0" rIns="0" bIns="0" rtlCol="0" anchor="t"/>
          <a:lstStyle/>
          <a:p>
            <a:pPr algn="l" indent="0" marL="0">
              <a:lnSpc>
                <a:spcPts val="2100"/>
              </a:lnSpc>
              <a:buNone/>
            </a:pPr>
            <a:r>
              <a:rPr lang="en-US" sz="1300" b="1" dirty="0">
                <a:solidFill>
                  <a:srgbClr val="405449"/>
                </a:solidFill>
                <a:latin typeface="Nobile" pitchFamily="34" charset="0"/>
                <a:ea typeface="Nobile" pitchFamily="34" charset="-122"/>
                <a:cs typeface="Nobile" pitchFamily="34" charset="-120"/>
              </a:rPr>
              <a:t>Example:</a:t>
            </a:r>
            <a:pPr algn="l" indent="0" marL="0">
              <a:lnSpc>
                <a:spcPts val="2100"/>
              </a:lnSpc>
              <a:buNone/>
            </a:pPr>
            <a:r>
              <a:rPr lang="en-US" sz="1300" dirty="0">
                <a:solidFill>
                  <a:srgbClr val="405449"/>
                </a:solidFill>
                <a:latin typeface="Nobile" pitchFamily="34" charset="0"/>
                <a:ea typeface="Nobile" pitchFamily="34" charset="-122"/>
                <a:cs typeface="Nobile" pitchFamily="34" charset="-120"/>
              </a:rPr>
              <a:t> A single line in an Apache access log becomes one event with extracted fields for IP address, HTTP method, response code, user agent, and request time.</a:t>
            </a:r>
            <a:endParaRPr lang="en-US" sz="1300" dirty="0"/>
          </a:p>
        </p:txBody>
      </p:sp>
      <p:sp>
        <p:nvSpPr>
          <p:cNvPr id="18" name="Shape 15"/>
          <p:cNvSpPr/>
          <p:nvPr/>
        </p:nvSpPr>
        <p:spPr>
          <a:xfrm>
            <a:off x="793790" y="6669167"/>
            <a:ext cx="22860" cy="919401"/>
          </a:xfrm>
          <a:prstGeom prst="rect">
            <a:avLst/>
          </a:prstGeom>
          <a:solidFill>
            <a:srgbClr val="438951"/>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88670" y="542687"/>
            <a:ext cx="6633448" cy="554593"/>
          </a:xfrm>
          <a:prstGeom prst="rect">
            <a:avLst/>
          </a:prstGeom>
          <a:noFill/>
          <a:ln/>
        </p:spPr>
        <p:txBody>
          <a:bodyPr wrap="none" lIns="0" tIns="0" rIns="0" bIns="0" rtlCol="0" anchor="t"/>
          <a:lstStyle/>
          <a:p>
            <a:pPr algn="l" indent="0" marL="0">
              <a:lnSpc>
                <a:spcPts val="4350"/>
              </a:lnSpc>
              <a:buNone/>
            </a:pPr>
            <a:r>
              <a:rPr lang="en-US" sz="3450" b="1" dirty="0">
                <a:solidFill>
                  <a:srgbClr val="3B4540"/>
                </a:solidFill>
                <a:latin typeface="Fraunces Extra Bold" pitchFamily="34" charset="0"/>
                <a:ea typeface="Fraunces Extra Bold" pitchFamily="34" charset="-122"/>
                <a:cs typeface="Fraunces Extra Bold" pitchFamily="34" charset="-120"/>
              </a:rPr>
              <a:t>Searching in Splunk with SPL</a:t>
            </a:r>
            <a:endParaRPr lang="en-US" sz="3450" dirty="0"/>
          </a:p>
        </p:txBody>
      </p:sp>
      <p:pic>
        <p:nvPicPr>
          <p:cNvPr id="3" name="Image 0" descr="preencoded.png">    </p:cNvPr>
          <p:cNvPicPr>
            <a:picLocks noChangeAspect="1"/>
          </p:cNvPicPr>
          <p:nvPr/>
        </p:nvPicPr>
        <p:blipFill>
          <a:blip r:embed="rId1"/>
          <a:stretch>
            <a:fillRect/>
          </a:stretch>
        </p:blipFill>
        <p:spPr>
          <a:xfrm>
            <a:off x="788670" y="1562933"/>
            <a:ext cx="4465201" cy="3167777"/>
          </a:xfrm>
          <a:prstGeom prst="rect">
            <a:avLst/>
          </a:prstGeom>
        </p:spPr>
      </p:pic>
      <p:sp>
        <p:nvSpPr>
          <p:cNvPr id="4" name="Text 1"/>
          <p:cNvSpPr/>
          <p:nvPr/>
        </p:nvSpPr>
        <p:spPr>
          <a:xfrm>
            <a:off x="6190655" y="1523047"/>
            <a:ext cx="7658576" cy="851892"/>
          </a:xfrm>
          <a:prstGeom prst="rect">
            <a:avLst/>
          </a:prstGeom>
          <a:noFill/>
          <a:ln/>
        </p:spPr>
        <p:txBody>
          <a:bodyPr wrap="square" lIns="0" tIns="0" rIns="0" bIns="0" rtlCol="0" anchor="t"/>
          <a:lstStyle/>
          <a:p>
            <a:pPr algn="l" indent="0" marL="0">
              <a:lnSpc>
                <a:spcPts val="2200"/>
              </a:lnSpc>
              <a:buNone/>
            </a:pPr>
            <a:r>
              <a:rPr lang="en-US" sz="1350" dirty="0">
                <a:solidFill>
                  <a:srgbClr val="405449"/>
                </a:solidFill>
                <a:latin typeface="Nobile" pitchFamily="34" charset="0"/>
                <a:ea typeface="Nobile" pitchFamily="34" charset="-122"/>
                <a:cs typeface="Nobile" pitchFamily="34" charset="-120"/>
              </a:rPr>
              <a:t>Search Processing Language (SPL) enables powerful data queries across distributed Splunk infrastructure. The search architecture coordinates query execution between search heads and indexers for optimal performance.</a:t>
            </a:r>
            <a:endParaRPr lang="en-US" sz="1350" dirty="0"/>
          </a:p>
        </p:txBody>
      </p:sp>
      <p:sp>
        <p:nvSpPr>
          <p:cNvPr id="5" name="Shape 2"/>
          <p:cNvSpPr/>
          <p:nvPr/>
        </p:nvSpPr>
        <p:spPr>
          <a:xfrm>
            <a:off x="10008513" y="2574488"/>
            <a:ext cx="22860" cy="4145280"/>
          </a:xfrm>
          <a:prstGeom prst="roundRect">
            <a:avLst>
              <a:gd name="adj" fmla="val 698728"/>
            </a:avLst>
          </a:prstGeom>
          <a:solidFill>
            <a:srgbClr val="CED9CE"/>
          </a:solidFill>
          <a:ln/>
        </p:spPr>
      </p:sp>
      <p:sp>
        <p:nvSpPr>
          <p:cNvPr id="6" name="Shape 3"/>
          <p:cNvSpPr/>
          <p:nvPr/>
        </p:nvSpPr>
        <p:spPr>
          <a:xfrm>
            <a:off x="9310866" y="2762607"/>
            <a:ext cx="532328" cy="22860"/>
          </a:xfrm>
          <a:prstGeom prst="roundRect">
            <a:avLst>
              <a:gd name="adj" fmla="val 698728"/>
            </a:avLst>
          </a:prstGeom>
          <a:solidFill>
            <a:srgbClr val="CED9CE"/>
          </a:solidFill>
          <a:ln/>
        </p:spPr>
      </p:sp>
      <p:sp>
        <p:nvSpPr>
          <p:cNvPr id="7" name="Shape 4"/>
          <p:cNvSpPr/>
          <p:nvPr/>
        </p:nvSpPr>
        <p:spPr>
          <a:xfrm>
            <a:off x="9820335" y="2574488"/>
            <a:ext cx="399217" cy="399217"/>
          </a:xfrm>
          <a:prstGeom prst="roundRect">
            <a:avLst>
              <a:gd name="adj" fmla="val 40011"/>
            </a:avLst>
          </a:prstGeom>
          <a:solidFill>
            <a:srgbClr val="E8F3E8"/>
          </a:solidFill>
          <a:ln/>
        </p:spPr>
      </p:sp>
      <p:sp>
        <p:nvSpPr>
          <p:cNvPr id="8" name="Text 5"/>
          <p:cNvSpPr/>
          <p:nvPr/>
        </p:nvSpPr>
        <p:spPr>
          <a:xfrm>
            <a:off x="9886831" y="2607707"/>
            <a:ext cx="266105" cy="332661"/>
          </a:xfrm>
          <a:prstGeom prst="rect">
            <a:avLst/>
          </a:prstGeom>
          <a:noFill/>
          <a:ln/>
        </p:spPr>
        <p:txBody>
          <a:bodyPr wrap="none" lIns="0" tIns="0" rIns="0" bIns="0" rtlCol="0" anchor="t"/>
          <a:lstStyle/>
          <a:p>
            <a:pPr algn="ctr" indent="0" marL="0">
              <a:lnSpc>
                <a:spcPts val="2050"/>
              </a:lnSpc>
              <a:buNone/>
            </a:pPr>
            <a:r>
              <a:rPr lang="en-US" sz="2050" b="1" dirty="0">
                <a:solidFill>
                  <a:srgbClr val="405449"/>
                </a:solidFill>
                <a:latin typeface="Fraunces Extra Bold" pitchFamily="34" charset="0"/>
                <a:ea typeface="Fraunces Extra Bold" pitchFamily="34" charset="-122"/>
                <a:cs typeface="Fraunces Extra Bold" pitchFamily="34" charset="-120"/>
              </a:rPr>
              <a:t>1</a:t>
            </a:r>
            <a:endParaRPr lang="en-US" sz="2050" dirty="0"/>
          </a:p>
        </p:txBody>
      </p:sp>
      <p:sp>
        <p:nvSpPr>
          <p:cNvPr id="9" name="Text 6"/>
          <p:cNvSpPr/>
          <p:nvPr/>
        </p:nvSpPr>
        <p:spPr>
          <a:xfrm>
            <a:off x="6914198" y="2635448"/>
            <a:ext cx="2218373" cy="277178"/>
          </a:xfrm>
          <a:prstGeom prst="rect">
            <a:avLst/>
          </a:prstGeom>
          <a:noFill/>
          <a:ln/>
        </p:spPr>
        <p:txBody>
          <a:bodyPr wrap="none" lIns="0" tIns="0" rIns="0" bIns="0" rtlCol="0" anchor="t"/>
          <a:lstStyle/>
          <a:p>
            <a:pPr algn="r" indent="0" marL="0">
              <a:lnSpc>
                <a:spcPts val="2150"/>
              </a:lnSpc>
              <a:buNone/>
            </a:pPr>
            <a:r>
              <a:rPr lang="en-US" sz="1700" b="1" dirty="0">
                <a:solidFill>
                  <a:srgbClr val="405449"/>
                </a:solidFill>
                <a:latin typeface="Fraunces Extra Bold" pitchFamily="34" charset="0"/>
                <a:ea typeface="Fraunces Extra Bold" pitchFamily="34" charset="-122"/>
                <a:cs typeface="Fraunces Extra Bold" pitchFamily="34" charset="-120"/>
              </a:rPr>
              <a:t>Query Distribution</a:t>
            </a:r>
            <a:endParaRPr lang="en-US" sz="1700" dirty="0"/>
          </a:p>
        </p:txBody>
      </p:sp>
      <p:sp>
        <p:nvSpPr>
          <p:cNvPr id="10" name="Text 7"/>
          <p:cNvSpPr/>
          <p:nvPr/>
        </p:nvSpPr>
        <p:spPr>
          <a:xfrm>
            <a:off x="6190655" y="3090029"/>
            <a:ext cx="2941915" cy="1135856"/>
          </a:xfrm>
          <a:prstGeom prst="rect">
            <a:avLst/>
          </a:prstGeom>
          <a:noFill/>
          <a:ln/>
        </p:spPr>
        <p:txBody>
          <a:bodyPr wrap="square" lIns="0" tIns="0" rIns="0" bIns="0" rtlCol="0" anchor="t"/>
          <a:lstStyle/>
          <a:p>
            <a:pPr algn="r" indent="0" marL="0">
              <a:lnSpc>
                <a:spcPts val="2200"/>
              </a:lnSpc>
              <a:buNone/>
            </a:pPr>
            <a:r>
              <a:rPr lang="en-US" sz="1350" dirty="0">
                <a:solidFill>
                  <a:srgbClr val="405449"/>
                </a:solidFill>
                <a:latin typeface="Nobile" pitchFamily="34" charset="0"/>
                <a:ea typeface="Nobile" pitchFamily="34" charset="-122"/>
                <a:cs typeface="Nobile" pitchFamily="34" charset="-120"/>
              </a:rPr>
              <a:t>Search head receives user query and distributes search jobs across relevant indexers based on time range and index specifications.</a:t>
            </a:r>
            <a:endParaRPr lang="en-US" sz="1350" dirty="0"/>
          </a:p>
        </p:txBody>
      </p:sp>
      <p:sp>
        <p:nvSpPr>
          <p:cNvPr id="11" name="Shape 8"/>
          <p:cNvSpPr/>
          <p:nvPr/>
        </p:nvSpPr>
        <p:spPr>
          <a:xfrm>
            <a:off x="10196691" y="3827383"/>
            <a:ext cx="532328" cy="22860"/>
          </a:xfrm>
          <a:prstGeom prst="roundRect">
            <a:avLst>
              <a:gd name="adj" fmla="val 698728"/>
            </a:avLst>
          </a:prstGeom>
          <a:solidFill>
            <a:srgbClr val="CED9CE"/>
          </a:solidFill>
          <a:ln/>
        </p:spPr>
      </p:sp>
      <p:sp>
        <p:nvSpPr>
          <p:cNvPr id="12" name="Shape 9"/>
          <p:cNvSpPr/>
          <p:nvPr/>
        </p:nvSpPr>
        <p:spPr>
          <a:xfrm>
            <a:off x="9820335" y="3639264"/>
            <a:ext cx="399217" cy="399217"/>
          </a:xfrm>
          <a:prstGeom prst="roundRect">
            <a:avLst>
              <a:gd name="adj" fmla="val 40011"/>
            </a:avLst>
          </a:prstGeom>
          <a:solidFill>
            <a:srgbClr val="E8F3E8"/>
          </a:solidFill>
          <a:ln/>
        </p:spPr>
      </p:sp>
      <p:sp>
        <p:nvSpPr>
          <p:cNvPr id="13" name="Text 10"/>
          <p:cNvSpPr/>
          <p:nvPr/>
        </p:nvSpPr>
        <p:spPr>
          <a:xfrm>
            <a:off x="9886831" y="3672483"/>
            <a:ext cx="266105" cy="332661"/>
          </a:xfrm>
          <a:prstGeom prst="rect">
            <a:avLst/>
          </a:prstGeom>
          <a:noFill/>
          <a:ln/>
        </p:spPr>
        <p:txBody>
          <a:bodyPr wrap="none" lIns="0" tIns="0" rIns="0" bIns="0" rtlCol="0" anchor="t"/>
          <a:lstStyle/>
          <a:p>
            <a:pPr algn="ctr" indent="0" marL="0">
              <a:lnSpc>
                <a:spcPts val="2050"/>
              </a:lnSpc>
              <a:buNone/>
            </a:pPr>
            <a:r>
              <a:rPr lang="en-US" sz="2050" b="1" dirty="0">
                <a:solidFill>
                  <a:srgbClr val="405449"/>
                </a:solidFill>
                <a:latin typeface="Fraunces Extra Bold" pitchFamily="34" charset="0"/>
                <a:ea typeface="Fraunces Extra Bold" pitchFamily="34" charset="-122"/>
                <a:cs typeface="Fraunces Extra Bold" pitchFamily="34" charset="-120"/>
              </a:rPr>
              <a:t>2</a:t>
            </a:r>
            <a:endParaRPr lang="en-US" sz="2050" dirty="0"/>
          </a:p>
        </p:txBody>
      </p:sp>
      <p:sp>
        <p:nvSpPr>
          <p:cNvPr id="14" name="Text 11"/>
          <p:cNvSpPr/>
          <p:nvPr/>
        </p:nvSpPr>
        <p:spPr>
          <a:xfrm>
            <a:off x="10907316" y="3700224"/>
            <a:ext cx="2218373" cy="277178"/>
          </a:xfrm>
          <a:prstGeom prst="rect">
            <a:avLst/>
          </a:prstGeom>
          <a:noFill/>
          <a:ln/>
        </p:spPr>
        <p:txBody>
          <a:bodyPr wrap="none" lIns="0" tIns="0" rIns="0" bIns="0" rtlCol="0" anchor="t"/>
          <a:lstStyle/>
          <a:p>
            <a:pPr algn="l" indent="0" marL="0">
              <a:lnSpc>
                <a:spcPts val="2150"/>
              </a:lnSpc>
              <a:buNone/>
            </a:pPr>
            <a:r>
              <a:rPr lang="en-US" sz="1700" b="1" dirty="0">
                <a:solidFill>
                  <a:srgbClr val="405449"/>
                </a:solidFill>
                <a:latin typeface="Fraunces Extra Bold" pitchFamily="34" charset="0"/>
                <a:ea typeface="Fraunces Extra Bold" pitchFamily="34" charset="-122"/>
                <a:cs typeface="Fraunces Extra Bold" pitchFamily="34" charset="-120"/>
              </a:rPr>
              <a:t>Parallel Processing</a:t>
            </a:r>
            <a:endParaRPr lang="en-US" sz="1700" dirty="0"/>
          </a:p>
        </p:txBody>
      </p:sp>
      <p:sp>
        <p:nvSpPr>
          <p:cNvPr id="15" name="Text 12"/>
          <p:cNvSpPr/>
          <p:nvPr/>
        </p:nvSpPr>
        <p:spPr>
          <a:xfrm>
            <a:off x="10907316" y="4154805"/>
            <a:ext cx="2941915" cy="1419820"/>
          </a:xfrm>
          <a:prstGeom prst="rect">
            <a:avLst/>
          </a:prstGeom>
          <a:noFill/>
          <a:ln/>
        </p:spPr>
        <p:txBody>
          <a:bodyPr wrap="square" lIns="0" tIns="0" rIns="0" bIns="0" rtlCol="0" anchor="t"/>
          <a:lstStyle/>
          <a:p>
            <a:pPr algn="l" indent="0" marL="0">
              <a:lnSpc>
                <a:spcPts val="2200"/>
              </a:lnSpc>
              <a:buNone/>
            </a:pPr>
            <a:r>
              <a:rPr lang="en-US" sz="1350" dirty="0">
                <a:solidFill>
                  <a:srgbClr val="405449"/>
                </a:solidFill>
                <a:latin typeface="Nobile" pitchFamily="34" charset="0"/>
                <a:ea typeface="Nobile" pitchFamily="34" charset="-122"/>
                <a:cs typeface="Nobile" pitchFamily="34" charset="-120"/>
              </a:rPr>
              <a:t>Indexers execute search operations locally on their data buckets, applying filters, transformations, and initial aggregations.</a:t>
            </a:r>
            <a:endParaRPr lang="en-US" sz="1350" dirty="0"/>
          </a:p>
        </p:txBody>
      </p:sp>
      <p:sp>
        <p:nvSpPr>
          <p:cNvPr id="16" name="Shape 13"/>
          <p:cNvSpPr/>
          <p:nvPr/>
        </p:nvSpPr>
        <p:spPr>
          <a:xfrm>
            <a:off x="9310866" y="4972526"/>
            <a:ext cx="532328" cy="22860"/>
          </a:xfrm>
          <a:prstGeom prst="roundRect">
            <a:avLst>
              <a:gd name="adj" fmla="val 698728"/>
            </a:avLst>
          </a:prstGeom>
          <a:solidFill>
            <a:srgbClr val="CED9CE"/>
          </a:solidFill>
          <a:ln/>
        </p:spPr>
      </p:sp>
      <p:sp>
        <p:nvSpPr>
          <p:cNvPr id="17" name="Shape 14"/>
          <p:cNvSpPr/>
          <p:nvPr/>
        </p:nvSpPr>
        <p:spPr>
          <a:xfrm>
            <a:off x="9820335" y="4784408"/>
            <a:ext cx="399217" cy="399217"/>
          </a:xfrm>
          <a:prstGeom prst="roundRect">
            <a:avLst>
              <a:gd name="adj" fmla="val 40011"/>
            </a:avLst>
          </a:prstGeom>
          <a:solidFill>
            <a:srgbClr val="E8F3E8"/>
          </a:solidFill>
          <a:ln/>
        </p:spPr>
      </p:sp>
      <p:sp>
        <p:nvSpPr>
          <p:cNvPr id="18" name="Text 15"/>
          <p:cNvSpPr/>
          <p:nvPr/>
        </p:nvSpPr>
        <p:spPr>
          <a:xfrm>
            <a:off x="9886831" y="4817626"/>
            <a:ext cx="266105" cy="332661"/>
          </a:xfrm>
          <a:prstGeom prst="rect">
            <a:avLst/>
          </a:prstGeom>
          <a:noFill/>
          <a:ln/>
        </p:spPr>
        <p:txBody>
          <a:bodyPr wrap="none" lIns="0" tIns="0" rIns="0" bIns="0" rtlCol="0" anchor="t"/>
          <a:lstStyle/>
          <a:p>
            <a:pPr algn="ctr" indent="0" marL="0">
              <a:lnSpc>
                <a:spcPts val="2050"/>
              </a:lnSpc>
              <a:buNone/>
            </a:pPr>
            <a:r>
              <a:rPr lang="en-US" sz="2050" b="1" dirty="0">
                <a:solidFill>
                  <a:srgbClr val="405449"/>
                </a:solidFill>
                <a:latin typeface="Fraunces Extra Bold" pitchFamily="34" charset="0"/>
                <a:ea typeface="Fraunces Extra Bold" pitchFamily="34" charset="-122"/>
                <a:cs typeface="Fraunces Extra Bold" pitchFamily="34" charset="-120"/>
              </a:rPr>
              <a:t>3</a:t>
            </a:r>
            <a:endParaRPr lang="en-US" sz="2050" dirty="0"/>
          </a:p>
        </p:txBody>
      </p:sp>
      <p:sp>
        <p:nvSpPr>
          <p:cNvPr id="19" name="Text 16"/>
          <p:cNvSpPr/>
          <p:nvPr/>
        </p:nvSpPr>
        <p:spPr>
          <a:xfrm>
            <a:off x="6914198" y="4845368"/>
            <a:ext cx="2218373" cy="277178"/>
          </a:xfrm>
          <a:prstGeom prst="rect">
            <a:avLst/>
          </a:prstGeom>
          <a:noFill/>
          <a:ln/>
        </p:spPr>
        <p:txBody>
          <a:bodyPr wrap="none" lIns="0" tIns="0" rIns="0" bIns="0" rtlCol="0" anchor="t"/>
          <a:lstStyle/>
          <a:p>
            <a:pPr algn="r" indent="0" marL="0">
              <a:lnSpc>
                <a:spcPts val="2150"/>
              </a:lnSpc>
              <a:buNone/>
            </a:pPr>
            <a:r>
              <a:rPr lang="en-US" sz="1700" b="1" dirty="0">
                <a:solidFill>
                  <a:srgbClr val="405449"/>
                </a:solidFill>
                <a:latin typeface="Fraunces Extra Bold" pitchFamily="34" charset="0"/>
                <a:ea typeface="Fraunces Extra Bold" pitchFamily="34" charset="-122"/>
                <a:cs typeface="Fraunces Extra Bold" pitchFamily="34" charset="-120"/>
              </a:rPr>
              <a:t>Result Aggregation</a:t>
            </a:r>
            <a:endParaRPr lang="en-US" sz="1700" dirty="0"/>
          </a:p>
        </p:txBody>
      </p:sp>
      <p:sp>
        <p:nvSpPr>
          <p:cNvPr id="20" name="Text 17"/>
          <p:cNvSpPr/>
          <p:nvPr/>
        </p:nvSpPr>
        <p:spPr>
          <a:xfrm>
            <a:off x="6190655" y="5299948"/>
            <a:ext cx="2941915" cy="1419820"/>
          </a:xfrm>
          <a:prstGeom prst="rect">
            <a:avLst/>
          </a:prstGeom>
          <a:noFill/>
          <a:ln/>
        </p:spPr>
        <p:txBody>
          <a:bodyPr wrap="square" lIns="0" tIns="0" rIns="0" bIns="0" rtlCol="0" anchor="t"/>
          <a:lstStyle/>
          <a:p>
            <a:pPr algn="r" indent="0" marL="0">
              <a:lnSpc>
                <a:spcPts val="2200"/>
              </a:lnSpc>
              <a:buNone/>
            </a:pPr>
            <a:r>
              <a:rPr lang="en-US" sz="1350" dirty="0">
                <a:solidFill>
                  <a:srgbClr val="405449"/>
                </a:solidFill>
                <a:latin typeface="Nobile" pitchFamily="34" charset="0"/>
                <a:ea typeface="Nobile" pitchFamily="34" charset="-122"/>
                <a:cs typeface="Nobile" pitchFamily="34" charset="-120"/>
              </a:rPr>
              <a:t>Search head collects partial results from indexers, performs final aggregations, and presents unified results to users through web interface or API.</a:t>
            </a:r>
            <a:endParaRPr lang="en-US" sz="1350" dirty="0"/>
          </a:p>
        </p:txBody>
      </p:sp>
      <p:sp>
        <p:nvSpPr>
          <p:cNvPr id="21" name="Text 18"/>
          <p:cNvSpPr/>
          <p:nvPr/>
        </p:nvSpPr>
        <p:spPr>
          <a:xfrm>
            <a:off x="788670" y="7118866"/>
            <a:ext cx="13053060" cy="567928"/>
          </a:xfrm>
          <a:prstGeom prst="rect">
            <a:avLst/>
          </a:prstGeom>
          <a:noFill/>
          <a:ln/>
        </p:spPr>
        <p:txBody>
          <a:bodyPr wrap="square" lIns="0" tIns="0" rIns="0" bIns="0" rtlCol="0" anchor="t"/>
          <a:lstStyle/>
          <a:p>
            <a:pPr algn="l" indent="0" marL="0">
              <a:lnSpc>
                <a:spcPts val="2200"/>
              </a:lnSpc>
              <a:buNone/>
            </a:pPr>
            <a:r>
              <a:rPr lang="en-US" sz="1350" dirty="0">
                <a:solidFill>
                  <a:srgbClr val="405449"/>
                </a:solidFill>
                <a:latin typeface="Nobile" pitchFamily="34" charset="0"/>
                <a:ea typeface="Nobile" pitchFamily="34" charset="-122"/>
                <a:cs typeface="Nobile" pitchFamily="34" charset="-120"/>
              </a:rPr>
              <a:t>SPL supports complex analytics including statistical analysis, data correlation, machine learning, and predictive modeling. Advanced features include subsearches, lookups, and custom commands for specialized analysis requirements.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985599"/>
            <a:ext cx="7096244" cy="620078"/>
          </a:xfrm>
          <a:prstGeom prst="rect">
            <a:avLst/>
          </a:prstGeom>
          <a:noFill/>
          <a:ln/>
        </p:spPr>
        <p:txBody>
          <a:bodyPr wrap="none" lIns="0" tIns="0" rIns="0" bIns="0" rtlCol="0" anchor="t"/>
          <a:lstStyle/>
          <a:p>
            <a:pPr algn="l" indent="0" marL="0">
              <a:lnSpc>
                <a:spcPts val="4850"/>
              </a:lnSpc>
              <a:buNone/>
            </a:pPr>
            <a:r>
              <a:rPr lang="en-US" sz="3900" b="1" dirty="0">
                <a:solidFill>
                  <a:srgbClr val="3B4540"/>
                </a:solidFill>
                <a:latin typeface="Fraunces Extra Bold" pitchFamily="34" charset="0"/>
                <a:ea typeface="Fraunces Extra Bold" pitchFamily="34" charset="-122"/>
                <a:cs typeface="Fraunces Extra Bold" pitchFamily="34" charset="-120"/>
              </a:rPr>
              <a:t>Scaling Splunk Architecture</a:t>
            </a:r>
            <a:endParaRPr lang="en-US" sz="3900" dirty="0"/>
          </a:p>
        </p:txBody>
      </p:sp>
      <p:sp>
        <p:nvSpPr>
          <p:cNvPr id="3" name="Text 1"/>
          <p:cNvSpPr/>
          <p:nvPr/>
        </p:nvSpPr>
        <p:spPr>
          <a:xfrm>
            <a:off x="793790" y="2002512"/>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Enterprise Splunk deployments require careful scaling strategies to handle increasing data volumes, user loads, and availability requirements. Splunk provides multiple scaling mechanisms to support growth and ensure business continuity.</a:t>
            </a:r>
            <a:endParaRPr lang="en-US" sz="1550" dirty="0"/>
          </a:p>
        </p:txBody>
      </p:sp>
      <p:sp>
        <p:nvSpPr>
          <p:cNvPr id="4" name="Shape 2"/>
          <p:cNvSpPr/>
          <p:nvPr/>
        </p:nvSpPr>
        <p:spPr>
          <a:xfrm>
            <a:off x="793790" y="2860834"/>
            <a:ext cx="4215289" cy="3524845"/>
          </a:xfrm>
          <a:prstGeom prst="roundRect">
            <a:avLst>
              <a:gd name="adj" fmla="val 5068"/>
            </a:avLst>
          </a:prstGeom>
          <a:solidFill>
            <a:srgbClr val="E8F3E8"/>
          </a:solidFill>
          <a:ln/>
        </p:spPr>
      </p:sp>
      <p:sp>
        <p:nvSpPr>
          <p:cNvPr id="5" name="Shape 3"/>
          <p:cNvSpPr/>
          <p:nvPr/>
        </p:nvSpPr>
        <p:spPr>
          <a:xfrm>
            <a:off x="992148" y="3059192"/>
            <a:ext cx="595313" cy="595313"/>
          </a:xfrm>
          <a:prstGeom prst="roundRect">
            <a:avLst>
              <a:gd name="adj" fmla="val 15358451"/>
            </a:avLst>
          </a:prstGeom>
          <a:solidFill>
            <a:srgbClr val="438951"/>
          </a:solidFill>
          <a:ln/>
        </p:spPr>
      </p:sp>
      <p:pic>
        <p:nvPicPr>
          <p:cNvPr id="6" name="Image 0" descr="preencoded.png">    </p:cNvPr>
          <p:cNvPicPr>
            <a:picLocks noChangeAspect="1"/>
          </p:cNvPicPr>
          <p:nvPr/>
        </p:nvPicPr>
        <p:blipFill>
          <a:blip r:embed="rId1"/>
          <a:stretch>
            <a:fillRect/>
          </a:stretch>
        </p:blipFill>
        <p:spPr>
          <a:xfrm>
            <a:off x="1155859" y="3189327"/>
            <a:ext cx="267891" cy="334923"/>
          </a:xfrm>
          <a:prstGeom prst="rect">
            <a:avLst/>
          </a:prstGeom>
        </p:spPr>
      </p:pic>
      <p:sp>
        <p:nvSpPr>
          <p:cNvPr id="7" name="Text 4"/>
          <p:cNvSpPr/>
          <p:nvPr/>
        </p:nvSpPr>
        <p:spPr>
          <a:xfrm>
            <a:off x="992148" y="3852863"/>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Indexer Clustering</a:t>
            </a:r>
            <a:endParaRPr lang="en-US" sz="1950" dirty="0"/>
          </a:p>
        </p:txBody>
      </p:sp>
      <p:sp>
        <p:nvSpPr>
          <p:cNvPr id="8" name="Text 5"/>
          <p:cNvSpPr/>
          <p:nvPr/>
        </p:nvSpPr>
        <p:spPr>
          <a:xfrm>
            <a:off x="992148" y="4282083"/>
            <a:ext cx="3818573" cy="1905238"/>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Provides data replication across multiple indexers with automatic failover. Search factor and replication factor settings ensure data availability and search performance during node failures.</a:t>
            </a:r>
            <a:endParaRPr lang="en-US" sz="1550" dirty="0"/>
          </a:p>
        </p:txBody>
      </p:sp>
      <p:sp>
        <p:nvSpPr>
          <p:cNvPr id="9" name="Shape 6"/>
          <p:cNvSpPr/>
          <p:nvPr/>
        </p:nvSpPr>
        <p:spPr>
          <a:xfrm>
            <a:off x="5207437" y="2860834"/>
            <a:ext cx="4215408" cy="3524845"/>
          </a:xfrm>
          <a:prstGeom prst="roundRect">
            <a:avLst>
              <a:gd name="adj" fmla="val 5068"/>
            </a:avLst>
          </a:prstGeom>
          <a:solidFill>
            <a:srgbClr val="E8F3E8"/>
          </a:solidFill>
          <a:ln/>
        </p:spPr>
      </p:sp>
      <p:sp>
        <p:nvSpPr>
          <p:cNvPr id="10" name="Shape 7"/>
          <p:cNvSpPr/>
          <p:nvPr/>
        </p:nvSpPr>
        <p:spPr>
          <a:xfrm>
            <a:off x="5405795" y="3059192"/>
            <a:ext cx="595313" cy="595313"/>
          </a:xfrm>
          <a:prstGeom prst="roundRect">
            <a:avLst>
              <a:gd name="adj" fmla="val 15358451"/>
            </a:avLst>
          </a:prstGeom>
          <a:solidFill>
            <a:srgbClr val="438951"/>
          </a:solidFill>
          <a:ln/>
        </p:spPr>
      </p:sp>
      <p:pic>
        <p:nvPicPr>
          <p:cNvPr id="11" name="Image 1" descr="preencoded.png">    </p:cNvPr>
          <p:cNvPicPr>
            <a:picLocks noChangeAspect="1"/>
          </p:cNvPicPr>
          <p:nvPr/>
        </p:nvPicPr>
        <p:blipFill>
          <a:blip r:embed="rId2"/>
          <a:stretch>
            <a:fillRect/>
          </a:stretch>
        </p:blipFill>
        <p:spPr>
          <a:xfrm>
            <a:off x="5569506" y="3189327"/>
            <a:ext cx="267891" cy="334923"/>
          </a:xfrm>
          <a:prstGeom prst="rect">
            <a:avLst/>
          </a:prstGeom>
        </p:spPr>
      </p:pic>
      <p:sp>
        <p:nvSpPr>
          <p:cNvPr id="12" name="Text 8"/>
          <p:cNvSpPr/>
          <p:nvPr/>
        </p:nvSpPr>
        <p:spPr>
          <a:xfrm>
            <a:off x="5405795" y="3852863"/>
            <a:ext cx="2967395" cy="310158"/>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Search Head Clustering</a:t>
            </a:r>
            <a:endParaRPr lang="en-US" sz="1950" dirty="0"/>
          </a:p>
        </p:txBody>
      </p:sp>
      <p:sp>
        <p:nvSpPr>
          <p:cNvPr id="13" name="Text 9"/>
          <p:cNvSpPr/>
          <p:nvPr/>
        </p:nvSpPr>
        <p:spPr>
          <a:xfrm>
            <a:off x="5405795" y="4282083"/>
            <a:ext cx="3818692" cy="1587698"/>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Distributes user search load across multiple search head instances. Shared configurations and knowledge objects ensure consistent user experience with high availability.</a:t>
            </a:r>
            <a:endParaRPr lang="en-US" sz="1550" dirty="0"/>
          </a:p>
        </p:txBody>
      </p:sp>
      <p:sp>
        <p:nvSpPr>
          <p:cNvPr id="14" name="Shape 10"/>
          <p:cNvSpPr/>
          <p:nvPr/>
        </p:nvSpPr>
        <p:spPr>
          <a:xfrm>
            <a:off x="9621203" y="2860834"/>
            <a:ext cx="4215289" cy="3524845"/>
          </a:xfrm>
          <a:prstGeom prst="roundRect">
            <a:avLst>
              <a:gd name="adj" fmla="val 5068"/>
            </a:avLst>
          </a:prstGeom>
          <a:solidFill>
            <a:srgbClr val="E8F3E8"/>
          </a:solidFill>
          <a:ln/>
        </p:spPr>
      </p:sp>
      <p:sp>
        <p:nvSpPr>
          <p:cNvPr id="15" name="Shape 11"/>
          <p:cNvSpPr/>
          <p:nvPr/>
        </p:nvSpPr>
        <p:spPr>
          <a:xfrm>
            <a:off x="9819561" y="3059192"/>
            <a:ext cx="595313" cy="595313"/>
          </a:xfrm>
          <a:prstGeom prst="roundRect">
            <a:avLst>
              <a:gd name="adj" fmla="val 15358451"/>
            </a:avLst>
          </a:prstGeom>
          <a:solidFill>
            <a:srgbClr val="438951"/>
          </a:solidFill>
          <a:ln/>
        </p:spPr>
      </p:sp>
      <p:pic>
        <p:nvPicPr>
          <p:cNvPr id="16" name="Image 2" descr="preencoded.png">    </p:cNvPr>
          <p:cNvPicPr>
            <a:picLocks noChangeAspect="1"/>
          </p:cNvPicPr>
          <p:nvPr/>
        </p:nvPicPr>
        <p:blipFill>
          <a:blip r:embed="rId3"/>
          <a:stretch>
            <a:fillRect/>
          </a:stretch>
        </p:blipFill>
        <p:spPr>
          <a:xfrm>
            <a:off x="9983272" y="3189327"/>
            <a:ext cx="267891" cy="334923"/>
          </a:xfrm>
          <a:prstGeom prst="rect">
            <a:avLst/>
          </a:prstGeom>
        </p:spPr>
      </p:pic>
      <p:sp>
        <p:nvSpPr>
          <p:cNvPr id="17" name="Text 12"/>
          <p:cNvSpPr/>
          <p:nvPr/>
        </p:nvSpPr>
        <p:spPr>
          <a:xfrm>
            <a:off x="9819561" y="3852863"/>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Load Balancing</a:t>
            </a:r>
            <a:endParaRPr lang="en-US" sz="1950" dirty="0"/>
          </a:p>
        </p:txBody>
      </p:sp>
      <p:sp>
        <p:nvSpPr>
          <p:cNvPr id="18" name="Text 13"/>
          <p:cNvSpPr/>
          <p:nvPr/>
        </p:nvSpPr>
        <p:spPr>
          <a:xfrm>
            <a:off x="9819561" y="4282083"/>
            <a:ext cx="3818573" cy="1905238"/>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Forwarders automatically distribute data across available indexers. Intermediate heavy forwarders can aggregate and route data for optimal network utilization and processing efficiency.</a:t>
            </a:r>
            <a:endParaRPr lang="en-US" sz="1550" dirty="0"/>
          </a:p>
        </p:txBody>
      </p:sp>
      <p:sp>
        <p:nvSpPr>
          <p:cNvPr id="19" name="Text 14"/>
          <p:cNvSpPr/>
          <p:nvPr/>
        </p:nvSpPr>
        <p:spPr>
          <a:xfrm>
            <a:off x="793790" y="6608921"/>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Horizontal scaling involves adding indexers for storage capacity, search heads for user capacity, and forwarders for data collection. Monitoring tools help identify scaling requirements and performance bottlenecks.</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669608"/>
            <a:ext cx="7270671" cy="465177"/>
          </a:xfrm>
          <a:prstGeom prst="rect">
            <a:avLst/>
          </a:prstGeom>
          <a:noFill/>
          <a:ln/>
        </p:spPr>
        <p:txBody>
          <a:bodyPr wrap="none" lIns="0" tIns="0" rIns="0" bIns="0" rtlCol="0" anchor="t"/>
          <a:lstStyle/>
          <a:p>
            <a:pPr algn="l" indent="0" marL="0">
              <a:lnSpc>
                <a:spcPts val="3650"/>
              </a:lnSpc>
              <a:buNone/>
            </a:pPr>
            <a:r>
              <a:rPr lang="en-US" sz="2900" b="1" dirty="0">
                <a:solidFill>
                  <a:srgbClr val="3B4540"/>
                </a:solidFill>
                <a:latin typeface="Fraunces Extra Bold" pitchFamily="34" charset="0"/>
                <a:ea typeface="Fraunces Extra Bold" pitchFamily="34" charset="-122"/>
                <a:cs typeface="Fraunces Extra Bold" pitchFamily="34" charset="-120"/>
              </a:rPr>
              <a:t>Real-World Implementation Scenarios</a:t>
            </a:r>
            <a:endParaRPr lang="en-US" sz="2900" dirty="0"/>
          </a:p>
        </p:txBody>
      </p:sp>
      <p:pic>
        <p:nvPicPr>
          <p:cNvPr id="3" name="Image 0" descr="preencoded.png">    </p:cNvPr>
          <p:cNvPicPr>
            <a:picLocks noChangeAspect="1"/>
          </p:cNvPicPr>
          <p:nvPr/>
        </p:nvPicPr>
        <p:blipFill>
          <a:blip r:embed="rId1"/>
          <a:stretch>
            <a:fillRect/>
          </a:stretch>
        </p:blipFill>
        <p:spPr>
          <a:xfrm>
            <a:off x="801410" y="1530787"/>
            <a:ext cx="3167539" cy="3167539"/>
          </a:xfrm>
          <a:prstGeom prst="rect">
            <a:avLst/>
          </a:prstGeom>
        </p:spPr>
      </p:pic>
      <p:pic>
        <p:nvPicPr>
          <p:cNvPr id="4" name="Image 1" descr="preencoded.png">    </p:cNvPr>
          <p:cNvPicPr>
            <a:picLocks noChangeAspect="1"/>
          </p:cNvPicPr>
          <p:nvPr/>
        </p:nvPicPr>
        <p:blipFill>
          <a:blip r:embed="rId2"/>
          <a:stretch>
            <a:fillRect/>
          </a:stretch>
        </p:blipFill>
        <p:spPr>
          <a:xfrm>
            <a:off x="4088011" y="1530787"/>
            <a:ext cx="3167658" cy="3167658"/>
          </a:xfrm>
          <a:prstGeom prst="rect">
            <a:avLst/>
          </a:prstGeom>
        </p:spPr>
      </p:pic>
      <p:pic>
        <p:nvPicPr>
          <p:cNvPr id="5" name="Image 2" descr="preencoded.png">    </p:cNvPr>
          <p:cNvPicPr>
            <a:picLocks noChangeAspect="1"/>
          </p:cNvPicPr>
          <p:nvPr/>
        </p:nvPicPr>
        <p:blipFill>
          <a:blip r:embed="rId3"/>
          <a:stretch>
            <a:fillRect/>
          </a:stretch>
        </p:blipFill>
        <p:spPr>
          <a:xfrm>
            <a:off x="7374731" y="1530787"/>
            <a:ext cx="3167539" cy="3167539"/>
          </a:xfrm>
          <a:prstGeom prst="rect">
            <a:avLst/>
          </a:prstGeom>
        </p:spPr>
      </p:pic>
      <p:pic>
        <p:nvPicPr>
          <p:cNvPr id="6" name="Image 3" descr="preencoded.png">    </p:cNvPr>
          <p:cNvPicPr>
            <a:picLocks noChangeAspect="1"/>
          </p:cNvPicPr>
          <p:nvPr/>
        </p:nvPicPr>
        <p:blipFill>
          <a:blip r:embed="rId4"/>
          <a:stretch>
            <a:fillRect/>
          </a:stretch>
        </p:blipFill>
        <p:spPr>
          <a:xfrm>
            <a:off x="10661333" y="1530787"/>
            <a:ext cx="3167658" cy="3167658"/>
          </a:xfrm>
          <a:prstGeom prst="rect">
            <a:avLst/>
          </a:prstGeom>
        </p:spPr>
      </p:pic>
      <p:pic>
        <p:nvPicPr>
          <p:cNvPr id="7" name="Image 4" descr="preencoded.png">    </p:cNvPr>
          <p:cNvPicPr>
            <a:picLocks noChangeAspect="1"/>
          </p:cNvPicPr>
          <p:nvPr/>
        </p:nvPicPr>
        <p:blipFill>
          <a:blip r:embed="rId5"/>
          <a:stretch>
            <a:fillRect/>
          </a:stretch>
        </p:blipFill>
        <p:spPr>
          <a:xfrm>
            <a:off x="793790" y="4964192"/>
            <a:ext cx="1837253" cy="1135499"/>
          </a:xfrm>
          <a:prstGeom prst="rect">
            <a:avLst/>
          </a:prstGeom>
        </p:spPr>
      </p:pic>
      <p:sp>
        <p:nvSpPr>
          <p:cNvPr id="8" name="Text 1"/>
          <p:cNvSpPr/>
          <p:nvPr/>
        </p:nvSpPr>
        <p:spPr>
          <a:xfrm>
            <a:off x="793790" y="6285667"/>
            <a:ext cx="2429232" cy="232529"/>
          </a:xfrm>
          <a:prstGeom prst="rect">
            <a:avLst/>
          </a:prstGeom>
          <a:noFill/>
          <a:ln/>
        </p:spPr>
        <p:txBody>
          <a:bodyPr wrap="none" lIns="0" tIns="0" rIns="0" bIns="0" rtlCol="0" anchor="t"/>
          <a:lstStyle/>
          <a:p>
            <a:pPr algn="l" indent="0" marL="0">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IT Operations Monitoring</a:t>
            </a:r>
            <a:endParaRPr lang="en-US" sz="1450" dirty="0"/>
          </a:p>
        </p:txBody>
      </p:sp>
      <p:sp>
        <p:nvSpPr>
          <p:cNvPr id="9" name="Text 2"/>
          <p:cNvSpPr/>
          <p:nvPr/>
        </p:nvSpPr>
        <p:spPr>
          <a:xfrm>
            <a:off x="793790" y="6607492"/>
            <a:ext cx="4223623" cy="952500"/>
          </a:xfrm>
          <a:prstGeom prst="rect">
            <a:avLst/>
          </a:prstGeom>
          <a:noFill/>
          <a:ln/>
        </p:spPr>
        <p:txBody>
          <a:bodyPr wrap="square" lIns="0" tIns="0" rIns="0" bIns="0" rtlCol="0" anchor="t"/>
          <a:lstStyle/>
          <a:p>
            <a:pPr algn="l" indent="0" marL="0">
              <a:lnSpc>
                <a:spcPts val="1850"/>
              </a:lnSpc>
              <a:buNone/>
            </a:pPr>
            <a:r>
              <a:rPr lang="en-US" sz="1150" dirty="0">
                <a:solidFill>
                  <a:srgbClr val="405449"/>
                </a:solidFill>
                <a:latin typeface="Nobile" pitchFamily="34" charset="0"/>
                <a:ea typeface="Nobile" pitchFamily="34" charset="-122"/>
                <a:cs typeface="Nobile" pitchFamily="34" charset="-120"/>
              </a:rPr>
              <a:t>Monitor infrastructure health, track system performance, analyze log patterns, and automate incident response. Correlate events across servers, applications, and network devices for comprehensive operational visibility.</a:t>
            </a:r>
            <a:endParaRPr lang="en-US" sz="1150" dirty="0"/>
          </a:p>
        </p:txBody>
      </p:sp>
      <p:pic>
        <p:nvPicPr>
          <p:cNvPr id="10" name="Image 5" descr="preencoded.png">    </p:cNvPr>
          <p:cNvPicPr>
            <a:picLocks noChangeAspect="1"/>
          </p:cNvPicPr>
          <p:nvPr/>
        </p:nvPicPr>
        <p:blipFill>
          <a:blip r:embed="rId6"/>
          <a:stretch>
            <a:fillRect/>
          </a:stretch>
        </p:blipFill>
        <p:spPr>
          <a:xfrm>
            <a:off x="5203388" y="4964192"/>
            <a:ext cx="1837253" cy="1135499"/>
          </a:xfrm>
          <a:prstGeom prst="rect">
            <a:avLst/>
          </a:prstGeom>
        </p:spPr>
      </p:pic>
      <p:sp>
        <p:nvSpPr>
          <p:cNvPr id="11" name="Text 3"/>
          <p:cNvSpPr/>
          <p:nvPr/>
        </p:nvSpPr>
        <p:spPr>
          <a:xfrm>
            <a:off x="5203388" y="6285667"/>
            <a:ext cx="2585442" cy="232529"/>
          </a:xfrm>
          <a:prstGeom prst="rect">
            <a:avLst/>
          </a:prstGeom>
          <a:noFill/>
          <a:ln/>
        </p:spPr>
        <p:txBody>
          <a:bodyPr wrap="none" lIns="0" tIns="0" rIns="0" bIns="0" rtlCol="0" anchor="t"/>
          <a:lstStyle/>
          <a:p>
            <a:pPr algn="l" indent="0" marL="0">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Security Operations (SIEM)</a:t>
            </a:r>
            <a:endParaRPr lang="en-US" sz="1450" dirty="0"/>
          </a:p>
        </p:txBody>
      </p:sp>
      <p:sp>
        <p:nvSpPr>
          <p:cNvPr id="12" name="Text 4"/>
          <p:cNvSpPr/>
          <p:nvPr/>
        </p:nvSpPr>
        <p:spPr>
          <a:xfrm>
            <a:off x="5203388" y="6607492"/>
            <a:ext cx="4223623" cy="952500"/>
          </a:xfrm>
          <a:prstGeom prst="rect">
            <a:avLst/>
          </a:prstGeom>
          <a:noFill/>
          <a:ln/>
        </p:spPr>
        <p:txBody>
          <a:bodyPr wrap="square" lIns="0" tIns="0" rIns="0" bIns="0" rtlCol="0" anchor="t"/>
          <a:lstStyle/>
          <a:p>
            <a:pPr algn="l" indent="0" marL="0">
              <a:lnSpc>
                <a:spcPts val="1850"/>
              </a:lnSpc>
              <a:buNone/>
            </a:pPr>
            <a:r>
              <a:rPr lang="en-US" sz="1150" dirty="0">
                <a:solidFill>
                  <a:srgbClr val="405449"/>
                </a:solidFill>
                <a:latin typeface="Nobile" pitchFamily="34" charset="0"/>
                <a:ea typeface="Nobile" pitchFamily="34" charset="-122"/>
                <a:cs typeface="Nobile" pitchFamily="34" charset="-120"/>
              </a:rPr>
              <a:t>Detect security threats, investigate incidents, track user behavior, and ensure compliance. Integrate threat intelligence, perform forensic analysis, and automate response workflows for enhanced security posture.</a:t>
            </a:r>
            <a:endParaRPr lang="en-US" sz="1150" dirty="0"/>
          </a:p>
        </p:txBody>
      </p:sp>
      <p:pic>
        <p:nvPicPr>
          <p:cNvPr id="13" name="Image 6" descr="preencoded.png">    </p:cNvPr>
          <p:cNvPicPr>
            <a:picLocks noChangeAspect="1"/>
          </p:cNvPicPr>
          <p:nvPr/>
        </p:nvPicPr>
        <p:blipFill>
          <a:blip r:embed="rId7"/>
          <a:stretch>
            <a:fillRect/>
          </a:stretch>
        </p:blipFill>
        <p:spPr>
          <a:xfrm>
            <a:off x="9612987" y="4964192"/>
            <a:ext cx="1837253" cy="1135499"/>
          </a:xfrm>
          <a:prstGeom prst="rect">
            <a:avLst/>
          </a:prstGeom>
        </p:spPr>
      </p:pic>
      <p:sp>
        <p:nvSpPr>
          <p:cNvPr id="14" name="Text 5"/>
          <p:cNvSpPr/>
          <p:nvPr/>
        </p:nvSpPr>
        <p:spPr>
          <a:xfrm>
            <a:off x="9612987" y="6285667"/>
            <a:ext cx="2396133" cy="232529"/>
          </a:xfrm>
          <a:prstGeom prst="rect">
            <a:avLst/>
          </a:prstGeom>
          <a:noFill/>
          <a:ln/>
        </p:spPr>
        <p:txBody>
          <a:bodyPr wrap="none" lIns="0" tIns="0" rIns="0" bIns="0" rtlCol="0" anchor="t"/>
          <a:lstStyle/>
          <a:p>
            <a:pPr algn="l" indent="0" marL="0">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Application Performance</a:t>
            </a:r>
            <a:endParaRPr lang="en-US" sz="1450" dirty="0"/>
          </a:p>
        </p:txBody>
      </p:sp>
      <p:sp>
        <p:nvSpPr>
          <p:cNvPr id="15" name="Text 6"/>
          <p:cNvSpPr/>
          <p:nvPr/>
        </p:nvSpPr>
        <p:spPr>
          <a:xfrm>
            <a:off x="9612987" y="6607492"/>
            <a:ext cx="4223623" cy="952500"/>
          </a:xfrm>
          <a:prstGeom prst="rect">
            <a:avLst/>
          </a:prstGeom>
          <a:noFill/>
          <a:ln/>
        </p:spPr>
        <p:txBody>
          <a:bodyPr wrap="square" lIns="0" tIns="0" rIns="0" bIns="0" rtlCol="0" anchor="t"/>
          <a:lstStyle/>
          <a:p>
            <a:pPr algn="l" indent="0" marL="0">
              <a:lnSpc>
                <a:spcPts val="1850"/>
              </a:lnSpc>
              <a:buNone/>
            </a:pPr>
            <a:r>
              <a:rPr lang="en-US" sz="1150" dirty="0">
                <a:solidFill>
                  <a:srgbClr val="405449"/>
                </a:solidFill>
                <a:latin typeface="Nobile" pitchFamily="34" charset="0"/>
                <a:ea typeface="Nobile" pitchFamily="34" charset="-122"/>
                <a:cs typeface="Nobile" pitchFamily="34" charset="-120"/>
              </a:rPr>
              <a:t>Monitor application health, track user experience metrics, identify performance bottlenecks, and optimize resource utilization. Correlate application logs with infrastructure metrics for comprehensive troubleshooting.</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550426"/>
            <a:ext cx="3721298" cy="465177"/>
          </a:xfrm>
          <a:prstGeom prst="rect">
            <a:avLst/>
          </a:prstGeom>
          <a:noFill/>
          <a:ln/>
        </p:spPr>
        <p:txBody>
          <a:bodyPr wrap="none" lIns="0" tIns="0" rIns="0" bIns="0" rtlCol="0" anchor="t"/>
          <a:lstStyle/>
          <a:p>
            <a:pPr algn="l" indent="0" marL="0">
              <a:lnSpc>
                <a:spcPts val="3650"/>
              </a:lnSpc>
              <a:buNone/>
            </a:pPr>
            <a:r>
              <a:rPr lang="en-US" sz="2900" b="1" dirty="0">
                <a:solidFill>
                  <a:srgbClr val="3B4540"/>
                </a:solidFill>
                <a:latin typeface="Fraunces Extra Bold" pitchFamily="34" charset="0"/>
                <a:ea typeface="Fraunces Extra Bold" pitchFamily="34" charset="-122"/>
                <a:cs typeface="Fraunces Extra Bold" pitchFamily="34" charset="-120"/>
              </a:rPr>
              <a:t>Key Takeaways</a:t>
            </a:r>
            <a:endParaRPr lang="en-US" sz="2900" dirty="0"/>
          </a:p>
        </p:txBody>
      </p:sp>
      <p:sp>
        <p:nvSpPr>
          <p:cNvPr id="4" name="Text 1"/>
          <p:cNvSpPr/>
          <p:nvPr/>
        </p:nvSpPr>
        <p:spPr>
          <a:xfrm>
            <a:off x="6280190" y="1238845"/>
            <a:ext cx="7556421" cy="1283732"/>
          </a:xfrm>
          <a:prstGeom prst="rect">
            <a:avLst/>
          </a:prstGeom>
          <a:noFill/>
          <a:ln/>
        </p:spPr>
        <p:txBody>
          <a:bodyPr wrap="square" lIns="0" tIns="0" rIns="0" bIns="0" rtlCol="0" anchor="t"/>
          <a:lstStyle/>
          <a:p>
            <a:pPr algn="ctr" indent="0" marL="0">
              <a:lnSpc>
                <a:spcPts val="5050"/>
              </a:lnSpc>
              <a:buNone/>
            </a:pPr>
            <a:r>
              <a:rPr lang="en-US" sz="4000" b="1" dirty="0">
                <a:solidFill>
                  <a:srgbClr val="3B4540"/>
                </a:solidFill>
                <a:latin typeface="Fraunces Extra Bold" pitchFamily="34" charset="0"/>
                <a:ea typeface="Fraunces Extra Bold" pitchFamily="34" charset="-122"/>
                <a:cs typeface="Fraunces Extra Bold" pitchFamily="34" charset="-120"/>
              </a:rPr>
              <a:t>Data-to-Everything Platform</a:t>
            </a:r>
            <a:endParaRPr lang="en-US" sz="4000" dirty="0"/>
          </a:p>
        </p:txBody>
      </p:sp>
      <p:sp>
        <p:nvSpPr>
          <p:cNvPr id="5" name="Shape 2"/>
          <p:cNvSpPr/>
          <p:nvPr/>
        </p:nvSpPr>
        <p:spPr>
          <a:xfrm>
            <a:off x="6280190" y="2745819"/>
            <a:ext cx="334923" cy="334923"/>
          </a:xfrm>
          <a:prstGeom prst="roundRect">
            <a:avLst>
              <a:gd name="adj" fmla="val 40000"/>
            </a:avLst>
          </a:prstGeom>
          <a:solidFill>
            <a:srgbClr val="E8F3E8"/>
          </a:solidFill>
          <a:ln/>
        </p:spPr>
      </p:sp>
      <p:sp>
        <p:nvSpPr>
          <p:cNvPr id="6" name="Text 3"/>
          <p:cNvSpPr/>
          <p:nvPr/>
        </p:nvSpPr>
        <p:spPr>
          <a:xfrm>
            <a:off x="6763941" y="2796897"/>
            <a:ext cx="2351365" cy="232529"/>
          </a:xfrm>
          <a:prstGeom prst="rect">
            <a:avLst/>
          </a:prstGeom>
          <a:noFill/>
          <a:ln/>
        </p:spPr>
        <p:txBody>
          <a:bodyPr wrap="none" lIns="0" tIns="0" rIns="0" bIns="0" rtlCol="0" anchor="t"/>
          <a:lstStyle/>
          <a:p>
            <a:pPr algn="l" indent="0" marL="0">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Distributed Architecture</a:t>
            </a:r>
            <a:endParaRPr lang="en-US" sz="1450" dirty="0"/>
          </a:p>
        </p:txBody>
      </p:sp>
      <p:sp>
        <p:nvSpPr>
          <p:cNvPr id="7" name="Text 4"/>
          <p:cNvSpPr/>
          <p:nvPr/>
        </p:nvSpPr>
        <p:spPr>
          <a:xfrm>
            <a:off x="6763941" y="3118723"/>
            <a:ext cx="7072670" cy="476250"/>
          </a:xfrm>
          <a:prstGeom prst="rect">
            <a:avLst/>
          </a:prstGeom>
          <a:noFill/>
          <a:ln/>
        </p:spPr>
        <p:txBody>
          <a:bodyPr wrap="square" lIns="0" tIns="0" rIns="0" bIns="0" rtlCol="0" anchor="t"/>
          <a:lstStyle/>
          <a:p>
            <a:pPr algn="l" indent="0" marL="0">
              <a:lnSpc>
                <a:spcPts val="1850"/>
              </a:lnSpc>
              <a:buNone/>
            </a:pPr>
            <a:r>
              <a:rPr lang="en-US" sz="1150" dirty="0">
                <a:solidFill>
                  <a:srgbClr val="405449"/>
                </a:solidFill>
                <a:latin typeface="Nobile" pitchFamily="34" charset="0"/>
                <a:ea typeface="Nobile" pitchFamily="34" charset="-122"/>
                <a:cs typeface="Nobile" pitchFamily="34" charset="-120"/>
              </a:rPr>
              <a:t>Splunk's three-tier architecture with </a:t>
            </a:r>
            <a:pPr algn="l" indent="0" marL="0">
              <a:lnSpc>
                <a:spcPts val="1850"/>
              </a:lnSpc>
              <a:buNone/>
            </a:pPr>
            <a:r>
              <a:rPr lang="en-US" sz="1150" dirty="0">
                <a:solidFill>
                  <a:srgbClr val="438951"/>
                </a:solidFill>
                <a:latin typeface="Nobile" pitchFamily="34" charset="0"/>
                <a:ea typeface="Nobile" pitchFamily="34" charset="-122"/>
                <a:cs typeface="Nobile" pitchFamily="34" charset="-120"/>
              </a:rPr>
              <a:t>Forwarders, Indexers, and Search Heads</a:t>
            </a:r>
            <a:pPr algn="l" indent="0" marL="0">
              <a:lnSpc>
                <a:spcPts val="1850"/>
              </a:lnSpc>
              <a:buNone/>
            </a:pPr>
            <a:r>
              <a:rPr lang="en-US" sz="1150" dirty="0">
                <a:solidFill>
                  <a:srgbClr val="405449"/>
                </a:solidFill>
                <a:latin typeface="Nobile" pitchFamily="34" charset="0"/>
                <a:ea typeface="Nobile" pitchFamily="34" charset="-122"/>
                <a:cs typeface="Nobile" pitchFamily="34" charset="-120"/>
              </a:rPr>
              <a:t> provides scalable, reliable data processing from collection through analysis.</a:t>
            </a:r>
            <a:endParaRPr lang="en-US" sz="1150" dirty="0"/>
          </a:p>
        </p:txBody>
      </p:sp>
      <p:sp>
        <p:nvSpPr>
          <p:cNvPr id="8" name="Shape 5"/>
          <p:cNvSpPr/>
          <p:nvPr/>
        </p:nvSpPr>
        <p:spPr>
          <a:xfrm>
            <a:off x="6280190" y="3892629"/>
            <a:ext cx="334923" cy="334923"/>
          </a:xfrm>
          <a:prstGeom prst="roundRect">
            <a:avLst>
              <a:gd name="adj" fmla="val 40000"/>
            </a:avLst>
          </a:prstGeom>
          <a:solidFill>
            <a:srgbClr val="E8F3E8"/>
          </a:solidFill>
          <a:ln/>
        </p:spPr>
      </p:sp>
      <p:sp>
        <p:nvSpPr>
          <p:cNvPr id="9" name="Text 6"/>
          <p:cNvSpPr/>
          <p:nvPr/>
        </p:nvSpPr>
        <p:spPr>
          <a:xfrm>
            <a:off x="6763941" y="3943707"/>
            <a:ext cx="1860590" cy="232529"/>
          </a:xfrm>
          <a:prstGeom prst="rect">
            <a:avLst/>
          </a:prstGeom>
          <a:noFill/>
          <a:ln/>
        </p:spPr>
        <p:txBody>
          <a:bodyPr wrap="none" lIns="0" tIns="0" rIns="0" bIns="0" rtlCol="0" anchor="t"/>
          <a:lstStyle/>
          <a:p>
            <a:pPr algn="l" indent="0" marL="0">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Data Flow Mastery</a:t>
            </a:r>
            <a:endParaRPr lang="en-US" sz="1450" dirty="0"/>
          </a:p>
        </p:txBody>
      </p:sp>
      <p:sp>
        <p:nvSpPr>
          <p:cNvPr id="10" name="Text 7"/>
          <p:cNvSpPr/>
          <p:nvPr/>
        </p:nvSpPr>
        <p:spPr>
          <a:xfrm>
            <a:off x="6763941" y="4265533"/>
            <a:ext cx="7072670" cy="476250"/>
          </a:xfrm>
          <a:prstGeom prst="rect">
            <a:avLst/>
          </a:prstGeom>
          <a:noFill/>
          <a:ln/>
        </p:spPr>
        <p:txBody>
          <a:bodyPr wrap="square" lIns="0" tIns="0" rIns="0" bIns="0" rtlCol="0" anchor="t"/>
          <a:lstStyle/>
          <a:p>
            <a:pPr algn="l" indent="0" marL="0">
              <a:lnSpc>
                <a:spcPts val="1850"/>
              </a:lnSpc>
              <a:buNone/>
            </a:pPr>
            <a:r>
              <a:rPr lang="en-US" sz="1150" dirty="0">
                <a:solidFill>
                  <a:srgbClr val="405449"/>
                </a:solidFill>
                <a:latin typeface="Nobile" pitchFamily="34" charset="0"/>
                <a:ea typeface="Nobile" pitchFamily="34" charset="-122"/>
                <a:cs typeface="Nobile" pitchFamily="34" charset="-120"/>
              </a:rPr>
              <a:t>Understanding the complete data journey from </a:t>
            </a:r>
            <a:pPr algn="l" indent="0" marL="0">
              <a:lnSpc>
                <a:spcPts val="1850"/>
              </a:lnSpc>
              <a:buNone/>
            </a:pPr>
            <a:r>
              <a:rPr lang="en-US" sz="1150" dirty="0">
                <a:solidFill>
                  <a:srgbClr val="438951"/>
                </a:solidFill>
                <a:latin typeface="Nobile" pitchFamily="34" charset="0"/>
                <a:ea typeface="Nobile" pitchFamily="34" charset="-122"/>
                <a:cs typeface="Nobile" pitchFamily="34" charset="-120"/>
              </a:rPr>
              <a:t>sources → forwarders → indexers → search heads</a:t>
            </a:r>
            <a:pPr algn="l" indent="0" marL="0">
              <a:lnSpc>
                <a:spcPts val="1850"/>
              </a:lnSpc>
              <a:buNone/>
            </a:pPr>
            <a:r>
              <a:rPr lang="en-US" sz="1150" dirty="0">
                <a:solidFill>
                  <a:srgbClr val="405449"/>
                </a:solidFill>
                <a:latin typeface="Nobile" pitchFamily="34" charset="0"/>
                <a:ea typeface="Nobile" pitchFamily="34" charset="-122"/>
                <a:cs typeface="Nobile" pitchFamily="34" charset="-120"/>
              </a:rPr>
              <a:t> enables optimal configuration and troubleshooting.</a:t>
            </a:r>
            <a:endParaRPr lang="en-US" sz="1150" dirty="0"/>
          </a:p>
        </p:txBody>
      </p:sp>
      <p:sp>
        <p:nvSpPr>
          <p:cNvPr id="11" name="Shape 8"/>
          <p:cNvSpPr/>
          <p:nvPr/>
        </p:nvSpPr>
        <p:spPr>
          <a:xfrm>
            <a:off x="6280190" y="5039439"/>
            <a:ext cx="334923" cy="334923"/>
          </a:xfrm>
          <a:prstGeom prst="roundRect">
            <a:avLst>
              <a:gd name="adj" fmla="val 40000"/>
            </a:avLst>
          </a:prstGeom>
          <a:solidFill>
            <a:srgbClr val="E8F3E8"/>
          </a:solidFill>
          <a:ln/>
        </p:spPr>
      </p:sp>
      <p:sp>
        <p:nvSpPr>
          <p:cNvPr id="12" name="Text 9"/>
          <p:cNvSpPr/>
          <p:nvPr/>
        </p:nvSpPr>
        <p:spPr>
          <a:xfrm>
            <a:off x="6763941" y="5090517"/>
            <a:ext cx="1860590" cy="232529"/>
          </a:xfrm>
          <a:prstGeom prst="rect">
            <a:avLst/>
          </a:prstGeom>
          <a:noFill/>
          <a:ln/>
        </p:spPr>
        <p:txBody>
          <a:bodyPr wrap="none" lIns="0" tIns="0" rIns="0" bIns="0" rtlCol="0" anchor="t"/>
          <a:lstStyle/>
          <a:p>
            <a:pPr algn="l" indent="0" marL="0">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Core Concepts</a:t>
            </a:r>
            <a:endParaRPr lang="en-US" sz="1450" dirty="0"/>
          </a:p>
        </p:txBody>
      </p:sp>
      <p:sp>
        <p:nvSpPr>
          <p:cNvPr id="13" name="Text 10"/>
          <p:cNvSpPr/>
          <p:nvPr/>
        </p:nvSpPr>
        <p:spPr>
          <a:xfrm>
            <a:off x="6763941" y="5412343"/>
            <a:ext cx="7072670" cy="476250"/>
          </a:xfrm>
          <a:prstGeom prst="rect">
            <a:avLst/>
          </a:prstGeom>
          <a:noFill/>
          <a:ln/>
        </p:spPr>
        <p:txBody>
          <a:bodyPr wrap="square" lIns="0" tIns="0" rIns="0" bIns="0" rtlCol="0" anchor="t"/>
          <a:lstStyle/>
          <a:p>
            <a:pPr algn="l" indent="0" marL="0">
              <a:lnSpc>
                <a:spcPts val="1850"/>
              </a:lnSpc>
              <a:buNone/>
            </a:pPr>
            <a:r>
              <a:rPr lang="en-US" sz="1150" dirty="0">
                <a:solidFill>
                  <a:srgbClr val="405449"/>
                </a:solidFill>
                <a:latin typeface="Nobile" pitchFamily="34" charset="0"/>
                <a:ea typeface="Nobile" pitchFamily="34" charset="-122"/>
                <a:cs typeface="Nobile" pitchFamily="34" charset="-120"/>
              </a:rPr>
              <a:t>Master </a:t>
            </a:r>
            <a:pPr algn="l" indent="0" marL="0">
              <a:lnSpc>
                <a:spcPts val="1850"/>
              </a:lnSpc>
              <a:buNone/>
            </a:pPr>
            <a:r>
              <a:rPr lang="en-US" sz="1150" dirty="0">
                <a:solidFill>
                  <a:srgbClr val="438951"/>
                </a:solidFill>
                <a:latin typeface="Nobile" pitchFamily="34" charset="0"/>
                <a:ea typeface="Nobile" pitchFamily="34" charset="-122"/>
                <a:cs typeface="Nobile" pitchFamily="34" charset="-120"/>
              </a:rPr>
              <a:t>Indexes, Sourcetypes, and Events</a:t>
            </a:r>
            <a:pPr algn="l" indent="0" marL="0">
              <a:lnSpc>
                <a:spcPts val="1850"/>
              </a:lnSpc>
              <a:buNone/>
            </a:pPr>
            <a:r>
              <a:rPr lang="en-US" sz="1150" dirty="0">
                <a:solidFill>
                  <a:srgbClr val="405449"/>
                </a:solidFill>
                <a:latin typeface="Nobile" pitchFamily="34" charset="0"/>
                <a:ea typeface="Nobile" pitchFamily="34" charset="-122"/>
                <a:cs typeface="Nobile" pitchFamily="34" charset="-120"/>
              </a:rPr>
              <a:t> to effectively organize data, optimize parsing, and create powerful searches for actionable insights.</a:t>
            </a:r>
            <a:endParaRPr lang="en-US" sz="1150" dirty="0"/>
          </a:p>
        </p:txBody>
      </p:sp>
      <p:sp>
        <p:nvSpPr>
          <p:cNvPr id="14" name="Shape 11"/>
          <p:cNvSpPr/>
          <p:nvPr/>
        </p:nvSpPr>
        <p:spPr>
          <a:xfrm>
            <a:off x="6280190" y="6186249"/>
            <a:ext cx="334923" cy="334923"/>
          </a:xfrm>
          <a:prstGeom prst="roundRect">
            <a:avLst>
              <a:gd name="adj" fmla="val 40000"/>
            </a:avLst>
          </a:prstGeom>
          <a:solidFill>
            <a:srgbClr val="E8F3E8"/>
          </a:solidFill>
          <a:ln/>
        </p:spPr>
      </p:sp>
      <p:sp>
        <p:nvSpPr>
          <p:cNvPr id="15" name="Text 12"/>
          <p:cNvSpPr/>
          <p:nvPr/>
        </p:nvSpPr>
        <p:spPr>
          <a:xfrm>
            <a:off x="6763941" y="6237327"/>
            <a:ext cx="1860590" cy="232529"/>
          </a:xfrm>
          <a:prstGeom prst="rect">
            <a:avLst/>
          </a:prstGeom>
          <a:noFill/>
          <a:ln/>
        </p:spPr>
        <p:txBody>
          <a:bodyPr wrap="none" lIns="0" tIns="0" rIns="0" bIns="0" rtlCol="0" anchor="t"/>
          <a:lstStyle/>
          <a:p>
            <a:pPr algn="l" indent="0" marL="0">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Enterprise Ready</a:t>
            </a:r>
            <a:endParaRPr lang="en-US" sz="1450" dirty="0"/>
          </a:p>
        </p:txBody>
      </p:sp>
      <p:sp>
        <p:nvSpPr>
          <p:cNvPr id="16" name="Text 13"/>
          <p:cNvSpPr/>
          <p:nvPr/>
        </p:nvSpPr>
        <p:spPr>
          <a:xfrm>
            <a:off x="6763941" y="6559153"/>
            <a:ext cx="7072670" cy="476250"/>
          </a:xfrm>
          <a:prstGeom prst="rect">
            <a:avLst/>
          </a:prstGeom>
          <a:noFill/>
          <a:ln/>
        </p:spPr>
        <p:txBody>
          <a:bodyPr wrap="square" lIns="0" tIns="0" rIns="0" bIns="0" rtlCol="0" anchor="t"/>
          <a:lstStyle/>
          <a:p>
            <a:pPr algn="l" indent="0" marL="0">
              <a:lnSpc>
                <a:spcPts val="1850"/>
              </a:lnSpc>
              <a:buNone/>
            </a:pPr>
            <a:r>
              <a:rPr lang="en-US" sz="1150" dirty="0">
                <a:solidFill>
                  <a:srgbClr val="405449"/>
                </a:solidFill>
                <a:latin typeface="Nobile" pitchFamily="34" charset="0"/>
                <a:ea typeface="Nobile" pitchFamily="34" charset="-122"/>
                <a:cs typeface="Nobile" pitchFamily="34" charset="-120"/>
              </a:rPr>
              <a:t>Clustering, load balancing, and scaling capabilities support </a:t>
            </a:r>
            <a:pPr algn="l" indent="0" marL="0">
              <a:lnSpc>
                <a:spcPts val="1850"/>
              </a:lnSpc>
              <a:buNone/>
            </a:pPr>
            <a:r>
              <a:rPr lang="en-US" sz="1150" dirty="0">
                <a:solidFill>
                  <a:srgbClr val="438951"/>
                </a:solidFill>
                <a:latin typeface="Nobile" pitchFamily="34" charset="0"/>
                <a:ea typeface="Nobile" pitchFamily="34" charset="-122"/>
                <a:cs typeface="Nobile" pitchFamily="34" charset="-120"/>
              </a:rPr>
              <a:t>high availability, performance, and growth</a:t>
            </a:r>
            <a:pPr algn="l" indent="0" marL="0">
              <a:lnSpc>
                <a:spcPts val="1850"/>
              </a:lnSpc>
              <a:buNone/>
            </a:pPr>
            <a:r>
              <a:rPr lang="en-US" sz="1150" dirty="0">
                <a:solidFill>
                  <a:srgbClr val="405449"/>
                </a:solidFill>
                <a:latin typeface="Nobile" pitchFamily="34" charset="0"/>
                <a:ea typeface="Nobile" pitchFamily="34" charset="-122"/>
                <a:cs typeface="Nobile" pitchFamily="34" charset="-120"/>
              </a:rPr>
              <a:t> for mission-critical deployments.</a:t>
            </a:r>
            <a:endParaRPr lang="en-US" sz="1150" dirty="0"/>
          </a:p>
        </p:txBody>
      </p:sp>
      <p:sp>
        <p:nvSpPr>
          <p:cNvPr id="17" name="Text 14"/>
          <p:cNvSpPr/>
          <p:nvPr/>
        </p:nvSpPr>
        <p:spPr>
          <a:xfrm>
            <a:off x="6280190" y="7202805"/>
            <a:ext cx="7556421" cy="476250"/>
          </a:xfrm>
          <a:prstGeom prst="rect">
            <a:avLst/>
          </a:prstGeom>
          <a:noFill/>
          <a:ln/>
        </p:spPr>
        <p:txBody>
          <a:bodyPr wrap="square" lIns="0" tIns="0" rIns="0" bIns="0" rtlCol="0" anchor="t"/>
          <a:lstStyle/>
          <a:p>
            <a:pPr algn="ctr" indent="0" marL="0">
              <a:lnSpc>
                <a:spcPts val="1850"/>
              </a:lnSpc>
              <a:buNone/>
            </a:pPr>
            <a:r>
              <a:rPr lang="en-US" sz="1150" dirty="0">
                <a:solidFill>
                  <a:srgbClr val="405449"/>
                </a:solidFill>
                <a:latin typeface="Nobile" pitchFamily="34" charset="0"/>
                <a:ea typeface="Nobile" pitchFamily="34" charset="-122"/>
                <a:cs typeface="Nobile" pitchFamily="34" charset="-120"/>
              </a:rPr>
              <a:t>Ready to transform your machine data into operational intelligence and business insights through Splunk's powerful architecture.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2025-09-16T11:55:40Z</dcterms:created>
  <dcterms:modified xsi:type="dcterms:W3CDTF">2025-09-16T11:55:40Z</dcterms:modified>
</cp:coreProperties>
</file>