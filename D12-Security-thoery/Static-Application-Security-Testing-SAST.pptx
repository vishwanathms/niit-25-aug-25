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4630400" cy="8229600"/>
  <p:notesSz cx="8229600" cy="14630400"/>
  <p:embeddedFontLst>
    <p:embeddedFont>
      <p:font typeface="Fraunces Extra Bold"/>
      <p:regular r:id="rId22"/>
    </p:embeddedFont>
    <p:embeddedFont>
      <p:font typeface="Fraunces Extra Bold"/>
      <p:regular r:id="rId23"/>
    </p:embeddedFont>
    <p:embeddedFont>
      <p:font typeface="Nobile"/>
      <p:regular r:id="rId24"/>
    </p:embeddedFont>
    <p:embeddedFont>
      <p:font typeface="Nobile"/>
      <p:regular r:id="rId25"/>
    </p:embeddedFont>
    <p:embeddedFont>
      <p:font typeface="Nobile"/>
      <p:regular r:id="rId26"/>
    </p:embeddedFont>
    <p:embeddedFont>
      <p:font typeface="Nobile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font" Target="fonts/font1.fntdata"/><Relationship Id="rId23" Type="http://schemas.openxmlformats.org/officeDocument/2006/relationships/font" Target="fonts/font2.fntdata"/><Relationship Id="rId24" Type="http://schemas.openxmlformats.org/officeDocument/2006/relationships/font" Target="fonts/font3.fntdata"/><Relationship Id="rId25" Type="http://schemas.openxmlformats.org/officeDocument/2006/relationships/font" Target="fonts/font4.fntdata"/><Relationship Id="rId26" Type="http://schemas.openxmlformats.org/officeDocument/2006/relationships/font" Target="fonts/font5.fntdata"/><Relationship Id="rId2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43895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187065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Static Application Security Testing (SAST)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724876"/>
            <a:ext cx="75564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Mastering automated security analysis for secure development workflows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5767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Today's Journey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9268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707005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2851904"/>
            <a:ext cx="255186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SAST Fundamentals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3281124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Understanding static analysis and its security benefits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414379" y="239268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414379" y="2707005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9" name="Text 7"/>
          <p:cNvSpPr/>
          <p:nvPr/>
        </p:nvSpPr>
        <p:spPr>
          <a:xfrm>
            <a:off x="7414379" y="285190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Tool Ecosystem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414379" y="3281124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SonarQube, Semgrep, and CodeQL comparison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93790" y="394585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4260175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3" name="Text 11"/>
          <p:cNvSpPr/>
          <p:nvPr/>
        </p:nvSpPr>
        <p:spPr>
          <a:xfrm>
            <a:off x="793790" y="44050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CI/CD Integration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93790" y="4834295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Seamless pipeline integration patterns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414379" y="394585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14379" y="4260175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7" name="Text 15"/>
          <p:cNvSpPr/>
          <p:nvPr/>
        </p:nvSpPr>
        <p:spPr>
          <a:xfrm>
            <a:off x="7414379" y="440507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Custom Rules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414379" y="4834295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Writing tailored security policies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93790" y="549902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793790" y="5813346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1" name="Text 19"/>
          <p:cNvSpPr/>
          <p:nvPr/>
        </p:nvSpPr>
        <p:spPr>
          <a:xfrm>
            <a:off x="793790" y="5958245"/>
            <a:ext cx="26425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Results Management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93790" y="6387465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Triaging findings and reducing false positives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414379" y="5499021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06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7414379" y="5813346"/>
            <a:ext cx="6422231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25" name="Text 23"/>
          <p:cNvSpPr/>
          <p:nvPr/>
        </p:nvSpPr>
        <p:spPr>
          <a:xfrm>
            <a:off x="7414379" y="59582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Automation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414379" y="6387465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remediation and developer enablement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447" y="495300"/>
            <a:ext cx="4503182" cy="5628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What is SAST?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20447" y="1490305"/>
            <a:ext cx="7737872" cy="864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Static Application Security Testing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analyzes source code, bytecode, or binaries to detect vulnerabilities without executing the program. It's a white-box security method designed for early detection in the Software Development Life Cycle.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20447" y="2516743"/>
            <a:ext cx="7737872" cy="864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SAST provides tremendous value by finding critical issues like injection attacks, cross-site scripting (XSS), hard-coded secrets, and insecure APIs before deployment. It aligns with OWASP and CWE standards for comprehensive, policy-driven security scanning.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5280" y="1530787"/>
            <a:ext cx="5012174" cy="50121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0447" y="6948011"/>
            <a:ext cx="4276487" cy="1325642"/>
          </a:xfrm>
          <a:prstGeom prst="roundRect">
            <a:avLst>
              <a:gd name="adj" fmla="val 12229"/>
            </a:avLst>
          </a:prstGeom>
          <a:solidFill>
            <a:srgbClr val="E8F3E8"/>
          </a:solidFill>
          <a:ln/>
        </p:spPr>
      </p:sp>
      <p:sp>
        <p:nvSpPr>
          <p:cNvPr id="7" name="Text 4"/>
          <p:cNvSpPr/>
          <p:nvPr/>
        </p:nvSpPr>
        <p:spPr>
          <a:xfrm>
            <a:off x="900470" y="7128034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Early Detection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00470" y="7517368"/>
            <a:ext cx="3916442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Catches vulnerabilities during development, not production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176957" y="6948011"/>
            <a:ext cx="4276487" cy="1325642"/>
          </a:xfrm>
          <a:prstGeom prst="roundRect">
            <a:avLst>
              <a:gd name="adj" fmla="val 12229"/>
            </a:avLst>
          </a:prstGeom>
          <a:solidFill>
            <a:srgbClr val="E8F3E8"/>
          </a:solidFill>
          <a:ln/>
        </p:spPr>
      </p:sp>
      <p:sp>
        <p:nvSpPr>
          <p:cNvPr id="10" name="Text 7"/>
          <p:cNvSpPr/>
          <p:nvPr/>
        </p:nvSpPr>
        <p:spPr>
          <a:xfrm>
            <a:off x="5356979" y="7128034"/>
            <a:ext cx="2251591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Precise Location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5356979" y="7517368"/>
            <a:ext cx="3916442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Identifies exact vulnerable code lines with root cause analysis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9633466" y="6948011"/>
            <a:ext cx="4276487" cy="1325642"/>
          </a:xfrm>
          <a:prstGeom prst="roundRect">
            <a:avLst>
              <a:gd name="adj" fmla="val 12229"/>
            </a:avLst>
          </a:prstGeom>
          <a:solidFill>
            <a:srgbClr val="E8F3E8"/>
          </a:solidFill>
          <a:ln/>
        </p:spPr>
      </p:sp>
      <p:sp>
        <p:nvSpPr>
          <p:cNvPr id="13" name="Text 10"/>
          <p:cNvSpPr/>
          <p:nvPr/>
        </p:nvSpPr>
        <p:spPr>
          <a:xfrm>
            <a:off x="9813488" y="7128034"/>
            <a:ext cx="2291120" cy="281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Developer Feedback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9813488" y="7517368"/>
            <a:ext cx="3916442" cy="576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Accelerates security awareness through pull request integration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95695"/>
            <a:ext cx="848248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How SAST Works Under the Hood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812607"/>
            <a:ext cx="992267" cy="1190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84415" y="201096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Code Parsing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984415" y="2440186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Converts source code into Abstract Syntax Trees (AST) and Control Flow Graphs (CFG) for structural analysis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3003352"/>
            <a:ext cx="992267" cy="11907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84415" y="320171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Flow Analysis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1984415" y="3630930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Performs control-flow and data-flow analysis with taint tracking from sources to sinks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194096"/>
            <a:ext cx="992267" cy="11907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984415" y="43924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Rule Application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984415" y="4821674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Applies security rules and policies through pattern matching and semantic analysis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84840"/>
            <a:ext cx="992267" cy="119074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984415" y="5583198"/>
            <a:ext cx="257115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Findings Generation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1984415" y="6012418"/>
            <a:ext cx="1185219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Produces detailed findings with precise locations and remediation guidance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793790" y="679882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Effectiveness depends on rule quality, language support, and build configuration. SAST works across many programming languages but requires proper framework understanding and configuration for optimal results.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32466"/>
            <a:ext cx="605111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SAST Tools Comparison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649379"/>
            <a:ext cx="4215289" cy="3947636"/>
          </a:xfrm>
          <a:prstGeom prst="roundRect">
            <a:avLst>
              <a:gd name="adj" fmla="val 4525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6650" y="2672239"/>
            <a:ext cx="4169569" cy="595313"/>
          </a:xfrm>
          <a:prstGeom prst="roundRect">
            <a:avLst>
              <a:gd name="adj" fmla="val 25398"/>
            </a:avLst>
          </a:prstGeom>
          <a:solidFill>
            <a:srgbClr val="E8F3E8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2606" y="2783800"/>
            <a:ext cx="297656" cy="3720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5008" y="34659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SonarQube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015008" y="3895130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Platform: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Combines SAST with code quality analysis, technical debt tracking, and reliability metrics.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015008" y="5284351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Quality gates for governance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015008" y="5671304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Broad build system integration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15008" y="6058257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Enterprise-grade reporting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207437" y="2649379"/>
            <a:ext cx="4215408" cy="3947636"/>
          </a:xfrm>
          <a:prstGeom prst="roundRect">
            <a:avLst>
              <a:gd name="adj" fmla="val 4525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230297" y="2672239"/>
            <a:ext cx="4169688" cy="595313"/>
          </a:xfrm>
          <a:prstGeom prst="roundRect">
            <a:avLst>
              <a:gd name="adj" fmla="val 25398"/>
            </a:avLst>
          </a:prstGeom>
          <a:solidFill>
            <a:srgbClr val="E8F3E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6253" y="2783800"/>
            <a:ext cx="297656" cy="37207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8655" y="34659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Semgrep</a:t>
            </a:r>
            <a:endParaRPr lang="en-US" sz="1950" dirty="0"/>
          </a:p>
        </p:txBody>
      </p:sp>
      <p:sp>
        <p:nvSpPr>
          <p:cNvPr id="15" name="Text 11"/>
          <p:cNvSpPr/>
          <p:nvPr/>
        </p:nvSpPr>
        <p:spPr>
          <a:xfrm>
            <a:off x="5428655" y="3895130"/>
            <a:ext cx="377297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Developer-Centric: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Fast, pattern-based analysis with easy YAML rule creation and community-driven rule registry.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5428655" y="5284351"/>
            <a:ext cx="37729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Simple YAML rule syntax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5428655" y="5671304"/>
            <a:ext cx="37729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Autofix capabilities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5428655" y="6058257"/>
            <a:ext cx="377297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Multi-language support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9621203" y="2649379"/>
            <a:ext cx="4215289" cy="3947636"/>
          </a:xfrm>
          <a:prstGeom prst="roundRect">
            <a:avLst>
              <a:gd name="adj" fmla="val 4525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644063" y="2672239"/>
            <a:ext cx="4169569" cy="595313"/>
          </a:xfrm>
          <a:prstGeom prst="roundRect">
            <a:avLst>
              <a:gd name="adj" fmla="val 25398"/>
            </a:avLst>
          </a:prstGeom>
          <a:solidFill>
            <a:srgbClr val="E8F3E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80019" y="2783800"/>
            <a:ext cx="297656" cy="37207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842421" y="346590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CodeQL</a:t>
            </a:r>
            <a:endParaRPr lang="en-US" sz="1950" dirty="0"/>
          </a:p>
        </p:txBody>
      </p:sp>
      <p:sp>
        <p:nvSpPr>
          <p:cNvPr id="23" name="Text 18"/>
          <p:cNvSpPr/>
          <p:nvPr/>
        </p:nvSpPr>
        <p:spPr>
          <a:xfrm>
            <a:off x="9842421" y="3895130"/>
            <a:ext cx="377285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Query-Based Analysis: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Powerful semantic analysis using QL query language for custom security research and variant analysis.</a:t>
            </a:r>
            <a:endParaRPr lang="en-US" sz="1550" dirty="0"/>
          </a:p>
        </p:txBody>
      </p:sp>
      <p:sp>
        <p:nvSpPr>
          <p:cNvPr id="24" name="Text 19"/>
          <p:cNvSpPr/>
          <p:nvPr/>
        </p:nvSpPr>
        <p:spPr>
          <a:xfrm>
            <a:off x="9842421" y="5284351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Deep dataflow modeling</a:t>
            </a:r>
            <a:endParaRPr lang="en-US" sz="1550" dirty="0"/>
          </a:p>
        </p:txBody>
      </p:sp>
      <p:sp>
        <p:nvSpPr>
          <p:cNvPr id="25" name="Text 20"/>
          <p:cNvSpPr/>
          <p:nvPr/>
        </p:nvSpPr>
        <p:spPr>
          <a:xfrm>
            <a:off x="9842421" y="5671304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GitHub-native integration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9842421" y="6058257"/>
            <a:ext cx="377285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Advanced taint tracking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08752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5813" y="2627709"/>
            <a:ext cx="5819775" cy="5218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100"/>
              </a:lnSpc>
              <a:buNone/>
            </a:pPr>
            <a:r>
              <a:rPr lang="en-US" sz="32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CI/CD Integration Patterns</a:t>
            </a:r>
            <a:endParaRPr lang="en-US" sz="3250" dirty="0"/>
          </a:p>
        </p:txBody>
      </p:sp>
      <p:sp>
        <p:nvSpPr>
          <p:cNvPr id="4" name="Shape 1"/>
          <p:cNvSpPr/>
          <p:nvPr/>
        </p:nvSpPr>
        <p:spPr>
          <a:xfrm>
            <a:off x="785813" y="4963239"/>
            <a:ext cx="13058775" cy="22860"/>
          </a:xfrm>
          <a:prstGeom prst="roundRect">
            <a:avLst>
              <a:gd name="adj" fmla="val 657488"/>
            </a:avLst>
          </a:prstGeom>
          <a:solidFill>
            <a:srgbClr val="CED9CE"/>
          </a:solidFill>
          <a:ln/>
        </p:spPr>
      </p:sp>
      <p:sp>
        <p:nvSpPr>
          <p:cNvPr id="5" name="Shape 2"/>
          <p:cNvSpPr/>
          <p:nvPr/>
        </p:nvSpPr>
        <p:spPr>
          <a:xfrm>
            <a:off x="3323392" y="4462403"/>
            <a:ext cx="22860" cy="500896"/>
          </a:xfrm>
          <a:prstGeom prst="roundRect">
            <a:avLst>
              <a:gd name="adj" fmla="val 657488"/>
            </a:avLst>
          </a:prstGeom>
          <a:solidFill>
            <a:srgbClr val="CED9CE"/>
          </a:solidFill>
          <a:ln/>
        </p:spPr>
      </p:sp>
      <p:sp>
        <p:nvSpPr>
          <p:cNvPr id="6" name="Shape 3"/>
          <p:cNvSpPr/>
          <p:nvPr/>
        </p:nvSpPr>
        <p:spPr>
          <a:xfrm>
            <a:off x="3147060" y="4775418"/>
            <a:ext cx="375642" cy="375642"/>
          </a:xfrm>
          <a:prstGeom prst="roundRect">
            <a:avLst>
              <a:gd name="adj" fmla="val 40012"/>
            </a:avLst>
          </a:prstGeom>
          <a:solidFill>
            <a:srgbClr val="E8F3E8"/>
          </a:solidFill>
          <a:ln/>
        </p:spPr>
      </p:sp>
      <p:sp>
        <p:nvSpPr>
          <p:cNvPr id="7" name="Text 4"/>
          <p:cNvSpPr/>
          <p:nvPr/>
        </p:nvSpPr>
        <p:spPr>
          <a:xfrm>
            <a:off x="3209627" y="4806672"/>
            <a:ext cx="25038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2291120" y="3399949"/>
            <a:ext cx="2087523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Pre-commit Hooks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52738" y="3760946"/>
            <a:ext cx="4764405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Quick security checks before code commits to catch obvious issues early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76818" y="4963180"/>
            <a:ext cx="22860" cy="500896"/>
          </a:xfrm>
          <a:prstGeom prst="roundRect">
            <a:avLst>
              <a:gd name="adj" fmla="val 657488"/>
            </a:avLst>
          </a:prstGeom>
          <a:solidFill>
            <a:srgbClr val="CED9CE"/>
          </a:solidFill>
          <a:ln/>
        </p:spPr>
      </p:sp>
      <p:sp>
        <p:nvSpPr>
          <p:cNvPr id="11" name="Shape 8"/>
          <p:cNvSpPr/>
          <p:nvPr/>
        </p:nvSpPr>
        <p:spPr>
          <a:xfrm>
            <a:off x="5800487" y="4775418"/>
            <a:ext cx="375642" cy="375642"/>
          </a:xfrm>
          <a:prstGeom prst="roundRect">
            <a:avLst>
              <a:gd name="adj" fmla="val 40012"/>
            </a:avLst>
          </a:prstGeom>
          <a:solidFill>
            <a:srgbClr val="E8F3E8"/>
          </a:solidFill>
          <a:ln/>
        </p:spPr>
      </p:sp>
      <p:sp>
        <p:nvSpPr>
          <p:cNvPr id="12" name="Text 9"/>
          <p:cNvSpPr/>
          <p:nvPr/>
        </p:nvSpPr>
        <p:spPr>
          <a:xfrm>
            <a:off x="5863054" y="4806672"/>
            <a:ext cx="25038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4798933" y="5631180"/>
            <a:ext cx="2378869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Pull Request Scanning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606165" y="5992178"/>
            <a:ext cx="4764405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Comprehensive analysis with developer feedback through inline comments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30364" y="4462403"/>
            <a:ext cx="22860" cy="500896"/>
          </a:xfrm>
          <a:prstGeom prst="roundRect">
            <a:avLst>
              <a:gd name="adj" fmla="val 657488"/>
            </a:avLst>
          </a:prstGeom>
          <a:solidFill>
            <a:srgbClr val="CED9CE"/>
          </a:solidFill>
          <a:ln/>
        </p:spPr>
      </p:sp>
      <p:sp>
        <p:nvSpPr>
          <p:cNvPr id="16" name="Shape 13"/>
          <p:cNvSpPr/>
          <p:nvPr/>
        </p:nvSpPr>
        <p:spPr>
          <a:xfrm>
            <a:off x="8454033" y="4775418"/>
            <a:ext cx="375642" cy="375642"/>
          </a:xfrm>
          <a:prstGeom prst="roundRect">
            <a:avLst>
              <a:gd name="adj" fmla="val 40012"/>
            </a:avLst>
          </a:prstGeom>
          <a:solidFill>
            <a:srgbClr val="E8F3E8"/>
          </a:solidFill>
          <a:ln/>
        </p:spPr>
      </p:sp>
      <p:sp>
        <p:nvSpPr>
          <p:cNvPr id="17" name="Text 14"/>
          <p:cNvSpPr/>
          <p:nvPr/>
        </p:nvSpPr>
        <p:spPr>
          <a:xfrm>
            <a:off x="8516600" y="4806672"/>
            <a:ext cx="25038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7598092" y="3399949"/>
            <a:ext cx="2087523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CI Pipeline Gates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259711" y="3760946"/>
            <a:ext cx="4764405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Automated gatekeeping that fails builds on High/Critical findings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11283791" y="4963180"/>
            <a:ext cx="22860" cy="500896"/>
          </a:xfrm>
          <a:prstGeom prst="roundRect">
            <a:avLst>
              <a:gd name="adj" fmla="val 657488"/>
            </a:avLst>
          </a:prstGeom>
          <a:solidFill>
            <a:srgbClr val="CED9CE"/>
          </a:solidFill>
          <a:ln/>
        </p:spPr>
      </p:sp>
      <p:sp>
        <p:nvSpPr>
          <p:cNvPr id="21" name="Shape 18"/>
          <p:cNvSpPr/>
          <p:nvPr/>
        </p:nvSpPr>
        <p:spPr>
          <a:xfrm>
            <a:off x="11107460" y="4775418"/>
            <a:ext cx="375642" cy="375642"/>
          </a:xfrm>
          <a:prstGeom prst="roundRect">
            <a:avLst>
              <a:gd name="adj" fmla="val 40012"/>
            </a:avLst>
          </a:prstGeom>
          <a:solidFill>
            <a:srgbClr val="E8F3E8"/>
          </a:solidFill>
          <a:ln/>
        </p:spPr>
      </p:sp>
      <p:sp>
        <p:nvSpPr>
          <p:cNvPr id="22" name="Text 19"/>
          <p:cNvSpPr/>
          <p:nvPr/>
        </p:nvSpPr>
        <p:spPr>
          <a:xfrm>
            <a:off x="11170027" y="4806672"/>
            <a:ext cx="250388" cy="313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4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10251519" y="5631180"/>
            <a:ext cx="2087523" cy="260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Scheduled Scans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913138" y="5992178"/>
            <a:ext cx="4764405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Full repository analysis on default branch for comprehensive coverage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785813" y="6714292"/>
            <a:ext cx="13058775" cy="976670"/>
          </a:xfrm>
          <a:prstGeom prst="roundRect">
            <a:avLst>
              <a:gd name="adj" fmla="val 15389"/>
            </a:avLst>
          </a:prstGeom>
          <a:solidFill>
            <a:srgbClr val="438951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738" y="6959679"/>
            <a:ext cx="208717" cy="166926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328380" y="6922889"/>
            <a:ext cx="12349282" cy="534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Best Practice:</a:t>
            </a:r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Fail on High/Critical findings, allow warnings on Medium/Low. Cache rules and parallelize by language for optimal performance. Maintain audit trails in pipeline logs for governance.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97148"/>
            <a:ext cx="7499985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Writing Custom Semgrep Rules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793790" y="2057519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Rule Structure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93790" y="2622947"/>
            <a:ext cx="3548182" cy="2696289"/>
          </a:xfrm>
          <a:prstGeom prst="roundRect">
            <a:avLst>
              <a:gd name="adj" fmla="val 6294"/>
            </a:avLst>
          </a:prstGeom>
          <a:solidFill>
            <a:srgbClr val="EDF2ED"/>
          </a:solidFill>
          <a:ln/>
        </p:spPr>
      </p:sp>
      <p:sp>
        <p:nvSpPr>
          <p:cNvPr id="6" name="Shape 3"/>
          <p:cNvSpPr/>
          <p:nvPr/>
        </p:nvSpPr>
        <p:spPr>
          <a:xfrm>
            <a:off x="784384" y="2622947"/>
            <a:ext cx="3566993" cy="2696289"/>
          </a:xfrm>
          <a:prstGeom prst="roundRect">
            <a:avLst>
              <a:gd name="adj" fmla="val 1049"/>
            </a:avLst>
          </a:prstGeom>
          <a:solidFill>
            <a:srgbClr val="EDF2ED"/>
          </a:solidFill>
          <a:ln/>
        </p:spPr>
      </p:sp>
      <p:sp>
        <p:nvSpPr>
          <p:cNvPr id="7" name="Text 4"/>
          <p:cNvSpPr/>
          <p:nvPr/>
        </p:nvSpPr>
        <p:spPr>
          <a:xfrm>
            <a:off x="972860" y="2764274"/>
            <a:ext cx="3190042" cy="2413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rules:  - id: detect-md5-usage    message: "MD5 is cryptographically broken"    severity: HIGH    languages: [python]    pattern: hashlib.md5(...)    fix: hashlib.sha256(...)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3790" y="5531287"/>
            <a:ext cx="3548182" cy="15313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Semgrep uses YAML with intuitive pattern matching. Compose complex rules with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pattern-either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pattern-not</a:t>
            </a:r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, and metavariables for flexible detection.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809649" y="2057519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Advanced Patterns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809649" y="2622947"/>
            <a:ext cx="3548182" cy="2696289"/>
          </a:xfrm>
          <a:prstGeom prst="roundRect">
            <a:avLst>
              <a:gd name="adj" fmla="val 6294"/>
            </a:avLst>
          </a:prstGeom>
          <a:solidFill>
            <a:srgbClr val="EDF2ED"/>
          </a:solidFill>
          <a:ln/>
        </p:spPr>
      </p:sp>
      <p:sp>
        <p:nvSpPr>
          <p:cNvPr id="11" name="Shape 8"/>
          <p:cNvSpPr/>
          <p:nvPr/>
        </p:nvSpPr>
        <p:spPr>
          <a:xfrm>
            <a:off x="4800243" y="2622947"/>
            <a:ext cx="3566993" cy="2696289"/>
          </a:xfrm>
          <a:prstGeom prst="roundRect">
            <a:avLst>
              <a:gd name="adj" fmla="val 1049"/>
            </a:avLst>
          </a:prstGeom>
          <a:solidFill>
            <a:srgbClr val="EDF2ED"/>
          </a:solidFill>
          <a:ln/>
        </p:spPr>
      </p:sp>
      <p:sp>
        <p:nvSpPr>
          <p:cNvPr id="12" name="Text 9"/>
          <p:cNvSpPr/>
          <p:nvPr/>
        </p:nvSpPr>
        <p:spPr>
          <a:xfrm>
            <a:off x="4988719" y="2764274"/>
            <a:ext cx="3190042" cy="2413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pattern-either:  - pattern: os.system($CMD)  - pattern: subprocess.call($CMD, shell=True)pattern-not:  - pattern-inside: |      if validate_input($CMD):        ...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4809649" y="5531287"/>
            <a:ext cx="3548182" cy="1206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path filters for monorepos and regex for complex string matching. Autofix enables safe automatic remediation for simple security issues.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29151"/>
            <a:ext cx="736163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CodeQL Query Fundamentals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46064"/>
            <a:ext cx="13042821" cy="650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CodeQL uses a powerful query language for semantic code analysis. Queries follow 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from/where/select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structure with rich dataflow libraries.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719626"/>
            <a:ext cx="13042821" cy="1885355"/>
          </a:xfrm>
          <a:prstGeom prst="roundRect">
            <a:avLst>
              <a:gd name="adj" fmla="val 9474"/>
            </a:avLst>
          </a:prstGeom>
          <a:solidFill>
            <a:srgbClr val="EDF2ED"/>
          </a:solidFill>
          <a:ln/>
        </p:spPr>
      </p:sp>
      <p:sp>
        <p:nvSpPr>
          <p:cNvPr id="5" name="Shape 3"/>
          <p:cNvSpPr/>
          <p:nvPr/>
        </p:nvSpPr>
        <p:spPr>
          <a:xfrm>
            <a:off x="783908" y="2719626"/>
            <a:ext cx="13062585" cy="1885355"/>
          </a:xfrm>
          <a:prstGeom prst="roundRect">
            <a:avLst>
              <a:gd name="adj" fmla="val 1579"/>
            </a:avLst>
          </a:prstGeom>
          <a:solidFill>
            <a:srgbClr val="EDF2ED"/>
          </a:solidFill>
          <a:ln/>
        </p:spPr>
      </p:sp>
      <p:sp>
        <p:nvSpPr>
          <p:cNvPr id="6" name="Text 4"/>
          <p:cNvSpPr/>
          <p:nvPr/>
        </p:nvSpPr>
        <p:spPr>
          <a:xfrm>
            <a:off x="982266" y="2868454"/>
            <a:ext cx="1266586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pythonfrom Call call, Name funcwhere call.getFunc() = func and      func.getId() = "eval"select call, "Dangerous eval() call detected"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4828223"/>
            <a:ext cx="4215289" cy="2572226"/>
          </a:xfrm>
          <a:prstGeom prst="roundRect">
            <a:avLst>
              <a:gd name="adj" fmla="val 6944"/>
            </a:avLst>
          </a:prstGeom>
          <a:solidFill>
            <a:srgbClr val="E8F3E8"/>
          </a:solidFill>
          <a:ln/>
        </p:spPr>
      </p:sp>
      <p:sp>
        <p:nvSpPr>
          <p:cNvPr id="8" name="Shape 6"/>
          <p:cNvSpPr/>
          <p:nvPr/>
        </p:nvSpPr>
        <p:spPr>
          <a:xfrm>
            <a:off x="992148" y="502658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8951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859" y="5156716"/>
            <a:ext cx="267891" cy="33492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92148" y="58202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Query Structure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992148" y="624947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Declarative queries that treat code as a database with rich semantic relationships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5207437" y="4828223"/>
            <a:ext cx="4215408" cy="2572226"/>
          </a:xfrm>
          <a:prstGeom prst="roundRect">
            <a:avLst>
              <a:gd name="adj" fmla="val 6944"/>
            </a:avLst>
          </a:prstGeom>
          <a:solidFill>
            <a:srgbClr val="E8F3E8"/>
          </a:solidFill>
          <a:ln/>
        </p:spPr>
      </p:sp>
      <p:sp>
        <p:nvSpPr>
          <p:cNvPr id="13" name="Shape 10"/>
          <p:cNvSpPr/>
          <p:nvPr/>
        </p:nvSpPr>
        <p:spPr>
          <a:xfrm>
            <a:off x="5405795" y="502658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895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506" y="5156716"/>
            <a:ext cx="267891" cy="3349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05795" y="58202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Dataflow Libraries</a:t>
            </a:r>
            <a:endParaRPr lang="en-US" sz="1950" dirty="0"/>
          </a:p>
        </p:txBody>
      </p:sp>
      <p:sp>
        <p:nvSpPr>
          <p:cNvPr id="16" name="Text 12"/>
          <p:cNvSpPr/>
          <p:nvPr/>
        </p:nvSpPr>
        <p:spPr>
          <a:xfrm>
            <a:off x="5405795" y="6249472"/>
            <a:ext cx="381869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Built-in taint tracking across functions and modules for complex vulnerability detection</a:t>
            </a:r>
            <a:endParaRPr lang="en-US" sz="1550" dirty="0"/>
          </a:p>
        </p:txBody>
      </p:sp>
      <p:sp>
        <p:nvSpPr>
          <p:cNvPr id="17" name="Shape 13"/>
          <p:cNvSpPr/>
          <p:nvPr/>
        </p:nvSpPr>
        <p:spPr>
          <a:xfrm>
            <a:off x="9621203" y="4828223"/>
            <a:ext cx="4215289" cy="2572226"/>
          </a:xfrm>
          <a:prstGeom prst="roundRect">
            <a:avLst>
              <a:gd name="adj" fmla="val 6944"/>
            </a:avLst>
          </a:prstGeom>
          <a:solidFill>
            <a:srgbClr val="E8F3E8"/>
          </a:solidFill>
          <a:ln/>
        </p:spPr>
      </p:sp>
      <p:sp>
        <p:nvSpPr>
          <p:cNvPr id="18" name="Shape 14"/>
          <p:cNvSpPr/>
          <p:nvPr/>
        </p:nvSpPr>
        <p:spPr>
          <a:xfrm>
            <a:off x="9819561" y="5026581"/>
            <a:ext cx="595313" cy="595313"/>
          </a:xfrm>
          <a:prstGeom prst="roundRect">
            <a:avLst>
              <a:gd name="adj" fmla="val 15358451"/>
            </a:avLst>
          </a:prstGeom>
          <a:solidFill>
            <a:srgbClr val="43895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3272" y="5156716"/>
            <a:ext cx="267891" cy="33492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19561" y="58202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Sources &amp; Sinks</a:t>
            </a:r>
            <a:endParaRPr lang="en-US" sz="1950" dirty="0"/>
          </a:p>
        </p:txBody>
      </p:sp>
      <p:sp>
        <p:nvSpPr>
          <p:cNvPr id="21" name="Text 16"/>
          <p:cNvSpPr/>
          <p:nvPr/>
        </p:nvSpPr>
        <p:spPr>
          <a:xfrm>
            <a:off x="9819561" y="6249472"/>
            <a:ext cx="381857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untrusted input sources and sensitive operation sinks for comprehensive analysis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16863"/>
            <a:ext cx="5948720" cy="434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Interpreting and Triaging Results</a:t>
            </a:r>
            <a:endParaRPr lang="en-US" sz="2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328737"/>
            <a:ext cx="9129951" cy="494323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303383" y="6302454"/>
            <a:ext cx="138827" cy="138827"/>
          </a:xfrm>
          <a:prstGeom prst="roundRect">
            <a:avLst>
              <a:gd name="adj" fmla="val 13173"/>
            </a:avLst>
          </a:prstGeom>
          <a:solidFill>
            <a:srgbClr val="19331E"/>
          </a:solidFill>
          <a:ln/>
        </p:spPr>
      </p:sp>
      <p:sp>
        <p:nvSpPr>
          <p:cNvPr id="5" name="Text 2"/>
          <p:cNvSpPr/>
          <p:nvPr/>
        </p:nvSpPr>
        <p:spPr>
          <a:xfrm>
            <a:off x="2503170" y="6302454"/>
            <a:ext cx="458748" cy="13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Critical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3943231" y="6302454"/>
            <a:ext cx="138827" cy="138827"/>
          </a:xfrm>
          <a:prstGeom prst="roundRect">
            <a:avLst>
              <a:gd name="adj" fmla="val 13173"/>
            </a:avLst>
          </a:prstGeom>
          <a:solidFill>
            <a:srgbClr val="366E41"/>
          </a:solidFill>
          <a:ln/>
        </p:spPr>
      </p:sp>
      <p:sp>
        <p:nvSpPr>
          <p:cNvPr id="7" name="Text 4"/>
          <p:cNvSpPr/>
          <p:nvPr/>
        </p:nvSpPr>
        <p:spPr>
          <a:xfrm>
            <a:off x="4143018" y="6302454"/>
            <a:ext cx="310634" cy="13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High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146959" y="6302454"/>
            <a:ext cx="138827" cy="138827"/>
          </a:xfrm>
          <a:prstGeom prst="roundRect">
            <a:avLst>
              <a:gd name="adj" fmla="val 13173"/>
            </a:avLst>
          </a:prstGeom>
          <a:solidFill>
            <a:srgbClr val="52A863"/>
          </a:solidFill>
          <a:ln/>
        </p:spPr>
      </p:sp>
      <p:sp>
        <p:nvSpPr>
          <p:cNvPr id="9" name="Text 6"/>
          <p:cNvSpPr/>
          <p:nvPr/>
        </p:nvSpPr>
        <p:spPr>
          <a:xfrm>
            <a:off x="6346746" y="6302454"/>
            <a:ext cx="544354" cy="13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Medium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755493" y="6302454"/>
            <a:ext cx="138827" cy="138827"/>
          </a:xfrm>
          <a:prstGeom prst="roundRect">
            <a:avLst>
              <a:gd name="adj" fmla="val 13173"/>
            </a:avLst>
          </a:prstGeom>
          <a:solidFill>
            <a:srgbClr val="8BC696"/>
          </a:solidFill>
          <a:ln/>
        </p:spPr>
      </p:sp>
      <p:sp>
        <p:nvSpPr>
          <p:cNvPr id="11" name="Text 8"/>
          <p:cNvSpPr/>
          <p:nvPr/>
        </p:nvSpPr>
        <p:spPr>
          <a:xfrm>
            <a:off x="7955280" y="6302454"/>
            <a:ext cx="277178" cy="138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Low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793790" y="6597610"/>
            <a:ext cx="312539" cy="312539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13" name="Text 10"/>
          <p:cNvSpPr/>
          <p:nvPr/>
        </p:nvSpPr>
        <p:spPr>
          <a:xfrm>
            <a:off x="845820" y="6623625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245156" y="6645354"/>
            <a:ext cx="2009894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Prioritization Strategy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245156" y="6945749"/>
            <a:ext cx="3780473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Map findings to CWE classifications, assess exploitability and reachability. Focus on tainted paths reaching sensitive sinks first.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199221" y="6597610"/>
            <a:ext cx="312539" cy="312539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17" name="Text 14"/>
          <p:cNvSpPr/>
          <p:nvPr/>
        </p:nvSpPr>
        <p:spPr>
          <a:xfrm>
            <a:off x="5251252" y="6623625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650587" y="6645354"/>
            <a:ext cx="1819156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Developer Workflow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5650587" y="6945749"/>
            <a:ext cx="3780473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Provide inline PR annotations with remediation guidance. Assign to code owners with time-bound SLAs by severity level.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9604653" y="6597610"/>
            <a:ext cx="312539" cy="312539"/>
          </a:xfrm>
          <a:prstGeom prst="roundRect">
            <a:avLst>
              <a:gd name="adj" fmla="val 40007"/>
            </a:avLst>
          </a:prstGeom>
          <a:solidFill>
            <a:srgbClr val="E8F3E8"/>
          </a:solidFill>
          <a:ln/>
        </p:spPr>
      </p:sp>
      <p:sp>
        <p:nvSpPr>
          <p:cNvPr id="21" name="Text 18"/>
          <p:cNvSpPr/>
          <p:nvPr/>
        </p:nvSpPr>
        <p:spPr>
          <a:xfrm>
            <a:off x="9656683" y="6623625"/>
            <a:ext cx="208359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056019" y="6645354"/>
            <a:ext cx="1783080" cy="2170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Metrics &amp; Reporting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0056019" y="6945749"/>
            <a:ext cx="3780473" cy="666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0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Mean Time to Resolution (MTTR), false-positive rates, and coverage gaps to continuously refine rule effectiveness.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8090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267789"/>
            <a:ext cx="618910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Reducing False Positives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43838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Rule Tuning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793790" y="4892397"/>
            <a:ext cx="3979664" cy="332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Add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pattern-not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exclusions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93790" y="5294590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Scope to specific contexts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5681543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Reference framework sanitizers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6068497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Calibrate severity levels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265182" y="43838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Dataflow Accuracy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5265182" y="4892397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Model validation functions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5265182" y="5279350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Define custom sources/sinks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5265182" y="5666303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Avoid generic regex-only rules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5265182" y="6053257"/>
            <a:ext cx="39796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Use semantic analysis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9736574" y="4383881"/>
            <a:ext cx="291107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Process Improvements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9736574" y="4892397"/>
            <a:ext cx="41150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triage feedback loops</a:t>
            </a:r>
            <a:endParaRPr lang="en-US" sz="1550" dirty="0"/>
          </a:p>
        </p:txBody>
      </p:sp>
      <p:sp>
        <p:nvSpPr>
          <p:cNvPr id="16" name="Text 13"/>
          <p:cNvSpPr/>
          <p:nvPr/>
        </p:nvSpPr>
        <p:spPr>
          <a:xfrm>
            <a:off x="9736574" y="5279350"/>
            <a:ext cx="41150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Document accepted risks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9736574" y="5666303"/>
            <a:ext cx="41150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Exclude generated/vendor code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9736574" y="6053257"/>
            <a:ext cx="411503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Regular rule refinement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1091446" y="6901934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"The goal isn't zero false positives—it's achieving the right balance between security coverage and developer productivity."</a:t>
            </a:r>
            <a:endParaRPr lang="en-US" sz="1550" dirty="0"/>
          </a:p>
        </p:txBody>
      </p:sp>
      <p:sp>
        <p:nvSpPr>
          <p:cNvPr id="20" name="Shape 17"/>
          <p:cNvSpPr/>
          <p:nvPr/>
        </p:nvSpPr>
        <p:spPr>
          <a:xfrm>
            <a:off x="793790" y="6678692"/>
            <a:ext cx="22860" cy="764024"/>
          </a:xfrm>
          <a:prstGeom prst="rect">
            <a:avLst/>
          </a:prstGeom>
          <a:solidFill>
            <a:srgbClr val="438951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2132"/>
            <a:ext cx="953273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Automating Remediation Suggestions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839045"/>
            <a:ext cx="595313" cy="59531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37109" y="3006447"/>
            <a:ext cx="257472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Intelligent Guidance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637109" y="3435668"/>
            <a:ext cx="3338870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Provide contextual code examples and secure API references in rule messages. Include fix diffs for simple cases like cryptographic upgrades (MD5 → SHA256).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986" y="2839045"/>
            <a:ext cx="595313" cy="595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67306" y="300644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Policy-Driven Fixes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067306" y="3435668"/>
            <a:ext cx="33389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Enforce secure defaults in frameworks and add clear CI failure messages with step-by-step remediation instructions and secure API references.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302" y="2839045"/>
            <a:ext cx="595313" cy="5953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497622" y="3006447"/>
            <a:ext cx="285476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Developer Enablement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0497622" y="3435668"/>
            <a:ext cx="33389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PR comment bots with suggested changes, security-focused code review automation, and automatic code owner assignment for sensitive modules.</a:t>
            </a:r>
            <a:endParaRPr lang="en-US" sz="1550" dirty="0"/>
          </a:p>
        </p:txBody>
      </p:sp>
      <p:sp>
        <p:nvSpPr>
          <p:cNvPr id="12" name="Shape 7"/>
          <p:cNvSpPr/>
          <p:nvPr/>
        </p:nvSpPr>
        <p:spPr>
          <a:xfrm>
            <a:off x="793790" y="5246608"/>
            <a:ext cx="13042821" cy="1160740"/>
          </a:xfrm>
          <a:prstGeom prst="roundRect">
            <a:avLst>
              <a:gd name="adj" fmla="val 15389"/>
            </a:avLst>
          </a:prstGeom>
          <a:solidFill>
            <a:srgbClr val="438951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48" y="5534263"/>
            <a:ext cx="248007" cy="19835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38513" y="5494496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 Tip: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Start with safe, automated fixes for common issues like deprecated cryptographic functions, then gradually expand to more complex remediation patterns.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60187" y="534114"/>
            <a:ext cx="6792278" cy="4836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Live Demo: Semgrep Rule Creation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260187" y="1249799"/>
            <a:ext cx="3592473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Detecting Insecure MD5 Usage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6260187" y="1772007"/>
            <a:ext cx="7596426" cy="2460784"/>
          </a:xfrm>
          <a:prstGeom prst="roundRect">
            <a:avLst>
              <a:gd name="adj" fmla="val 5660"/>
            </a:avLst>
          </a:prstGeom>
          <a:solidFill>
            <a:srgbClr val="EDF2ED"/>
          </a:solidFill>
          <a:ln/>
        </p:spPr>
      </p:sp>
      <p:sp>
        <p:nvSpPr>
          <p:cNvPr id="6" name="Shape 3"/>
          <p:cNvSpPr/>
          <p:nvPr/>
        </p:nvSpPr>
        <p:spPr>
          <a:xfrm>
            <a:off x="6252567" y="1772007"/>
            <a:ext cx="7611666" cy="2460784"/>
          </a:xfrm>
          <a:prstGeom prst="roundRect">
            <a:avLst>
              <a:gd name="adj" fmla="val 943"/>
            </a:avLst>
          </a:prstGeom>
          <a:solidFill>
            <a:srgbClr val="EDF2ED"/>
          </a:solidFill>
          <a:ln/>
        </p:spPr>
      </p:sp>
      <p:sp>
        <p:nvSpPr>
          <p:cNvPr id="7" name="Text 4"/>
          <p:cNvSpPr/>
          <p:nvPr/>
        </p:nvSpPr>
        <p:spPr>
          <a:xfrm>
            <a:off x="6407229" y="1887974"/>
            <a:ext cx="7302341" cy="2228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rules:  - id: insecure-md5-usage    message: |      MD5 is cryptographically broken and should not be used.      Consider using SHA-256 instead: hashlib.sha256()    severity: HIGH    languages: [python]    pattern: hashlib.md5(...)    fix: hashlib.sha256(...)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60187" y="4464844"/>
            <a:ext cx="3523536" cy="290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TLS Verification Enforcement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260187" y="4987052"/>
            <a:ext cx="7596426" cy="2708434"/>
          </a:xfrm>
          <a:prstGeom prst="roundRect">
            <a:avLst>
              <a:gd name="adj" fmla="val 5143"/>
            </a:avLst>
          </a:prstGeom>
          <a:solidFill>
            <a:srgbClr val="EDF2ED"/>
          </a:solidFill>
          <a:ln/>
        </p:spPr>
      </p:sp>
      <p:sp>
        <p:nvSpPr>
          <p:cNvPr id="10" name="Shape 7"/>
          <p:cNvSpPr/>
          <p:nvPr/>
        </p:nvSpPr>
        <p:spPr>
          <a:xfrm>
            <a:off x="6252567" y="4987052"/>
            <a:ext cx="7611666" cy="2708434"/>
          </a:xfrm>
          <a:prstGeom prst="roundRect">
            <a:avLst>
              <a:gd name="adj" fmla="val 857"/>
            </a:avLst>
          </a:prstGeom>
          <a:solidFill>
            <a:srgbClr val="EDF2ED"/>
          </a:solidFill>
          <a:ln/>
        </p:spPr>
      </p:sp>
      <p:sp>
        <p:nvSpPr>
          <p:cNvPr id="11" name="Text 8"/>
          <p:cNvSpPr/>
          <p:nvPr/>
        </p:nvSpPr>
        <p:spPr>
          <a:xfrm>
            <a:off x="6407229" y="5103019"/>
            <a:ext cx="7302341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rules: - id: require-tls-verify message: "TLS verification must be enabled" severity: CRITICAL languages: [python] patterns: - pattern: requests.$METHOD(..., verify=False, ...) - pattern-not-inside: | # Allow in test files def test_$FUNC(...): ...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95613"/>
            <a:ext cx="714934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CI/CD Integration Examples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410182"/>
            <a:ext cx="4215289" cy="4723805"/>
          </a:xfrm>
          <a:prstGeom prst="roundRect">
            <a:avLst>
              <a:gd name="adj" fmla="val 2603"/>
            </a:avLst>
          </a:prstGeom>
          <a:solidFill>
            <a:srgbClr val="FAFFFA"/>
          </a:solidFill>
          <a:ln/>
        </p:spPr>
      </p:sp>
      <p:sp>
        <p:nvSpPr>
          <p:cNvPr id="4" name="Shape 2"/>
          <p:cNvSpPr/>
          <p:nvPr/>
        </p:nvSpPr>
        <p:spPr>
          <a:xfrm>
            <a:off x="793790" y="2387322"/>
            <a:ext cx="4215289" cy="91440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5" name="Shape 3"/>
          <p:cNvSpPr/>
          <p:nvPr/>
        </p:nvSpPr>
        <p:spPr>
          <a:xfrm>
            <a:off x="2603778" y="2112526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895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2372" y="2261354"/>
            <a:ext cx="238125" cy="2976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15008" y="29063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GitHub Actions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1015008" y="3439716"/>
            <a:ext cx="3772853" cy="2202894"/>
          </a:xfrm>
          <a:prstGeom prst="roundRect">
            <a:avLst>
              <a:gd name="adj" fmla="val 8109"/>
            </a:avLst>
          </a:prstGeom>
          <a:solidFill>
            <a:srgbClr val="EDF2ED"/>
          </a:solidFill>
          <a:ln/>
        </p:spPr>
      </p:sp>
      <p:sp>
        <p:nvSpPr>
          <p:cNvPr id="9" name="Shape 6"/>
          <p:cNvSpPr/>
          <p:nvPr/>
        </p:nvSpPr>
        <p:spPr>
          <a:xfrm>
            <a:off x="1005126" y="3439716"/>
            <a:ext cx="3792617" cy="2202894"/>
          </a:xfrm>
          <a:prstGeom prst="roundRect">
            <a:avLst>
              <a:gd name="adj" fmla="val 1351"/>
            </a:avLst>
          </a:prstGeom>
          <a:solidFill>
            <a:srgbClr val="EDF2ED"/>
          </a:solidFill>
          <a:ln/>
        </p:spPr>
      </p:sp>
      <p:sp>
        <p:nvSpPr>
          <p:cNvPr id="10" name="Text 7"/>
          <p:cNvSpPr/>
          <p:nvPr/>
        </p:nvSpPr>
        <p:spPr>
          <a:xfrm>
            <a:off x="1203484" y="3588544"/>
            <a:ext cx="3395901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Run Semgrep  uses: returntocorp/semgrep-action@v1  with:    config: auto    generateSarif: "1"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207437" y="2410182"/>
            <a:ext cx="4215408" cy="4723805"/>
          </a:xfrm>
          <a:prstGeom prst="roundRect">
            <a:avLst>
              <a:gd name="adj" fmla="val 2603"/>
            </a:avLst>
          </a:prstGeom>
          <a:solidFill>
            <a:srgbClr val="FAFFFA"/>
          </a:solidFill>
          <a:ln/>
        </p:spPr>
      </p:sp>
      <p:sp>
        <p:nvSpPr>
          <p:cNvPr id="12" name="Shape 9"/>
          <p:cNvSpPr/>
          <p:nvPr/>
        </p:nvSpPr>
        <p:spPr>
          <a:xfrm>
            <a:off x="5207437" y="2387322"/>
            <a:ext cx="4215408" cy="91440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13" name="Shape 10"/>
          <p:cNvSpPr/>
          <p:nvPr/>
        </p:nvSpPr>
        <p:spPr>
          <a:xfrm>
            <a:off x="7017425" y="2112526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8951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018" y="2261354"/>
            <a:ext cx="238125" cy="2976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428655" y="29063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GitLab CI</a:t>
            </a:r>
            <a:endParaRPr lang="en-US" sz="1950" dirty="0"/>
          </a:p>
        </p:txBody>
      </p:sp>
      <p:sp>
        <p:nvSpPr>
          <p:cNvPr id="16" name="Shape 12"/>
          <p:cNvSpPr/>
          <p:nvPr/>
        </p:nvSpPr>
        <p:spPr>
          <a:xfrm>
            <a:off x="5428655" y="3439716"/>
            <a:ext cx="3772972" cy="2837974"/>
          </a:xfrm>
          <a:prstGeom prst="roundRect">
            <a:avLst>
              <a:gd name="adj" fmla="val 6294"/>
            </a:avLst>
          </a:prstGeom>
          <a:solidFill>
            <a:srgbClr val="EDF2ED"/>
          </a:solidFill>
          <a:ln/>
        </p:spPr>
      </p:sp>
      <p:sp>
        <p:nvSpPr>
          <p:cNvPr id="17" name="Shape 13"/>
          <p:cNvSpPr/>
          <p:nvPr/>
        </p:nvSpPr>
        <p:spPr>
          <a:xfrm>
            <a:off x="5418773" y="3439716"/>
            <a:ext cx="3792736" cy="2837974"/>
          </a:xfrm>
          <a:prstGeom prst="roundRect">
            <a:avLst>
              <a:gd name="adj" fmla="val 1049"/>
            </a:avLst>
          </a:prstGeom>
          <a:solidFill>
            <a:srgbClr val="EDF2ED"/>
          </a:solidFill>
          <a:ln/>
        </p:spPr>
      </p:sp>
      <p:sp>
        <p:nvSpPr>
          <p:cNvPr id="18" name="Text 14"/>
          <p:cNvSpPr/>
          <p:nvPr/>
        </p:nvSpPr>
        <p:spPr>
          <a:xfrm>
            <a:off x="5617131" y="3588544"/>
            <a:ext cx="3396020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sast:  stage: test  include:    - template: Security/SAST.gitlab-ci.yml  artifacts:    reports:      sast: gl-sast-report.json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9621203" y="2410182"/>
            <a:ext cx="4215289" cy="4723805"/>
          </a:xfrm>
          <a:prstGeom prst="roundRect">
            <a:avLst>
              <a:gd name="adj" fmla="val 2603"/>
            </a:avLst>
          </a:prstGeom>
          <a:solidFill>
            <a:srgbClr val="FAFFFA"/>
          </a:solidFill>
          <a:ln/>
        </p:spPr>
      </p:sp>
      <p:sp>
        <p:nvSpPr>
          <p:cNvPr id="20" name="Shape 16"/>
          <p:cNvSpPr/>
          <p:nvPr/>
        </p:nvSpPr>
        <p:spPr>
          <a:xfrm>
            <a:off x="9621203" y="2387322"/>
            <a:ext cx="4215289" cy="91440"/>
          </a:xfrm>
          <a:prstGeom prst="roundRect">
            <a:avLst>
              <a:gd name="adj" fmla="val 195349"/>
            </a:avLst>
          </a:prstGeom>
          <a:solidFill>
            <a:srgbClr val="438951"/>
          </a:solidFill>
          <a:ln/>
        </p:spPr>
      </p:sp>
      <p:sp>
        <p:nvSpPr>
          <p:cNvPr id="21" name="Shape 17"/>
          <p:cNvSpPr/>
          <p:nvPr/>
        </p:nvSpPr>
        <p:spPr>
          <a:xfrm>
            <a:off x="11431191" y="2112526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438951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9784" y="2261354"/>
            <a:ext cx="238125" cy="2976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842421" y="290631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Jenkins Pipeline</a:t>
            </a:r>
            <a:endParaRPr lang="en-US" sz="1950" dirty="0"/>
          </a:p>
        </p:txBody>
      </p:sp>
      <p:sp>
        <p:nvSpPr>
          <p:cNvPr id="24" name="Shape 19"/>
          <p:cNvSpPr/>
          <p:nvPr/>
        </p:nvSpPr>
        <p:spPr>
          <a:xfrm>
            <a:off x="9842421" y="3439716"/>
            <a:ext cx="3772853" cy="3473053"/>
          </a:xfrm>
          <a:prstGeom prst="roundRect">
            <a:avLst>
              <a:gd name="adj" fmla="val 5143"/>
            </a:avLst>
          </a:prstGeom>
          <a:solidFill>
            <a:srgbClr val="EDF2ED"/>
          </a:solidFill>
          <a:ln/>
        </p:spPr>
      </p:sp>
      <p:sp>
        <p:nvSpPr>
          <p:cNvPr id="25" name="Shape 20"/>
          <p:cNvSpPr/>
          <p:nvPr/>
        </p:nvSpPr>
        <p:spPr>
          <a:xfrm>
            <a:off x="9832538" y="3439716"/>
            <a:ext cx="3792617" cy="3473053"/>
          </a:xfrm>
          <a:prstGeom prst="roundRect">
            <a:avLst>
              <a:gd name="adj" fmla="val 857"/>
            </a:avLst>
          </a:prstGeom>
          <a:solidFill>
            <a:srgbClr val="EDF2ED"/>
          </a:solidFill>
          <a:ln/>
        </p:spPr>
      </p:sp>
      <p:sp>
        <p:nvSpPr>
          <p:cNvPr id="26" name="Text 21"/>
          <p:cNvSpPr/>
          <p:nvPr/>
        </p:nvSpPr>
        <p:spPr>
          <a:xfrm>
            <a:off x="10030897" y="3588544"/>
            <a:ext cx="3395901" cy="3175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405449"/>
                </a:solidFill>
                <a:highlight>
                  <a:srgbClr val="EDF2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stage('SAST') { steps { sh 'semgrep --config=auto --sarif .' publishHTML([allowMissing: false, alwaysLinkToLastBuild: true, keepAll: true, reportDir: 'reports', reportFiles: 'semgrep.html']) }}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23292"/>
            <a:ext cx="7556421" cy="1178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Best Practices &amp; Common Pitfalls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280190" y="2272784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✓ Best Practices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80190" y="2814637"/>
            <a:ext cx="3548182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Start with curated rule sets from OWASP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280190" y="3484007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Shift-left with PR integration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280190" y="3851672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Implement quality gates gradually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280190" y="4219337"/>
            <a:ext cx="3548182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Track MTTR and false-positive metrics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280190" y="4888706"/>
            <a:ext cx="3548182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Continuously tune rules based on feedback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280190" y="5558076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Provide clear remediation guidance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6280190" y="6048256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Maturity Path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280190" y="6531412"/>
            <a:ext cx="3548182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Begin in advisory mode → gate on High/Critical → add custom rules → integrate auto-remediation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10296049" y="2272784"/>
            <a:ext cx="2828211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✗ Common Pitfalls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296049" y="2814637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Overly broad regex-based rules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0296049" y="3182303"/>
            <a:ext cx="3548182" cy="603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Ignoring framework-specific sanitizers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10296049" y="3851672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Scanning generated or vendor code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10296049" y="4219337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Failing builds on all severity levels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10296049" y="4587002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No developer training or context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0296049" y="4954667"/>
            <a:ext cx="3548182" cy="3017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Treating SAST as a silver bullet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10296049" y="5444847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Developer Fatigue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10296049" y="5928003"/>
            <a:ext cx="3548182" cy="905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Avoid overwhelming teams with low-quality findings that erode trust in the security process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5868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Key Takeaways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875597"/>
            <a:ext cx="4215289" cy="2413635"/>
          </a:xfrm>
          <a:prstGeom prst="roundRect">
            <a:avLst>
              <a:gd name="adj" fmla="val 7401"/>
            </a:avLst>
          </a:prstGeom>
          <a:solidFill>
            <a:srgbClr val="DFEEE2"/>
          </a:solidFill>
          <a:ln/>
        </p:spPr>
      </p:sp>
      <p:sp>
        <p:nvSpPr>
          <p:cNvPr id="4" name="Text 2"/>
          <p:cNvSpPr/>
          <p:nvPr/>
        </p:nvSpPr>
        <p:spPr>
          <a:xfrm>
            <a:off x="992148" y="30739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Early Detection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2148" y="3503176"/>
            <a:ext cx="38185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SAST delivers code-centric security analysis using AST, dataflow, and taint tracking to accelerate secure development when integrated into PRs and CI pipelines.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207437" y="2875597"/>
            <a:ext cx="4215408" cy="2413635"/>
          </a:xfrm>
          <a:prstGeom prst="roundRect">
            <a:avLst>
              <a:gd name="adj" fmla="val 7401"/>
            </a:avLst>
          </a:prstGeom>
          <a:solidFill>
            <a:srgbClr val="DFEEE2"/>
          </a:solidFill>
          <a:ln/>
        </p:spPr>
      </p:sp>
      <p:sp>
        <p:nvSpPr>
          <p:cNvPr id="7" name="Text 5"/>
          <p:cNvSpPr/>
          <p:nvPr/>
        </p:nvSpPr>
        <p:spPr>
          <a:xfrm>
            <a:off x="5405795" y="307395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Tool Synergy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405795" y="3503176"/>
            <a:ext cx="381869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Combine off-the-shelf rules with custom Semgrep and CodeQL logic tailored to your technology stack. Tune continuously to reduce noise and prioritize high-impact issues.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9621203" y="2875597"/>
            <a:ext cx="4215289" cy="2413635"/>
          </a:xfrm>
          <a:prstGeom prst="roundRect">
            <a:avLst>
              <a:gd name="adj" fmla="val 7401"/>
            </a:avLst>
          </a:prstGeom>
          <a:solidFill>
            <a:srgbClr val="DFEEE2"/>
          </a:solidFill>
          <a:ln/>
        </p:spPr>
      </p:sp>
      <p:sp>
        <p:nvSpPr>
          <p:cNvPr id="10" name="Text 8"/>
          <p:cNvSpPr/>
          <p:nvPr/>
        </p:nvSpPr>
        <p:spPr>
          <a:xfrm>
            <a:off x="9819561" y="3073956"/>
            <a:ext cx="320337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Developer Empowerment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819561" y="3503176"/>
            <a:ext cx="381857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Enable developers with actionable guidance and safe autofixes. Govern with quality gates, documented exceptions, and metrics for continuous security improvement.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51247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Questions &amp; Discussion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605325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Let's explore how SAST can transform your security posture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2025-09-10T08:47:19Z</dcterms:created>
  <dcterms:modified xsi:type="dcterms:W3CDTF">2025-09-10T08:47:19Z</dcterms:modified>
</cp:coreProperties>
</file>