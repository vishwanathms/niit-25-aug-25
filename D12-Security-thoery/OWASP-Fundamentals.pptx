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Fraunces Extra Bold"/>
      <p:regular r:id="rId22"/>
    </p:embeddedFont>
    <p:embeddedFont>
      <p:font typeface="Fraunces Extra Bold"/>
      <p:regular r:id="rId23"/>
    </p:embeddedFont>
    <p:embeddedFont>
      <p:font typeface="Nobile"/>
      <p:regular r:id="rId24"/>
    </p:embeddedFont>
    <p:embeddedFont>
      <p:font typeface="Nobile"/>
      <p:regular r:id="rId25"/>
    </p:embeddedFont>
    <p:embeddedFont>
      <p:font typeface="Nobile"/>
      <p:regular r:id="rId26"/>
    </p:embeddedFont>
    <p:embeddedFont>
      <p:font typeface="Nobile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5833"/>
            <a:ext cx="57232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Fundamentals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823567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Building Secure Applications by Design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6280190" y="568868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guide to web application security using OWASP standards and best practices for developers and security professionals.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912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Session Agenda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1603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1930360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075259"/>
            <a:ext cx="26840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Introduction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50448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the organization and its mission in web security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161603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1930360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2075259"/>
            <a:ext cx="38088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 Vulnerabilities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250448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Critical security risks every developer must know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348353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3628430"/>
            <a:ext cx="30433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Secure Coding Practices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Essential principles for building secure applications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348353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3628430"/>
            <a:ext cx="29576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Threat Modeling Basics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Systematic approach to identifying security risks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503670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5181600"/>
            <a:ext cx="45015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 Validation &amp; Output Encoding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93790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Preventing injection attacks and data corruption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4379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14379" y="503670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414379" y="5181600"/>
            <a:ext cx="48637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Authentication &amp; Session Management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414379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Securing user access and maintaining sessions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62755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93790" y="658987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6734770"/>
            <a:ext cx="29025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Security Configuration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716399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Avoiding common misconfigurations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414379" y="62755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08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7414379" y="658987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33" name="Text 31"/>
          <p:cNvSpPr/>
          <p:nvPr/>
        </p:nvSpPr>
        <p:spPr>
          <a:xfrm>
            <a:off x="7414379" y="6734770"/>
            <a:ext cx="27501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Logging &amp; Monitoring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414379" y="716399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Detecting and responding to security incidents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494467"/>
            <a:ext cx="4495562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OWASP?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257" y="1487924"/>
            <a:ext cx="7739658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stands for the 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 Web Application Security Project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a non-profit, community-driven organization dedicated to improving software security worldwide.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257" y="2225040"/>
            <a:ext cx="773965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Founded in 2001, OWASP produces free, vendor-neutral security resources including documentation, tools, and educational materials that have become industry standards for web application security.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9257" y="3249811"/>
            <a:ext cx="773965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organization operates with complete transparency, making all materials freely available under open source licenses. This approach has made OWASP the most trusted source for application security guidance globally.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5161" y="1528405"/>
            <a:ext cx="5013484" cy="5013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05161" y="6744176"/>
            <a:ext cx="5013484" cy="1339334"/>
          </a:xfrm>
          <a:prstGeom prst="roundRect">
            <a:avLst>
              <a:gd name="adj" fmla="val 12084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945" y="7001947"/>
            <a:ext cx="224671" cy="179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89400" y="6968847"/>
            <a:ext cx="4249460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 resources are used by developers, security professionals, and organizations in over 100 countries worldwide.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1438"/>
            <a:ext cx="62484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 Overview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94917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 Top 10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globally recognized awareness document that represents the most critical security risks to web applications. This standard reference is updated every 3-4 years based on comprehensive data analysis and expert consensus.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442573"/>
            <a:ext cx="3679031" cy="2096095"/>
          </a:xfrm>
          <a:prstGeom prst="roundRect">
            <a:avLst>
              <a:gd name="adj" fmla="val 8522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478548" y="3640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Global Standard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78548" y="4070152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Adopted by auditors, CISOs, developers, and security teams worldwide as the baseline for application security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3442573"/>
            <a:ext cx="3679031" cy="2096095"/>
          </a:xfrm>
          <a:prstGeom prst="roundRect">
            <a:avLst>
              <a:gd name="adj" fmla="val 8522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10355937" y="3640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Data-Driven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355937" y="4070152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analysis of over 500,000 applications and input from security experts across the industry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5737027"/>
            <a:ext cx="7556421" cy="1461016"/>
          </a:xfrm>
          <a:prstGeom prst="roundRect">
            <a:avLst>
              <a:gd name="adj" fmla="val 12226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6478548" y="5935385"/>
            <a:ext cx="26006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Actionable Guidance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478548" y="6364605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Provides specific prevention techniques and detection methods for each vulnerability category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8775"/>
            <a:ext cx="75564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10: Injection &amp; Authentication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93790" y="2328267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A01: Injection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870121"/>
            <a:ext cx="3548182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Occurs when untrusted data is sent to an interpreter as part of a command or query. SQL injection is the most common form, where attackers can execute malicious SQL commands.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454830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injection attacks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3790" y="4915972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NoSQL injection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528363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command injection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3790" y="5651302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LDAP injection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3790" y="6122670"/>
            <a:ext cx="3548182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id = '1' OR '1'='1'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09649" y="2328267"/>
            <a:ext cx="3548182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A02: Broken Authentication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09649" y="3223498"/>
            <a:ext cx="3548182" cy="181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 functions related to authentication and session management are often implemented incorrectly, allowing attackers to compromise passwords, keys, or session tokens.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809649" y="5203388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Weak password policies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09649" y="5571053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fixation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809649" y="5938718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Credential stuffing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09649" y="6306383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MFA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809649" y="6777752"/>
            <a:ext cx="3548182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Default credentials like admin/admin still active in production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7563"/>
            <a:ext cx="95840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10: Data &amp; Access Control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74476"/>
            <a:ext cx="4215289" cy="4297561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474476"/>
            <a:ext cx="91440" cy="4297561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695694"/>
            <a:ext cx="36854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A03: Sensitive Data Exposure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124914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Many applications don't properly protect sensitive data such as financial information, healthcare records, or personal data. Attackers may steal or modify such weakly protected data.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4831675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Unencrypted data transmission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3588" y="5218628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Weak encryption algorithms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83588" y="5605582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HTTPS enforcement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2474476"/>
            <a:ext cx="4215408" cy="4297561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2474476"/>
            <a:ext cx="91440" cy="4297561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2695694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A04: XML External Entities (XXE)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7235" y="3435072"/>
            <a:ext cx="37043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Poorly configured XML processors evaluate external entity references within XML documents, leading to disclosure of internal files, internal port scanning, and remote code execution.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97235" y="5459373"/>
            <a:ext cx="37043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File disclosure attacks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97235" y="5846326"/>
            <a:ext cx="37043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Server-side request forgery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97235" y="6233279"/>
            <a:ext cx="37043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Denial of service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2474476"/>
            <a:ext cx="4215289" cy="4297561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98343" y="2474476"/>
            <a:ext cx="91440" cy="4297561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9" name="Text 17"/>
          <p:cNvSpPr/>
          <p:nvPr/>
        </p:nvSpPr>
        <p:spPr>
          <a:xfrm>
            <a:off x="9911001" y="2695694"/>
            <a:ext cx="35116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A05: Broken Access Control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11001" y="3124914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Restrictions on authenticated users are often not properly enforced. Attackers can exploit these flaws to access unauthorized functionality or data.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911001" y="4831675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Privilege escalation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911001" y="5218628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Insecure direct object references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911001" y="5605582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authorization checks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05433"/>
            <a:ext cx="75564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10: Configuration &amp; Scripting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80190" y="2254925"/>
            <a:ext cx="218527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A06: Security Misconfiguration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280190" y="3032760"/>
            <a:ext cx="2185273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misconfiguration is the most commonly seen issue, often resulting from insecure default configurations, incomplete setups, or ad hoc configurations.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80190" y="5616059"/>
            <a:ext cx="2185273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Default accounts enabled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80190" y="6285428"/>
            <a:ext cx="2185273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Unnecessary features enabled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80190" y="6954798"/>
            <a:ext cx="2185273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security headers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33140" y="2254925"/>
            <a:ext cx="218527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A07: Cross-Site Scripting (XSS)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933140" y="3032760"/>
            <a:ext cx="2185273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XSS flaws occur when applications include untrusted data in web pages without proper validation or escaping, allowing attackers to execute scripts in victims' browsers.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33140" y="5616059"/>
            <a:ext cx="2185273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Reflected XSS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933140" y="5983724"/>
            <a:ext cx="2185273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Stored XSS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933140" y="6351389"/>
            <a:ext cx="2185273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DOM-based XSS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586091" y="2254925"/>
            <a:ext cx="22655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A08: Insecure Deserialization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1586091" y="3032760"/>
            <a:ext cx="2265521" cy="181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Insecure deserialization often leads to remote code execution, replay attacks, injection attacks, and privilege escalation attacks.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586091" y="5012650"/>
            <a:ext cx="22655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 injection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586091" y="5380315"/>
            <a:ext cx="22655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tampering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586091" y="5747980"/>
            <a:ext cx="226552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Remote code execution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4609"/>
            <a:ext cx="7556421" cy="1054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OWASP Top 10: Components &amp; Monitoring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93790" y="1991797"/>
            <a:ext cx="7556421" cy="2827258"/>
          </a:xfrm>
          <a:prstGeom prst="roundRect">
            <a:avLst>
              <a:gd name="adj" fmla="val 5370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962382" y="2160389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895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66" y="2270998"/>
            <a:ext cx="227647" cy="2846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382" y="2834997"/>
            <a:ext cx="555771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A09: Using Components with Known Vulnerabilities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62382" y="3199686"/>
            <a:ext cx="7219236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Components such as libraries, frameworks, and other software modules run with the same privileges as the application. If a vulnerable component is exploited, such an attack can facilitate serious data loss or server takeover.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62382" y="4110633"/>
            <a:ext cx="7219236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Prevention: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Maintain inventory of all components, monitor for vulnerabilities, and establish patching processes.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3790" y="4987647"/>
            <a:ext cx="7556421" cy="2557343"/>
          </a:xfrm>
          <a:prstGeom prst="roundRect">
            <a:avLst>
              <a:gd name="adj" fmla="val 5937"/>
            </a:avLst>
          </a:prstGeom>
          <a:solidFill>
            <a:srgbClr val="E8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962382" y="5156240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895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66" y="5266849"/>
            <a:ext cx="227647" cy="284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2382" y="5830848"/>
            <a:ext cx="418588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A10: Insufficient Logging &amp; Monitoring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62382" y="6195536"/>
            <a:ext cx="7219236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Insufficient logging and monitoring, coupled with missing or ineffective integration with incident response, allows attackers to further attack systems and maintain persistence.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2382" y="6836569"/>
            <a:ext cx="7219236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Prevention: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Implement comprehensive logging, real-time monitoring, and automated alerting for suspicious activities.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636"/>
            <a:ext cx="63095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Secure Coding Principles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1154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coding is the practice of developing computer software in a way that guards against the accidental introduction of security vulnerabilities. These fundamental principles guide developers in creating robust, secure applications.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254091" y="29076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Least Privilege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336846"/>
            <a:ext cx="394120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Grant users and processes only the minimum access rights needed to perform their functions. This limits potential damage from compromised accounts or components.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766" y="3736955"/>
            <a:ext cx="296942" cy="3711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5284" y="30663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Fail Securely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895284" y="3495556"/>
            <a:ext cx="394132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systems fail, they should fail to a secure state. Error conditions should not expose sensitive information or grant unauthorized access.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335" y="3736955"/>
            <a:ext cx="296942" cy="3711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5284" y="54977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Defense in Depth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895284" y="5926931"/>
            <a:ext cx="394132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multiple layers of security controls. If one layer fails, others continue to provide protection against attacks.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335" y="5996523"/>
            <a:ext cx="296942" cy="3711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54091" y="54977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Code Reviews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793790" y="5926931"/>
            <a:ext cx="394120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peer reviews and automated security testing help identify vulnerabilities early in the development lifecycle.</a:t>
            </a:r>
            <a:endParaRPr lang="en-US" sz="15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6766" y="5996523"/>
            <a:ext cx="296942" cy="371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2469"/>
            <a:ext cx="6728103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Threat Modeling Fundamentals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1634371"/>
            <a:ext cx="2775585" cy="1889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Threat modeling is a structured approach to identifying, quantifying, and addressing security risks in applications. It helps teams understand potential attack vectors and implement appropriate countermeasures.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80190" y="3692366"/>
            <a:ext cx="231743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STRIDE Methodology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80190" y="4124444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poofing identity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80190" y="4453295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ampering with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80190" y="4782145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epudiation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80190" y="5110996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nformation disclosure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80190" y="5439847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enial of service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80190" y="5768697"/>
            <a:ext cx="277558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levation of privilege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474875" y="1672352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74875" y="1936194"/>
            <a:ext cx="4369237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9474875" y="20662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Identify Assets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474875" y="2498288"/>
            <a:ext cx="4369237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Catalog valuable data, systems, and processes that need protection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474875" y="3333155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74875" y="3596997"/>
            <a:ext cx="4369237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9474875" y="372701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Identify Threats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474875" y="4159091"/>
            <a:ext cx="43692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Determine potential attackers and their motivations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74875" y="4724043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474875" y="4987885"/>
            <a:ext cx="4369237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2" name="Text 19"/>
          <p:cNvSpPr/>
          <p:nvPr/>
        </p:nvSpPr>
        <p:spPr>
          <a:xfrm>
            <a:off x="9474875" y="5117902"/>
            <a:ext cx="250364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Identify Vulnerabilities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474875" y="5549979"/>
            <a:ext cx="43692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Find weaknesses that threats could exploit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474875" y="6114931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474875" y="6378773"/>
            <a:ext cx="4369237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6" name="Text 23"/>
          <p:cNvSpPr/>
          <p:nvPr/>
        </p:nvSpPr>
        <p:spPr>
          <a:xfrm>
            <a:off x="9474875" y="6508790"/>
            <a:ext cx="216324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 Controls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474875" y="6940868"/>
            <a:ext cx="43692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security measures to mitigate identified risks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7472"/>
            <a:ext cx="72028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 Validation &amp; Output Encoding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461730"/>
            <a:ext cx="755642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 validation and output encoding are critical security controls that prevent injection attacks and ensure data integrity. These techniques form the foundation of secure data handling in web applications.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3790" y="2402562"/>
            <a:ext cx="7556421" cy="5099447"/>
          </a:xfrm>
          <a:prstGeom prst="roundRect">
            <a:avLst>
              <a:gd name="adj" fmla="val 2802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2402562"/>
            <a:ext cx="7556421" cy="2542103"/>
          </a:xfrm>
          <a:prstGeom prst="roundRect">
            <a:avLst>
              <a:gd name="adj" fmla="val 5621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25612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 Validation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2500" y="2904530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Whitelist Approach: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Define acceptable input patterns and reject everything else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52500" y="3253859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type validation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2500" y="3563422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Length and format checks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52500" y="3872984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Range validation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2500" y="4182547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logic validation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52500" y="4531876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Email validation using regex patterns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3790" y="4944666"/>
            <a:ext cx="7556421" cy="2557343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4944666"/>
            <a:ext cx="7556421" cy="22860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16" name="Text 13"/>
          <p:cNvSpPr/>
          <p:nvPr/>
        </p:nvSpPr>
        <p:spPr>
          <a:xfrm>
            <a:off x="952500" y="510337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Output Encoding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52500" y="5446633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Context-Aware Encoding: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Encode data based on where it will be used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52500" y="5795963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 entity encoding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52500" y="6105525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JavaScript encoding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52500" y="6415088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URL encoding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52500" y="6724650"/>
            <a:ext cx="723900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parameterization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2500" y="7073979"/>
            <a:ext cx="723900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Converting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&amp;lt;script&amp;gt;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795"/>
            <a:ext cx="97296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Authentication &amp; Session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6270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Proper authentication and session management are crucial for protecting user accounts and maintaining secure application state. Weak implementation in these areas is a primary target for attackers.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719388"/>
            <a:ext cx="37640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Authentication Best Practices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22790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Strong Password Policies: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Minimum length, complexity requirements, and regular updates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3239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Multi-Factor Authentication: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Something you know, have, and are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63688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Account Lockout: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Prevent brute force attacks with progressive delays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34138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Password Storage: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 bcrypt, scrypt, or Argon2 for hashing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6199703"/>
            <a:ext cx="6279356" cy="1160740"/>
          </a:xfrm>
          <a:prstGeom prst="roundRect">
            <a:avLst>
              <a:gd name="adj" fmla="val 15389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487358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6447592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Never store passwords in plain text or use weak hashing algorithms like MD5 or SHA1.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4874" y="2719388"/>
            <a:ext cx="26503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Session Management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564874" y="322790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Cookie Flags: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HttpOnly, Secure, and SameSite attributes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393239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Expiration: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Automatic timeout for inactive sessions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431934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Renewal: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Generate new session IDs after authentication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64874" y="502384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Logout Functionality: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Properly invalidate sessions on logout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564874" y="5564624"/>
            <a:ext cx="6279356" cy="1250275"/>
          </a:xfrm>
          <a:prstGeom prst="roundRect">
            <a:avLst>
              <a:gd name="adj" fmla="val 14287"/>
            </a:avLst>
          </a:prstGeom>
          <a:solidFill>
            <a:srgbClr val="EDF2ED"/>
          </a:solidFill>
          <a:ln/>
        </p:spPr>
      </p:sp>
      <p:sp>
        <p:nvSpPr>
          <p:cNvPr id="18" name="Shape 15"/>
          <p:cNvSpPr/>
          <p:nvPr/>
        </p:nvSpPr>
        <p:spPr>
          <a:xfrm>
            <a:off x="7554992" y="5564624"/>
            <a:ext cx="6299121" cy="1250275"/>
          </a:xfrm>
          <a:prstGeom prst="roundRect">
            <a:avLst>
              <a:gd name="adj" fmla="val 2381"/>
            </a:avLst>
          </a:prstGeom>
          <a:solidFill>
            <a:srgbClr val="EDF2ED"/>
          </a:solidFill>
          <a:ln/>
        </p:spPr>
      </p:sp>
      <p:sp>
        <p:nvSpPr>
          <p:cNvPr id="19" name="Text 16"/>
          <p:cNvSpPr/>
          <p:nvPr/>
        </p:nvSpPr>
        <p:spPr>
          <a:xfrm>
            <a:off x="7753350" y="5713452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sessionid=abc123; HttpOnly; Secure; SameSite=Strict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157"/>
            <a:ext cx="95466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Security Misconfiguration Prevention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9806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misconfiguration is one of the most common vulnerabilities, often resulting from default settings, incomplete configurations, or lack of maintenance. A systematic approach to configuration management is essential.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5404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AFFFA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831187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6" name="Shape 4"/>
          <p:cNvSpPr/>
          <p:nvPr/>
        </p:nvSpPr>
        <p:spPr>
          <a:xfrm>
            <a:off x="2603778" y="255639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2782372" y="270521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3350181"/>
            <a:ext cx="37382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Eliminate Default Credentials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008" y="377940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Change all default usernames and passwords before deployment. Implement strong, unique credentials for all accounts and services.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2854047"/>
            <a:ext cx="4215408" cy="2416731"/>
          </a:xfrm>
          <a:prstGeom prst="roundRect">
            <a:avLst>
              <a:gd name="adj" fmla="val 4540"/>
            </a:avLst>
          </a:prstGeom>
          <a:solidFill>
            <a:srgbClr val="FAFFFA"/>
          </a:solidFill>
          <a:ln/>
        </p:spPr>
      </p:sp>
      <p:sp>
        <p:nvSpPr>
          <p:cNvPr id="11" name="Shape 9"/>
          <p:cNvSpPr/>
          <p:nvPr/>
        </p:nvSpPr>
        <p:spPr>
          <a:xfrm>
            <a:off x="5207437" y="2831187"/>
            <a:ext cx="4215408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7425" y="255639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018" y="270521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428655" y="3350181"/>
            <a:ext cx="37582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Disable Unnecessary Features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28655" y="3779401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 or disable unused features, services, ports, and accounts. Follow the principle of least functionality.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21203" y="285404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AFF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21203" y="2831187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1191" y="255639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9784" y="270521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842421" y="3350181"/>
            <a:ext cx="28609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Keep Systems Updated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42421" y="377940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Establish regular patching schedules for operating systems, frameworks, libraries, and applications.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5766792"/>
            <a:ext cx="6422112" cy="1781651"/>
          </a:xfrm>
          <a:prstGeom prst="roundRect">
            <a:avLst>
              <a:gd name="adj" fmla="val 6159"/>
            </a:avLst>
          </a:prstGeom>
          <a:solidFill>
            <a:srgbClr val="FAF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790" y="5743932"/>
            <a:ext cx="6422112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24" name="Shape 22"/>
          <p:cNvSpPr/>
          <p:nvPr/>
        </p:nvSpPr>
        <p:spPr>
          <a:xfrm>
            <a:off x="3707130" y="546913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3885724" y="561796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015008" y="6262926"/>
            <a:ext cx="36196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 Security Headers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15008" y="6692146"/>
            <a:ext cx="597967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Configure proper HTTP security headers like HSTS, CSP, X-Frame-Options, and X-Content-Type-Options.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414260" y="5766792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FAFF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14260" y="5743932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27719" y="546913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sp>
        <p:nvSpPr>
          <p:cNvPr id="31" name="Text 29"/>
          <p:cNvSpPr/>
          <p:nvPr/>
        </p:nvSpPr>
        <p:spPr>
          <a:xfrm>
            <a:off x="10506313" y="561796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7635478" y="6262926"/>
            <a:ext cx="36205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Secure Cloud Configurations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635478" y="669214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cloud service settings, especially storage bucket permissions and network access controls.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14" y="417909"/>
            <a:ext cx="5273516" cy="379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Logging &amp; Monitoring for Security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07814" y="1040963"/>
            <a:ext cx="13414772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 logging and monitoring are essential for detecting security incidents, conducting forensic analysis, and maintaining compliance. Without proper visibility, organizations cannot detect or respond to attacks effectively.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7814" y="1493639"/>
            <a:ext cx="151959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to Log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7814" y="1805107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Authentication Events: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Login attempts, password changes, privilege escalations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7814" y="2042041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Control: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Failed authorization attempts, privilege violations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7814" y="2278975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 Validation: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Malformed requests, injection attempts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7814" y="2515910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Events: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Application starts/stops, configuration changes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7814" y="2831902"/>
            <a:ext cx="2010966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Monitoring Best Practices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7814" y="3143369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log collection and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7814" y="3380303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alerting for critical events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7814" y="3617238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log review and analysis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7814" y="3854172"/>
            <a:ext cx="793027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log storage and retention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42177" y="1508760"/>
            <a:ext cx="5188029" cy="1022271"/>
          </a:xfrm>
          <a:prstGeom prst="roundRect">
            <a:avLst>
              <a:gd name="adj" fmla="val 10703"/>
            </a:avLst>
          </a:prstGeom>
          <a:solidFill>
            <a:srgbClr val="FFB3B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3739" y="1672471"/>
            <a:ext cx="189905" cy="1519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275207" y="1660684"/>
            <a:ext cx="190059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Never Log Sensitive Data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275207" y="1972151"/>
            <a:ext cx="4633436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 logging passwords, credit card numbers, social security numbers, or other sensitive information.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177" y="2667714"/>
            <a:ext cx="4150400" cy="415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7814" y="7152203"/>
            <a:ext cx="4370308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200</a:t>
            </a:r>
            <a:endParaRPr lang="en-US" sz="3150" dirty="0"/>
          </a:p>
        </p:txBody>
      </p:sp>
      <p:sp>
        <p:nvSpPr>
          <p:cNvPr id="20" name="Text 16"/>
          <p:cNvSpPr/>
          <p:nvPr/>
        </p:nvSpPr>
        <p:spPr>
          <a:xfrm>
            <a:off x="2033111" y="7705130"/>
            <a:ext cx="151959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Days Average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07814" y="7967901"/>
            <a:ext cx="4370308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 to detect a security breach without proper monitoring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130046" y="7152203"/>
            <a:ext cx="4370308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68</a:t>
            </a:r>
            <a:endParaRPr lang="en-US" sz="3150" dirty="0"/>
          </a:p>
        </p:txBody>
      </p:sp>
      <p:sp>
        <p:nvSpPr>
          <p:cNvPr id="23" name="Text 19"/>
          <p:cNvSpPr/>
          <p:nvPr/>
        </p:nvSpPr>
        <p:spPr>
          <a:xfrm>
            <a:off x="6555343" y="7705130"/>
            <a:ext cx="151959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Days Average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130046" y="7967901"/>
            <a:ext cx="4370308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 to contain a breach once detected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652278" y="7152203"/>
            <a:ext cx="4370308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$4.45M</a:t>
            </a:r>
            <a:endParaRPr lang="en-US" sz="3150" dirty="0"/>
          </a:p>
        </p:txBody>
      </p:sp>
      <p:sp>
        <p:nvSpPr>
          <p:cNvPr id="26" name="Text 22"/>
          <p:cNvSpPr/>
          <p:nvPr/>
        </p:nvSpPr>
        <p:spPr>
          <a:xfrm>
            <a:off x="11077575" y="7705130"/>
            <a:ext cx="151959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Average Cost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9652278" y="7967901"/>
            <a:ext cx="4370308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average cost of a data breach in 2023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00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2644735"/>
            <a:ext cx="13048536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5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Security is a Process, Not a Product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790932" y="4997768"/>
            <a:ext cx="13048536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 provides the frameworks, tools, and community knowledge needed to build secure applications. Remember that developers are the first line of defense in application security.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90932" y="5724763"/>
            <a:ext cx="4237434" cy="1506379"/>
          </a:xfrm>
          <a:prstGeom prst="roundRect">
            <a:avLst>
              <a:gd name="adj" fmla="val 10042"/>
            </a:avLst>
          </a:prstGeom>
          <a:solidFill>
            <a:srgbClr val="DFEEE2"/>
          </a:solidFill>
          <a:ln/>
        </p:spPr>
      </p:sp>
      <p:sp>
        <p:nvSpPr>
          <p:cNvPr id="6" name="Text 3"/>
          <p:cNvSpPr/>
          <p:nvPr/>
        </p:nvSpPr>
        <p:spPr>
          <a:xfrm>
            <a:off x="958929" y="5892760"/>
            <a:ext cx="2250877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Continuous Learning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58929" y="6256258"/>
            <a:ext cx="3901440" cy="806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Stay updated with the latest security threats, vulnerabilities, and best practices through OWASP resources and community engagement.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96364" y="5724763"/>
            <a:ext cx="4237553" cy="1506379"/>
          </a:xfrm>
          <a:prstGeom prst="roundRect">
            <a:avLst>
              <a:gd name="adj" fmla="val 10042"/>
            </a:avLst>
          </a:prstGeom>
          <a:solidFill>
            <a:srgbClr val="DFEEE2"/>
          </a:solidFill>
          <a:ln/>
        </p:spPr>
      </p:sp>
      <p:sp>
        <p:nvSpPr>
          <p:cNvPr id="9" name="Text 6"/>
          <p:cNvSpPr/>
          <p:nvPr/>
        </p:nvSpPr>
        <p:spPr>
          <a:xfrm>
            <a:off x="5364361" y="5892760"/>
            <a:ext cx="2100977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Security by Design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364361" y="6256258"/>
            <a:ext cx="3901559" cy="806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security considerations from the earliest stages of development rather than treating it as an afterthought.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914" y="5724763"/>
            <a:ext cx="4237434" cy="1506379"/>
          </a:xfrm>
          <a:prstGeom prst="roundRect">
            <a:avLst>
              <a:gd name="adj" fmla="val 10042"/>
            </a:avLst>
          </a:prstGeom>
          <a:solidFill>
            <a:srgbClr val="DFEEE2"/>
          </a:solidFill>
          <a:ln/>
        </p:spPr>
      </p:sp>
      <p:sp>
        <p:nvSpPr>
          <p:cNvPr id="12" name="Text 9"/>
          <p:cNvSpPr/>
          <p:nvPr/>
        </p:nvSpPr>
        <p:spPr>
          <a:xfrm>
            <a:off x="9769912" y="5892760"/>
            <a:ext cx="27824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Community Collaboration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769912" y="6256258"/>
            <a:ext cx="3901440" cy="806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Participate in the OWASP community, contribute to projects, and share knowledge with fellow security professionals.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32" y="7420213"/>
            <a:ext cx="13048536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Thank you for your attention. Questions and discussion welcome!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2025-09-10T07:49:28Z</dcterms:created>
  <dcterms:modified xsi:type="dcterms:W3CDTF">2025-09-10T07:49:28Z</dcterms:modified>
</cp:coreProperties>
</file>