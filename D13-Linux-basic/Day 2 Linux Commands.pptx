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iXOquzPzBEKV6VPqBe9nV6xEjn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2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mailto:admin@lab.com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1389781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Linux Commands and File management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 txBox="1"/>
          <p:nvPr>
            <p:ph type="title"/>
          </p:nvPr>
        </p:nvSpPr>
        <p:spPr>
          <a:xfrm>
            <a:off x="635000" y="640823"/>
            <a:ext cx="3418659" cy="55831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5400"/>
              <a:t>Basic Commands</a:t>
            </a:r>
            <a:endParaRPr/>
          </a:p>
        </p:txBody>
      </p:sp>
      <p:sp>
        <p:nvSpPr>
          <p:cNvPr id="95" name="Google Shape;95;p2"/>
          <p:cNvSpPr/>
          <p:nvPr/>
        </p:nvSpPr>
        <p:spPr>
          <a:xfrm rot="5400000">
            <a:off x="1627450" y="3462719"/>
            <a:ext cx="5410200" cy="18288"/>
          </a:xfrm>
          <a:custGeom>
            <a:rect b="b" l="l" r="r" t="t"/>
            <a:pathLst>
              <a:path extrusionOk="0" fill="none" h="18288" w="541020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extrusionOk="0" h="18288" w="541020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6" name="Google Shape;96;p2"/>
          <p:cNvGrpSpPr/>
          <p:nvPr/>
        </p:nvGrpSpPr>
        <p:grpSpPr>
          <a:xfrm>
            <a:off x="4648018" y="641497"/>
            <a:ext cx="6900512" cy="5534789"/>
            <a:chOff x="0" y="675"/>
            <a:chExt cx="6900512" cy="5534789"/>
          </a:xfrm>
        </p:grpSpPr>
        <p:cxnSp>
          <p:nvCxnSpPr>
            <p:cNvPr id="97" name="Google Shape;97;p2"/>
            <p:cNvCxnSpPr/>
            <p:nvPr/>
          </p:nvCxnSpPr>
          <p:spPr>
            <a:xfrm>
              <a:off x="0" y="675"/>
              <a:ext cx="6900512" cy="0"/>
            </a:xfrm>
            <a:prstGeom prst="straightConnector1">
              <a:avLst/>
            </a:prstGeom>
            <a:solidFill>
              <a:schemeClr val="accent2"/>
            </a:solidFill>
            <a:ln cap="flat" cmpd="sng" w="127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8" name="Google Shape;98;p2"/>
            <p:cNvSpPr/>
            <p:nvPr/>
          </p:nvSpPr>
          <p:spPr>
            <a:xfrm>
              <a:off x="0" y="675"/>
              <a:ext cx="1380102" cy="11069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0" y="675"/>
              <a:ext cx="1380102" cy="11069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alibri"/>
                <a:buNone/>
              </a:pPr>
              <a:r>
                <a:rPr b="1" i="0" lang="en-US" sz="2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who</a:t>
              </a:r>
              <a:endPara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483610" y="50942"/>
              <a:ext cx="5416901" cy="10053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2"/>
            <p:cNvSpPr txBox="1"/>
            <p:nvPr/>
          </p:nvSpPr>
          <p:spPr>
            <a:xfrm>
              <a:off x="1483610" y="50942"/>
              <a:ext cx="5416901" cy="10053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6675" lIns="106675" spcFirstLastPara="1" rIns="106675" wrap="square" tIns="10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Shows who all are logged into the current system</a:t>
              </a:r>
              <a:endParaRPr/>
            </a:p>
          </p:txBody>
        </p:sp>
        <p:cxnSp>
          <p:nvCxnSpPr>
            <p:cNvPr id="102" name="Google Shape;102;p2"/>
            <p:cNvCxnSpPr/>
            <p:nvPr/>
          </p:nvCxnSpPr>
          <p:spPr>
            <a:xfrm>
              <a:off x="1380102" y="1056285"/>
              <a:ext cx="5520409" cy="0"/>
            </a:xfrm>
            <a:prstGeom prst="straightConnector1">
              <a:avLst/>
            </a:prstGeom>
            <a:solidFill>
              <a:schemeClr val="accent2"/>
            </a:solidFill>
            <a:ln cap="flat" cmpd="sng" w="12700">
              <a:solidFill>
                <a:srgbClr val="F5CBB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3" name="Google Shape;103;p2"/>
            <p:cNvCxnSpPr/>
            <p:nvPr/>
          </p:nvCxnSpPr>
          <p:spPr>
            <a:xfrm>
              <a:off x="0" y="1107633"/>
              <a:ext cx="6900512" cy="0"/>
            </a:xfrm>
            <a:prstGeom prst="straightConnector1">
              <a:avLst/>
            </a:prstGeom>
            <a:solidFill>
              <a:schemeClr val="accent3"/>
            </a:solidFill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4" name="Google Shape;104;p2"/>
            <p:cNvSpPr/>
            <p:nvPr/>
          </p:nvSpPr>
          <p:spPr>
            <a:xfrm>
              <a:off x="0" y="1107633"/>
              <a:ext cx="1380102" cy="11069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2"/>
            <p:cNvSpPr txBox="1"/>
            <p:nvPr/>
          </p:nvSpPr>
          <p:spPr>
            <a:xfrm>
              <a:off x="0" y="1107633"/>
              <a:ext cx="1380102" cy="11069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alibri"/>
                <a:buNone/>
              </a:pPr>
              <a:r>
                <a:rPr b="1" i="0" lang="en-US" sz="2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Whoami</a:t>
              </a:r>
              <a:endPara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1483610" y="1157900"/>
              <a:ext cx="5416901" cy="10053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2"/>
            <p:cNvSpPr txBox="1"/>
            <p:nvPr/>
          </p:nvSpPr>
          <p:spPr>
            <a:xfrm>
              <a:off x="1483610" y="1157900"/>
              <a:ext cx="5416901" cy="10053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6675" lIns="106675" spcFirstLastPara="1" rIns="106675" wrap="square" tIns="10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shows the current user name</a:t>
              </a:r>
              <a:endParaRPr/>
            </a:p>
          </p:txBody>
        </p:sp>
        <p:cxnSp>
          <p:nvCxnSpPr>
            <p:cNvPr id="108" name="Google Shape;108;p2"/>
            <p:cNvCxnSpPr/>
            <p:nvPr/>
          </p:nvCxnSpPr>
          <p:spPr>
            <a:xfrm>
              <a:off x="1380102" y="2163243"/>
              <a:ext cx="5520409" cy="0"/>
            </a:xfrm>
            <a:prstGeom prst="straightConnector1">
              <a:avLst/>
            </a:prstGeom>
            <a:solidFill>
              <a:schemeClr val="accent2"/>
            </a:solidFill>
            <a:ln cap="flat" cmpd="sng" w="12700">
              <a:solidFill>
                <a:srgbClr val="F5CBB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" name="Google Shape;109;p2"/>
            <p:cNvCxnSpPr/>
            <p:nvPr/>
          </p:nvCxnSpPr>
          <p:spPr>
            <a:xfrm>
              <a:off x="0" y="2214591"/>
              <a:ext cx="6900512" cy="0"/>
            </a:xfrm>
            <a:prstGeom prst="straightConnector1">
              <a:avLst/>
            </a:prstGeom>
            <a:solidFill>
              <a:schemeClr val="accent4"/>
            </a:solidFill>
            <a:ln cap="flat" cmpd="sng" w="12700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10" name="Google Shape;110;p2"/>
            <p:cNvSpPr/>
            <p:nvPr/>
          </p:nvSpPr>
          <p:spPr>
            <a:xfrm>
              <a:off x="0" y="2214591"/>
              <a:ext cx="1380102" cy="11069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2"/>
            <p:cNvSpPr txBox="1"/>
            <p:nvPr/>
          </p:nvSpPr>
          <p:spPr>
            <a:xfrm>
              <a:off x="0" y="2214591"/>
              <a:ext cx="1380102" cy="11069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alibri"/>
                <a:buNone/>
              </a:pPr>
              <a:r>
                <a:rPr b="1" i="0" lang="en-US" sz="2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pwd</a:t>
              </a:r>
              <a:endPara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1483610" y="2264858"/>
              <a:ext cx="5416901" cy="10053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2"/>
            <p:cNvSpPr txBox="1"/>
            <p:nvPr/>
          </p:nvSpPr>
          <p:spPr>
            <a:xfrm>
              <a:off x="1483610" y="2264858"/>
              <a:ext cx="5416901" cy="10053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6675" lIns="106675" spcFirstLastPara="1" rIns="106675" wrap="square" tIns="10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Shows which directory you are in or current working directory</a:t>
              </a:r>
              <a:endParaRPr/>
            </a:p>
          </p:txBody>
        </p:sp>
        <p:cxnSp>
          <p:nvCxnSpPr>
            <p:cNvPr id="114" name="Google Shape;114;p2"/>
            <p:cNvCxnSpPr/>
            <p:nvPr/>
          </p:nvCxnSpPr>
          <p:spPr>
            <a:xfrm>
              <a:off x="1380102" y="3270201"/>
              <a:ext cx="5520409" cy="0"/>
            </a:xfrm>
            <a:prstGeom prst="straightConnector1">
              <a:avLst/>
            </a:prstGeom>
            <a:solidFill>
              <a:schemeClr val="accent2"/>
            </a:solidFill>
            <a:ln cap="flat" cmpd="sng" w="12700">
              <a:solidFill>
                <a:srgbClr val="F5CBB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5" name="Google Shape;115;p2"/>
            <p:cNvCxnSpPr/>
            <p:nvPr/>
          </p:nvCxnSpPr>
          <p:spPr>
            <a:xfrm>
              <a:off x="0" y="3321549"/>
              <a:ext cx="6900512" cy="0"/>
            </a:xfrm>
            <a:prstGeom prst="straightConnector1">
              <a:avLst/>
            </a:prstGeom>
            <a:solidFill>
              <a:srgbClr val="599BD5"/>
            </a:solidFill>
            <a:ln cap="flat" cmpd="sng" w="12700">
              <a:solidFill>
                <a:srgbClr val="599BD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16" name="Google Shape;116;p2"/>
            <p:cNvSpPr/>
            <p:nvPr/>
          </p:nvSpPr>
          <p:spPr>
            <a:xfrm>
              <a:off x="0" y="3321549"/>
              <a:ext cx="1380102" cy="11069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2"/>
            <p:cNvSpPr txBox="1"/>
            <p:nvPr/>
          </p:nvSpPr>
          <p:spPr>
            <a:xfrm>
              <a:off x="0" y="3321549"/>
              <a:ext cx="1380102" cy="11069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alibri"/>
                <a:buNone/>
              </a:pPr>
              <a:r>
                <a:rPr b="1" i="0" lang="en-US" sz="2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cd</a:t>
              </a:r>
              <a:endPara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1483610" y="3371816"/>
              <a:ext cx="5416901" cy="10053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"/>
            <p:cNvSpPr txBox="1"/>
            <p:nvPr/>
          </p:nvSpPr>
          <p:spPr>
            <a:xfrm>
              <a:off x="1483610" y="3371816"/>
              <a:ext cx="5416901" cy="10053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6675" lIns="106675" spcFirstLastPara="1" rIns="106675" wrap="square" tIns="10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Change directory</a:t>
              </a:r>
              <a:endParaRPr/>
            </a:p>
          </p:txBody>
        </p:sp>
        <p:cxnSp>
          <p:nvCxnSpPr>
            <p:cNvPr id="120" name="Google Shape;120;p2"/>
            <p:cNvCxnSpPr/>
            <p:nvPr/>
          </p:nvCxnSpPr>
          <p:spPr>
            <a:xfrm>
              <a:off x="1380102" y="4377159"/>
              <a:ext cx="5520409" cy="0"/>
            </a:xfrm>
            <a:prstGeom prst="straightConnector1">
              <a:avLst/>
            </a:prstGeom>
            <a:solidFill>
              <a:schemeClr val="accent2"/>
            </a:solidFill>
            <a:ln cap="flat" cmpd="sng" w="12700">
              <a:solidFill>
                <a:srgbClr val="F5CBB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1" name="Google Shape;121;p2"/>
            <p:cNvCxnSpPr/>
            <p:nvPr/>
          </p:nvCxnSpPr>
          <p:spPr>
            <a:xfrm>
              <a:off x="0" y="4428507"/>
              <a:ext cx="6900512" cy="0"/>
            </a:xfrm>
            <a:prstGeom prst="straightConnector1">
              <a:avLst/>
            </a:prstGeom>
            <a:solidFill>
              <a:schemeClr val="accent6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22" name="Google Shape;122;p2"/>
            <p:cNvSpPr/>
            <p:nvPr/>
          </p:nvSpPr>
          <p:spPr>
            <a:xfrm>
              <a:off x="0" y="4428507"/>
              <a:ext cx="1380102" cy="11069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2"/>
            <p:cNvSpPr txBox="1"/>
            <p:nvPr/>
          </p:nvSpPr>
          <p:spPr>
            <a:xfrm>
              <a:off x="0" y="4428507"/>
              <a:ext cx="1380102" cy="11069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alibri"/>
                <a:buNone/>
              </a:pPr>
              <a:r>
                <a:rPr b="1" i="0" lang="en-US" sz="2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ip addr show</a:t>
              </a:r>
              <a:endPara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1483610" y="4478774"/>
              <a:ext cx="5416901" cy="10053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"/>
            <p:cNvSpPr txBox="1"/>
            <p:nvPr/>
          </p:nvSpPr>
          <p:spPr>
            <a:xfrm>
              <a:off x="1483610" y="4478774"/>
              <a:ext cx="5416901" cy="10053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6675" lIns="106675" spcFirstLastPara="1" rIns="106675" wrap="square" tIns="10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Shows the current IP configuration</a:t>
              </a:r>
              <a:endParaRPr/>
            </a:p>
          </p:txBody>
        </p:sp>
        <p:cxnSp>
          <p:nvCxnSpPr>
            <p:cNvPr id="126" name="Google Shape;126;p2"/>
            <p:cNvCxnSpPr/>
            <p:nvPr/>
          </p:nvCxnSpPr>
          <p:spPr>
            <a:xfrm>
              <a:off x="1380102" y="5484117"/>
              <a:ext cx="5520409" cy="0"/>
            </a:xfrm>
            <a:prstGeom prst="straightConnector1">
              <a:avLst/>
            </a:prstGeom>
            <a:solidFill>
              <a:schemeClr val="accent2"/>
            </a:solidFill>
            <a:ln cap="flat" cmpd="sng" w="12700">
              <a:solidFill>
                <a:srgbClr val="F5CBB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5400"/>
              <a:t>Basic Commands (Continued)</a:t>
            </a:r>
            <a:endParaRPr/>
          </a:p>
        </p:txBody>
      </p:sp>
      <p:sp>
        <p:nvSpPr>
          <p:cNvPr id="133" name="Google Shape;133;p3"/>
          <p:cNvSpPr/>
          <p:nvPr/>
        </p:nvSpPr>
        <p:spPr>
          <a:xfrm>
            <a:off x="669036" y="1677373"/>
            <a:ext cx="10853928" cy="18288"/>
          </a:xfrm>
          <a:custGeom>
            <a:rect b="b" l="l" r="r" t="t"/>
            <a:pathLst>
              <a:path extrusionOk="0" fill="none" h="18288" w="10853928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extrusionOk="0" h="18288" w="10853928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 txBox="1"/>
          <p:nvPr>
            <p:ph idx="1" type="body"/>
          </p:nvPr>
        </p:nvSpPr>
        <p:spPr>
          <a:xfrm>
            <a:off x="838200" y="1929384"/>
            <a:ext cx="10515600" cy="4251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b="1" lang="en-US" sz="2200"/>
              <a:t>free –m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	shows the system memory status and utilization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b="1" lang="en-US" sz="2200"/>
              <a:t>df –h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	shows the available disk space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b="1" lang="en-US" sz="2200"/>
              <a:t>nmcli connection show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	shows the active network connections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b="1" lang="en-US" sz="2200"/>
              <a:t>findmnt</a:t>
            </a:r>
            <a:endParaRPr b="1" sz="2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b="1" lang="en-US" sz="2200"/>
              <a:t>	</a:t>
            </a:r>
            <a:r>
              <a:rPr lang="en-US" sz="2200"/>
              <a:t>shows mounted file system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b="1" lang="en-US" sz="2200"/>
              <a:t>history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	shows command history / previously run command by the user</a:t>
            </a:r>
            <a:r>
              <a:rPr b="1" lang="en-US" sz="2200"/>
              <a:t>	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/>
          <p:cNvSpPr/>
          <p:nvPr/>
        </p:nvSpPr>
        <p:spPr>
          <a:xfrm>
            <a:off x="8467" y="8467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 txBox="1"/>
          <p:nvPr>
            <p:ph type="title"/>
          </p:nvPr>
        </p:nvSpPr>
        <p:spPr>
          <a:xfrm>
            <a:off x="630935" y="639520"/>
            <a:ext cx="10290107" cy="12941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File management commands/tools/utilities</a:t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643278" y="2573756"/>
            <a:ext cx="3255095" cy="18288"/>
          </a:xfrm>
          <a:custGeom>
            <a:rect b="b" l="l" r="r" t="t"/>
            <a:pathLst>
              <a:path extrusionOk="0" fill="none" h="18288" w="3255095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extrusionOk="0" h="18288" w="3255095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 txBox="1"/>
          <p:nvPr>
            <p:ph idx="1" type="body"/>
          </p:nvPr>
        </p:nvSpPr>
        <p:spPr>
          <a:xfrm>
            <a:off x="630936" y="2807208"/>
            <a:ext cx="3429000" cy="3410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cat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Concatenate/read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more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Parse read input/file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less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page by page read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tail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Read last part of the file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b="1" sz="2200"/>
          </a:p>
        </p:txBody>
      </p:sp>
      <p:pic>
        <p:nvPicPr>
          <p:cNvPr id="143" name="Google Shape;14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98373" y="2924244"/>
            <a:ext cx="7973210" cy="2943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/>
              <a:t>Useful options for the “</a:t>
            </a:r>
            <a:r>
              <a:rPr b="1" lang="en-US" sz="3600"/>
              <a:t>ls</a:t>
            </a:r>
            <a:r>
              <a:rPr lang="en-US" sz="3600"/>
              <a:t>” command: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 sz="3200"/>
              <a:t>ls -a</a:t>
            </a:r>
            <a:r>
              <a:rPr lang="en-US" sz="3200"/>
              <a:t> List all file including hidden file beginning with a period “</a:t>
            </a:r>
            <a:r>
              <a:rPr b="1" lang="en-US" sz="3200"/>
              <a:t>.</a:t>
            </a:r>
            <a:r>
              <a:rPr lang="en-US" sz="3200"/>
              <a:t>”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 sz="3200"/>
              <a:t>ls -ld * </a:t>
            </a:r>
            <a:r>
              <a:rPr lang="en-US" sz="3200"/>
              <a:t>List details about a directory and not its contents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 sz="3200"/>
              <a:t>ls -F </a:t>
            </a:r>
            <a:r>
              <a:rPr lang="en-US" sz="3200"/>
              <a:t>Put an indicator character at the end of each name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 sz="3200"/>
              <a:t>ls –l </a:t>
            </a:r>
            <a:r>
              <a:rPr lang="en-US" sz="3200"/>
              <a:t>Simple long listing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 sz="3200"/>
              <a:t>ls –lh </a:t>
            </a:r>
            <a:r>
              <a:rPr lang="en-US" sz="3200"/>
              <a:t>Give human readable file sizes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 sz="3200"/>
              <a:t>ls –lS </a:t>
            </a:r>
            <a:r>
              <a:rPr lang="en-US" sz="3200"/>
              <a:t>Sort files by file size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 sz="3200"/>
              <a:t>ls –lt </a:t>
            </a:r>
            <a:r>
              <a:rPr lang="en-US" sz="3200"/>
              <a:t>Sort files by modification time</a:t>
            </a:r>
            <a:endParaRPr b="1" sz="3200"/>
          </a:p>
        </p:txBody>
      </p:sp>
      <p:sp>
        <p:nvSpPr>
          <p:cNvPr id="150" name="Google Shape;15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List Command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 txBox="1"/>
          <p:nvPr>
            <p:ph type="title"/>
          </p:nvPr>
        </p:nvSpPr>
        <p:spPr>
          <a:xfrm>
            <a:off x="630936" y="640080"/>
            <a:ext cx="4818888" cy="14813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Creating a file</a:t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643278" y="2372868"/>
            <a:ext cx="3255095" cy="18288"/>
          </a:xfrm>
          <a:custGeom>
            <a:rect b="b" l="l" r="r" t="t"/>
            <a:pathLst>
              <a:path extrusionOk="0" fill="none" h="18288" w="3255095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extrusionOk="0" h="18288" w="3255095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 txBox="1"/>
          <p:nvPr>
            <p:ph idx="1" type="body"/>
          </p:nvPr>
        </p:nvSpPr>
        <p:spPr>
          <a:xfrm>
            <a:off x="630936" y="2660904"/>
            <a:ext cx="4818888" cy="35478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b="1" lang="en-US" sz="2200"/>
              <a:t>touch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Creates/changes file time stamp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b="1" lang="en-US" sz="2200"/>
              <a:t>cat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Concatenate/read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b="1" lang="en-US" sz="2200"/>
              <a:t>mkdir</a:t>
            </a:r>
            <a:endParaRPr b="1" sz="2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Create a directory</a:t>
            </a:r>
            <a:endParaRPr/>
          </a:p>
        </p:txBody>
      </p:sp>
      <p:pic>
        <p:nvPicPr>
          <p:cNvPr id="159" name="Google Shape;15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9335" y="640080"/>
            <a:ext cx="5438393" cy="5577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 txBox="1"/>
          <p:nvPr>
            <p:ph type="title"/>
          </p:nvPr>
        </p:nvSpPr>
        <p:spPr>
          <a:xfrm>
            <a:off x="630935" y="639520"/>
            <a:ext cx="10290107" cy="12941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Edit/Append/Replace content of a file</a:t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643278" y="2573756"/>
            <a:ext cx="3255095" cy="18288"/>
          </a:xfrm>
          <a:custGeom>
            <a:rect b="b" l="l" r="r" t="t"/>
            <a:pathLst>
              <a:path extrusionOk="0" fill="none" h="18288" w="3255095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extrusionOk="0" h="18288" w="3255095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 txBox="1"/>
          <p:nvPr>
            <p:ph idx="1" type="body"/>
          </p:nvPr>
        </p:nvSpPr>
        <p:spPr>
          <a:xfrm>
            <a:off x="630936" y="2807208"/>
            <a:ext cx="3429000" cy="3410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cat 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cat &gt;&gt;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vi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vim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nano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emacs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b="1" sz="2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b="1" sz="2200"/>
          </a:p>
        </p:txBody>
      </p:sp>
      <p:pic>
        <p:nvPicPr>
          <p:cNvPr id="168" name="Google Shape;16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3221" y="2201417"/>
            <a:ext cx="4098845" cy="4132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02198" y="3635428"/>
            <a:ext cx="3733024" cy="2943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02198" y="2088679"/>
            <a:ext cx="3733025" cy="15381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 txBox="1"/>
          <p:nvPr>
            <p:ph type="title"/>
          </p:nvPr>
        </p:nvSpPr>
        <p:spPr>
          <a:xfrm>
            <a:off x="630935" y="639520"/>
            <a:ext cx="10290107" cy="12941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Delete/remove, move a file</a:t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643278" y="2573756"/>
            <a:ext cx="3255095" cy="18288"/>
          </a:xfrm>
          <a:custGeom>
            <a:rect b="b" l="l" r="r" t="t"/>
            <a:pathLst>
              <a:path extrusionOk="0" fill="none" h="18288" w="3255095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extrusionOk="0" h="18288" w="3255095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 txBox="1"/>
          <p:nvPr>
            <p:ph idx="1" type="body"/>
          </p:nvPr>
        </p:nvSpPr>
        <p:spPr>
          <a:xfrm>
            <a:off x="630936" y="2807208"/>
            <a:ext cx="3429000" cy="3410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9600"/>
              <a:t>rm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9600"/>
              <a:t>Remove file/files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9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9600"/>
              <a:t>rmdir</a:t>
            </a:r>
            <a:endParaRPr b="1" sz="9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9600"/>
              <a:t>Remove directory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9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9600"/>
              <a:t>mv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9600"/>
              <a:t>Move/rename file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2400"/>
              <a:t>	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200"/>
          </a:p>
        </p:txBody>
      </p:sp>
      <p:pic>
        <p:nvPicPr>
          <p:cNvPr id="179" name="Google Shape;17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6561" y="2030480"/>
            <a:ext cx="5254503" cy="47307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 txBox="1"/>
          <p:nvPr>
            <p:ph type="title"/>
          </p:nvPr>
        </p:nvSpPr>
        <p:spPr>
          <a:xfrm>
            <a:off x="630936" y="640080"/>
            <a:ext cx="4818888" cy="14813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alibri"/>
              <a:buNone/>
            </a:pPr>
            <a:r>
              <a:rPr lang="en-US" sz="5000"/>
              <a:t>Finding files</a:t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643278" y="2372868"/>
            <a:ext cx="3255095" cy="18288"/>
          </a:xfrm>
          <a:custGeom>
            <a:rect b="b" l="l" r="r" t="t"/>
            <a:pathLst>
              <a:path extrusionOk="0" fill="none" h="18288" w="3255095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extrusionOk="0" h="18288" w="3255095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 txBox="1"/>
          <p:nvPr>
            <p:ph idx="1" type="body"/>
          </p:nvPr>
        </p:nvSpPr>
        <p:spPr>
          <a:xfrm>
            <a:off x="630936" y="2660904"/>
            <a:ext cx="4818888" cy="35478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b="1" sz="2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b="1" lang="en-US" sz="2200"/>
              <a:t>ls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b="1" lang="en-US" sz="2200"/>
              <a:t>find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b="1" lang="en-US" sz="2200"/>
              <a:t>which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b="1" lang="en-US" sz="2200"/>
              <a:t>locate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b="1" sz="2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b="1" lang="en-US" sz="2200"/>
              <a:t>Note: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Run ‘updatedb’ if locate is not working</a:t>
            </a:r>
            <a:endParaRPr/>
          </a:p>
        </p:txBody>
      </p:sp>
      <p:pic>
        <p:nvPicPr>
          <p:cNvPr id="188" name="Google Shape;18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6325" y="1301486"/>
            <a:ext cx="6182397" cy="2142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66324" y="3639544"/>
            <a:ext cx="6199717" cy="2223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 txBox="1"/>
          <p:nvPr>
            <p:ph type="title"/>
          </p:nvPr>
        </p:nvSpPr>
        <p:spPr>
          <a:xfrm>
            <a:off x="630936" y="640080"/>
            <a:ext cx="4818888" cy="14813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alibri"/>
              <a:buNone/>
            </a:pPr>
            <a:r>
              <a:rPr lang="en-US" sz="5000"/>
              <a:t>Man Pages </a:t>
            </a:r>
            <a:br>
              <a:rPr lang="en-US" sz="5000"/>
            </a:br>
            <a:r>
              <a:rPr lang="en-US" sz="5000"/>
              <a:t>(Help Page)</a:t>
            </a:r>
            <a:endParaRPr/>
          </a:p>
        </p:txBody>
      </p:sp>
      <p:sp>
        <p:nvSpPr>
          <p:cNvPr id="196" name="Google Shape;196;p10"/>
          <p:cNvSpPr/>
          <p:nvPr/>
        </p:nvSpPr>
        <p:spPr>
          <a:xfrm>
            <a:off x="643278" y="2372868"/>
            <a:ext cx="3255095" cy="18288"/>
          </a:xfrm>
          <a:custGeom>
            <a:rect b="b" l="l" r="r" t="t"/>
            <a:pathLst>
              <a:path extrusionOk="0" fill="none" h="18288" w="3255095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extrusionOk="0" h="18288" w="3255095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 txBox="1"/>
          <p:nvPr>
            <p:ph idx="1" type="body"/>
          </p:nvPr>
        </p:nvSpPr>
        <p:spPr>
          <a:xfrm>
            <a:off x="630936" y="2660904"/>
            <a:ext cx="4818888" cy="35478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man </a:t>
            </a:r>
            <a:r>
              <a:rPr lang="en-US"/>
              <a:t>command/utility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Shows the command help. All details about the command will be displayed.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Example: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	man </a:t>
            </a:r>
            <a:r>
              <a:rPr lang="en-US"/>
              <a:t>ls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	man </a:t>
            </a:r>
            <a:r>
              <a:rPr lang="en-US"/>
              <a:t>man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b="1" sz="2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b="1" sz="2200"/>
          </a:p>
        </p:txBody>
      </p:sp>
      <p:pic>
        <p:nvPicPr>
          <p:cNvPr id="198" name="Google Shape;19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27864" y="640080"/>
            <a:ext cx="5201336" cy="5577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 txBox="1"/>
          <p:nvPr>
            <p:ph type="title"/>
          </p:nvPr>
        </p:nvSpPr>
        <p:spPr>
          <a:xfrm>
            <a:off x="835155" y="552906"/>
            <a:ext cx="5603352" cy="1954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Links</a:t>
            </a:r>
            <a:br>
              <a:rPr lang="en-US"/>
            </a:br>
            <a:r>
              <a:rPr lang="en-US"/>
              <a:t>hard and symbolic links</a:t>
            </a:r>
            <a:endParaRPr/>
          </a:p>
        </p:txBody>
      </p:sp>
      <p:sp>
        <p:nvSpPr>
          <p:cNvPr id="205" name="Google Shape;205;p11"/>
          <p:cNvSpPr txBox="1"/>
          <p:nvPr>
            <p:ph idx="1" type="body"/>
          </p:nvPr>
        </p:nvSpPr>
        <p:spPr>
          <a:xfrm>
            <a:off x="6438507" y="552906"/>
            <a:ext cx="5109328" cy="1954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Hard link: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	</a:t>
            </a:r>
            <a:r>
              <a:rPr lang="en-US"/>
              <a:t>ln /etc/passwd passwd1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Symbolic link: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	</a:t>
            </a:r>
            <a:r>
              <a:rPr lang="en-US"/>
              <a:t>ln –s /etc/passwd passwd2</a:t>
            </a:r>
            <a:endParaRPr/>
          </a:p>
        </p:txBody>
      </p:sp>
      <p:pic>
        <p:nvPicPr>
          <p:cNvPr id="206" name="Google Shape;20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124" y="2737387"/>
            <a:ext cx="10515569" cy="37856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 txBox="1"/>
          <p:nvPr>
            <p:ph type="title"/>
          </p:nvPr>
        </p:nvSpPr>
        <p:spPr>
          <a:xfrm>
            <a:off x="630936" y="640080"/>
            <a:ext cx="4818888" cy="14813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alibri"/>
              <a:buNone/>
            </a:pPr>
            <a:r>
              <a:rPr lang="en-US" sz="5000"/>
              <a:t>Zip/Archive</a:t>
            </a:r>
            <a:endParaRPr/>
          </a:p>
        </p:txBody>
      </p:sp>
      <p:sp>
        <p:nvSpPr>
          <p:cNvPr id="213" name="Google Shape;213;p12"/>
          <p:cNvSpPr/>
          <p:nvPr/>
        </p:nvSpPr>
        <p:spPr>
          <a:xfrm>
            <a:off x="643278" y="2372868"/>
            <a:ext cx="3255095" cy="18288"/>
          </a:xfrm>
          <a:custGeom>
            <a:rect b="b" l="l" r="r" t="t"/>
            <a:pathLst>
              <a:path extrusionOk="0" fill="none" h="18288" w="3255095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extrusionOk="0" h="18288" w="3255095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 txBox="1"/>
          <p:nvPr>
            <p:ph idx="1" type="body"/>
          </p:nvPr>
        </p:nvSpPr>
        <p:spPr>
          <a:xfrm>
            <a:off x="630936" y="2660904"/>
            <a:ext cx="4818888" cy="35478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Create tar file: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tar –cvf test.tar /root/test/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Extract tar file: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tar –xvf test.tar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List tar file content: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tar –tvf test.tar</a:t>
            </a:r>
            <a:endParaRPr/>
          </a:p>
        </p:txBody>
      </p:sp>
      <p:pic>
        <p:nvPicPr>
          <p:cNvPr id="215" name="Google Shape;21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09961" y="0"/>
            <a:ext cx="538203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"/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3"/>
          <p:cNvSpPr txBox="1"/>
          <p:nvPr>
            <p:ph type="title"/>
          </p:nvPr>
        </p:nvSpPr>
        <p:spPr>
          <a:xfrm>
            <a:off x="838198" y="547815"/>
            <a:ext cx="5167185" cy="1680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Understanding ls </a:t>
            </a:r>
            <a:br>
              <a:rPr lang="en-US" sz="4000"/>
            </a:br>
            <a:r>
              <a:rPr lang="en-US" sz="4000"/>
              <a:t>long listing (ls –l)</a:t>
            </a:r>
            <a:endParaRPr/>
          </a:p>
        </p:txBody>
      </p:sp>
      <p:sp>
        <p:nvSpPr>
          <p:cNvPr id="222" name="Google Shape;222;p13"/>
          <p:cNvSpPr txBox="1"/>
          <p:nvPr>
            <p:ph idx="1" type="body"/>
          </p:nvPr>
        </p:nvSpPr>
        <p:spPr>
          <a:xfrm>
            <a:off x="671939" y="2357762"/>
            <a:ext cx="4813749" cy="39524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/>
              <a:t>-rw-r--r-</a:t>
            </a:r>
            <a:r>
              <a:rPr lang="en-US" sz="2200"/>
              <a:t> permissions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/>
              <a:t>1</a:t>
            </a:r>
            <a:r>
              <a:rPr lang="en-US" sz="2200"/>
              <a:t> : number of linked hard-links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/>
              <a:t>prajith</a:t>
            </a:r>
            <a:r>
              <a:rPr lang="en-US" sz="2200"/>
              <a:t>: owner of the file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/>
              <a:t>wheel</a:t>
            </a:r>
            <a:r>
              <a:rPr lang="en-US" sz="2200"/>
              <a:t>: which group this file belongs to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/>
              <a:t>0</a:t>
            </a:r>
            <a:r>
              <a:rPr lang="en-US" sz="2200"/>
              <a:t>: size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/>
              <a:t>May 11 10:53 :</a:t>
            </a:r>
            <a:r>
              <a:rPr lang="en-US" sz="2200"/>
              <a:t> modification/creation date and time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/>
              <a:t>test1</a:t>
            </a:r>
            <a:r>
              <a:rPr lang="en-US" sz="2200"/>
              <a:t>: file/directory name</a:t>
            </a:r>
            <a:endParaRPr/>
          </a:p>
        </p:txBody>
      </p:sp>
      <p:pic>
        <p:nvPicPr>
          <p:cNvPr id="223" name="Google Shape;22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9384" y="987266"/>
            <a:ext cx="6235871" cy="2665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9385" y="3806985"/>
            <a:ext cx="6235872" cy="2440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4"/>
          <p:cNvSpPr txBox="1"/>
          <p:nvPr>
            <p:ph type="title"/>
          </p:nvPr>
        </p:nvSpPr>
        <p:spPr>
          <a:xfrm>
            <a:off x="841248" y="548640"/>
            <a:ext cx="3600860" cy="5431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Permissions</a:t>
            </a:r>
            <a:endParaRPr/>
          </a:p>
        </p:txBody>
      </p:sp>
      <p:sp>
        <p:nvSpPr>
          <p:cNvPr id="231" name="Google Shape;231;p14"/>
          <p:cNvSpPr/>
          <p:nvPr/>
        </p:nvSpPr>
        <p:spPr>
          <a:xfrm rot="5400000">
            <a:off x="2543983" y="3258715"/>
            <a:ext cx="4480560" cy="18288"/>
          </a:xfrm>
          <a:custGeom>
            <a:rect b="b" l="l" r="r" t="t"/>
            <a:pathLst>
              <a:path extrusionOk="0" fill="none" h="18288" w="448056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extrusionOk="0" h="18288" w="448056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4"/>
          <p:cNvSpPr txBox="1"/>
          <p:nvPr>
            <p:ph idx="1" type="body"/>
          </p:nvPr>
        </p:nvSpPr>
        <p:spPr>
          <a:xfrm>
            <a:off x="5126418" y="292232"/>
            <a:ext cx="6376545" cy="6344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-rw-------: </a:t>
            </a:r>
            <a:endParaRPr/>
          </a:p>
          <a:p>
            <a:pPr indent="-22860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A file that is only accessible by its owner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-rwxr-xr-x: </a:t>
            </a:r>
            <a:endParaRPr/>
          </a:p>
          <a:p>
            <a:pPr indent="-22860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A file that is executable by every user on the system. A “world-executable” file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-rw-rw-rw-: </a:t>
            </a:r>
            <a:endParaRPr/>
          </a:p>
          <a:p>
            <a:pPr indent="-22860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A file that is open to modification by every user on the system. A “world-writable” file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drwxr-xr-x: </a:t>
            </a:r>
            <a:endParaRPr/>
          </a:p>
          <a:p>
            <a:pPr indent="-22860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A directory that every user on the system can read and access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drwxrwx---: </a:t>
            </a:r>
            <a:endParaRPr/>
          </a:p>
          <a:p>
            <a:pPr indent="-22860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A directory that is modifiable (including its contents) by its owner and group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drwxr-x---: </a:t>
            </a:r>
            <a:endParaRPr/>
          </a:p>
          <a:p>
            <a:pPr indent="-22860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A directory that is accessible by its group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5"/>
          <p:cNvSpPr txBox="1"/>
          <p:nvPr>
            <p:ph type="title"/>
          </p:nvPr>
        </p:nvSpPr>
        <p:spPr>
          <a:xfrm>
            <a:off x="630936" y="457200"/>
            <a:ext cx="4343400" cy="1929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/>
              <a:t>File Permissions</a:t>
            </a:r>
            <a:endParaRPr/>
          </a:p>
        </p:txBody>
      </p:sp>
      <p:sp>
        <p:nvSpPr>
          <p:cNvPr id="239" name="Google Shape;239;p15"/>
          <p:cNvSpPr/>
          <p:nvPr/>
        </p:nvSpPr>
        <p:spPr>
          <a:xfrm rot="5400000">
            <a:off x="4471415" y="1412748"/>
            <a:ext cx="1554480" cy="18288"/>
          </a:xfrm>
          <a:custGeom>
            <a:rect b="b" l="l" r="r" t="t"/>
            <a:pathLst>
              <a:path extrusionOk="0" fill="none" h="18288" w="155448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extrusionOk="0" h="18288" w="155448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5"/>
          <p:cNvSpPr txBox="1"/>
          <p:nvPr>
            <p:ph idx="1" type="body"/>
          </p:nvPr>
        </p:nvSpPr>
        <p:spPr>
          <a:xfrm>
            <a:off x="5553456" y="564491"/>
            <a:ext cx="6007608" cy="26359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Read (r)</a:t>
            </a:r>
            <a:r>
              <a:rPr lang="en-US" sz="2000"/>
              <a:t>: The read permission allows the user to open the file and read its contents.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Write (w)</a:t>
            </a:r>
            <a:r>
              <a:rPr lang="en-US" sz="2000"/>
              <a:t>: The write permission allows the user to modify or change the contents of the file.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Execute (x)</a:t>
            </a:r>
            <a:r>
              <a:rPr lang="en-US" sz="2000"/>
              <a:t>: File execute permission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l,d,c</a:t>
            </a:r>
            <a:r>
              <a:rPr lang="en-US" sz="2000"/>
              <a:t> in the first field stands for link, directory and character file respectively</a:t>
            </a:r>
            <a:endParaRPr/>
          </a:p>
        </p:txBody>
      </p:sp>
      <p:pic>
        <p:nvPicPr>
          <p:cNvPr id="241" name="Google Shape;24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344" y="2977784"/>
            <a:ext cx="5468112" cy="2862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5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54496" y="3764891"/>
            <a:ext cx="5468112" cy="1288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chmod common option</a:t>
            </a:r>
            <a:endParaRPr/>
          </a:p>
        </p:txBody>
      </p:sp>
      <p:sp>
        <p:nvSpPr>
          <p:cNvPr id="248" name="Google Shape;248;p1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000 -- 0  -- _ _ _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001 – 1  -- _ _ x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010 – 2  -- _ w _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011 – 3  -- _ w x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100 – 4  -- r _ _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101 – 5  -- r _ x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110 – 6  -- r w _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111 – 7  -- r w x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Input and Output Redirection</a:t>
            </a:r>
            <a:endParaRPr/>
          </a:p>
        </p:txBody>
      </p:sp>
      <p:sp>
        <p:nvSpPr>
          <p:cNvPr id="254" name="Google Shape;254;p17"/>
          <p:cNvSpPr txBox="1"/>
          <p:nvPr>
            <p:ph idx="1" type="body"/>
          </p:nvPr>
        </p:nvSpPr>
        <p:spPr>
          <a:xfrm>
            <a:off x="838200" y="1690687"/>
            <a:ext cx="10709635" cy="4615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Output Redirection:	&gt; , &gt;&gt;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	example:		ls –l &gt; test.txt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				some_program &gt;&gt; test.txt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Input redirection:		&lt; , &lt;&lt;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	</a:t>
            </a:r>
            <a:r>
              <a:rPr lang="en-US"/>
              <a:t>example:</a:t>
            </a:r>
            <a:r>
              <a:rPr b="1" lang="en-US"/>
              <a:t>		</a:t>
            </a:r>
            <a:r>
              <a:rPr lang="en-US"/>
              <a:t>mail –s “test mail”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admin@lab.com</a:t>
            </a:r>
            <a:r>
              <a:rPr lang="en-US"/>
              <a:t> &lt; test.txt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Error redirection:		2&gt;, 2&gt;&gt;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	</a:t>
            </a:r>
            <a:r>
              <a:rPr lang="en-US"/>
              <a:t>example:</a:t>
            </a:r>
            <a:r>
              <a:rPr b="1" lang="en-US"/>
              <a:t>		</a:t>
            </a:r>
            <a:r>
              <a:rPr lang="en-US"/>
              <a:t>some_command</a:t>
            </a:r>
            <a:r>
              <a:rPr b="1" lang="en-US"/>
              <a:t> </a:t>
            </a:r>
            <a:r>
              <a:rPr lang="en-US"/>
              <a:t>2&gt;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Pipe:				|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	</a:t>
            </a:r>
            <a:r>
              <a:rPr lang="en-US"/>
              <a:t>example:		ls –l | more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8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Filters</a:t>
            </a:r>
            <a:endParaRPr/>
          </a:p>
        </p:txBody>
      </p:sp>
      <p:sp>
        <p:nvSpPr>
          <p:cNvPr id="261" name="Google Shape;261;p18"/>
          <p:cNvSpPr/>
          <p:nvPr/>
        </p:nvSpPr>
        <p:spPr>
          <a:xfrm>
            <a:off x="669036" y="1677373"/>
            <a:ext cx="10853928" cy="18288"/>
          </a:xfrm>
          <a:custGeom>
            <a:rect b="b" l="l" r="r" t="t"/>
            <a:pathLst>
              <a:path extrusionOk="0" fill="none" h="18288" w="10853928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extrusionOk="0" h="18288" w="10853928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8"/>
          <p:cNvSpPr txBox="1"/>
          <p:nvPr>
            <p:ph idx="1" type="body"/>
          </p:nvPr>
        </p:nvSpPr>
        <p:spPr>
          <a:xfrm>
            <a:off x="669036" y="1825689"/>
            <a:ext cx="11057908" cy="4251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Filters are commands that alter piped redirection and output. Note that filter commands are also standard Linux commands that can be used without pipes.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find: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find returns files with filenames that match the argument passed to find.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grep: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	</a:t>
            </a:r>
            <a:r>
              <a:rPr lang="en-US" sz="2000"/>
              <a:t>grep returns text that matches the string pattern passed to grep.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tee: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tee redirects standard input to both standard output and one or more files.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tr: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	</a:t>
            </a:r>
            <a:r>
              <a:rPr lang="en-US" sz="2000"/>
              <a:t>tr finds-and-replaces one string with another.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wc: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	</a:t>
            </a:r>
            <a:r>
              <a:rPr lang="en-US" sz="2000"/>
              <a:t>wc counts characters, lines, and words.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9"/>
          <p:cNvSpPr txBox="1"/>
          <p:nvPr>
            <p:ph type="title"/>
          </p:nvPr>
        </p:nvSpPr>
        <p:spPr>
          <a:xfrm>
            <a:off x="630936" y="639520"/>
            <a:ext cx="3429000" cy="17190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Wildcard Characters</a:t>
            </a:r>
            <a:endParaRPr/>
          </a:p>
        </p:txBody>
      </p:sp>
      <p:sp>
        <p:nvSpPr>
          <p:cNvPr id="269" name="Google Shape;269;p19"/>
          <p:cNvSpPr/>
          <p:nvPr/>
        </p:nvSpPr>
        <p:spPr>
          <a:xfrm>
            <a:off x="643278" y="2573756"/>
            <a:ext cx="3255095" cy="18288"/>
          </a:xfrm>
          <a:custGeom>
            <a:rect b="b" l="l" r="r" t="t"/>
            <a:pathLst>
              <a:path extrusionOk="0" fill="none" h="18288" w="3255095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extrusionOk="0" h="18288" w="3255095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9"/>
          <p:cNvSpPr txBox="1"/>
          <p:nvPr>
            <p:ph idx="1" type="body"/>
          </p:nvPr>
        </p:nvSpPr>
        <p:spPr>
          <a:xfrm>
            <a:off x="630936" y="2807208"/>
            <a:ext cx="3429000" cy="3410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ls test*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ls ?est</a:t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ls [ts]est</a:t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ls [!ts]est</a:t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ls test[0-9][0-9]</a:t>
            </a:r>
            <a:endParaRPr/>
          </a:p>
        </p:txBody>
      </p:sp>
      <p:pic>
        <p:nvPicPr>
          <p:cNvPr id="271" name="Google Shape;27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7054" y="823821"/>
            <a:ext cx="7902673" cy="5389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File Descriptor</a:t>
            </a:r>
            <a:endParaRPr/>
          </a:p>
        </p:txBody>
      </p:sp>
      <p:sp>
        <p:nvSpPr>
          <p:cNvPr id="277" name="Google Shape;277;p20"/>
          <p:cNvSpPr txBox="1"/>
          <p:nvPr>
            <p:ph idx="1" type="body"/>
          </p:nvPr>
        </p:nvSpPr>
        <p:spPr>
          <a:xfrm>
            <a:off x="838200" y="1622506"/>
            <a:ext cx="6231903" cy="48703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These are three default files named below which are also identified by the shell using file descriptor numbers: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stdin or 0 </a:t>
            </a:r>
            <a:r>
              <a:rPr lang="en-US"/>
              <a:t>– it’s connected to the keyboard, most programs read input from this file.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stdout or 1 </a:t>
            </a:r>
            <a:r>
              <a:rPr lang="en-US"/>
              <a:t>– it’s attached to the screen, and all programs send their results to this file and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stderr or 2 </a:t>
            </a:r>
            <a:r>
              <a:rPr lang="en-US"/>
              <a:t>– programs send status/error messages to this file which is also attached to the screen</a:t>
            </a:r>
            <a:endParaRPr/>
          </a:p>
        </p:txBody>
      </p:sp>
      <p:pic>
        <p:nvPicPr>
          <p:cNvPr descr="Redirection in Linux/Unix - Demystified!" id="278" name="Google Shape;27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70103" y="2281239"/>
            <a:ext cx="4933950" cy="288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2021-05-10T18:42:54Z</dcterms:created>
  <dc:creator>Prajith</dc:creator>
</cp:coreProperties>
</file>