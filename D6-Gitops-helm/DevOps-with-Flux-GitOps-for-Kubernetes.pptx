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4630400" cy="8229600"/>
  <p:notesSz cx="8229600" cy="14630400"/>
  <p:embeddedFontLst>
    <p:embeddedFont>
      <p:font typeface="Fraunces Extra Bold"/>
      <p:regular r:id="rId20"/>
    </p:embeddedFont>
    <p:embeddedFont>
      <p:font typeface="Fraunces Extra Bold"/>
      <p:regular r:id="rId21"/>
    </p:embeddedFont>
    <p:embeddedFont>
      <p:font typeface="Nobile"/>
      <p:regular r:id="rId22"/>
    </p:embeddedFont>
    <p:embeddedFont>
      <p:font typeface="Nobile"/>
      <p:regular r:id="rId23"/>
    </p:embeddedFont>
    <p:embeddedFont>
      <p:font typeface="Nobile"/>
      <p:regular r:id="rId24"/>
    </p:embeddedFont>
    <p:embeddedFont>
      <p:font typeface="Nobile"/>
      <p:regular r:id="rId25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Relationship Id="rId20" Type="http://schemas.openxmlformats.org/officeDocument/2006/relationships/font" Target="fonts/font1.fntdata"/><Relationship Id="rId21" Type="http://schemas.openxmlformats.org/officeDocument/2006/relationships/font" Target="fonts/font2.fntdata"/><Relationship Id="rId22" Type="http://schemas.openxmlformats.org/officeDocument/2006/relationships/font" Target="fonts/font3.fntdata"/><Relationship Id="rId23" Type="http://schemas.openxmlformats.org/officeDocument/2006/relationships/font" Target="fonts/font4.fntdata"/><Relationship Id="rId24" Type="http://schemas.openxmlformats.org/officeDocument/2006/relationships/font" Target="fonts/font5.fntdata"/><Relationship Id="rId25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3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0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4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224564"/>
            <a:ext cx="7556421" cy="12401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DevOps with Flux – GitOps for Kubernetes</a:t>
            </a:r>
            <a:endParaRPr lang="en-US" sz="3900" dirty="0"/>
          </a:p>
        </p:txBody>
      </p:sp>
      <p:sp>
        <p:nvSpPr>
          <p:cNvPr id="4" name="Text 1"/>
          <p:cNvSpPr/>
          <p:nvPr/>
        </p:nvSpPr>
        <p:spPr>
          <a:xfrm>
            <a:off x="6280190" y="3762375"/>
            <a:ext cx="7556421" cy="9922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00"/>
              </a:lnSpc>
              <a:buNone/>
            </a:pPr>
            <a:r>
              <a:rPr lang="en-US" sz="310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Automating Continuous Delivery the GitOps way</a:t>
            </a:r>
            <a:endParaRPr lang="en-US" sz="3100" dirty="0"/>
          </a:p>
        </p:txBody>
      </p:sp>
      <p:sp>
        <p:nvSpPr>
          <p:cNvPr id="5" name="Text 2"/>
          <p:cNvSpPr/>
          <p:nvPr/>
        </p:nvSpPr>
        <p:spPr>
          <a:xfrm>
            <a:off x="6280190" y="5052298"/>
            <a:ext cx="7556421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Welcome to this comprehensive guide on implementing GitOps workflows using Flux. Today we'll explore how Flux enables automated, secure, and reliable continuous delivery for your Kubernetes environments.</a:t>
            </a:r>
            <a:endParaRPr lang="en-US" sz="15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29007"/>
            <a:ext cx="4713684" cy="5891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600"/>
              </a:lnSpc>
              <a:buNone/>
            </a:pPr>
            <a:r>
              <a:rPr lang="en-US" sz="370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Today's Agenda</a:t>
            </a:r>
            <a:endParaRPr lang="en-US" sz="3700" dirty="0"/>
          </a:p>
        </p:txBody>
      </p:sp>
      <p:sp>
        <p:nvSpPr>
          <p:cNvPr id="3" name="Shape 1"/>
          <p:cNvSpPr/>
          <p:nvPr/>
        </p:nvSpPr>
        <p:spPr>
          <a:xfrm>
            <a:off x="793790" y="1877973"/>
            <a:ext cx="6427113" cy="1693902"/>
          </a:xfrm>
          <a:prstGeom prst="roundRect">
            <a:avLst>
              <a:gd name="adj" fmla="val 6478"/>
            </a:avLst>
          </a:prstGeom>
          <a:solidFill>
            <a:srgbClr val="FAFFFA"/>
          </a:solidFill>
          <a:ln/>
        </p:spPr>
      </p:sp>
      <p:sp>
        <p:nvSpPr>
          <p:cNvPr id="4" name="Shape 2"/>
          <p:cNvSpPr/>
          <p:nvPr/>
        </p:nvSpPr>
        <p:spPr>
          <a:xfrm>
            <a:off x="793790" y="1855113"/>
            <a:ext cx="6427113" cy="91440"/>
          </a:xfrm>
          <a:prstGeom prst="roundRect">
            <a:avLst>
              <a:gd name="adj" fmla="val 185581"/>
            </a:avLst>
          </a:prstGeom>
          <a:solidFill>
            <a:srgbClr val="438951"/>
          </a:solidFill>
          <a:ln/>
        </p:spPr>
      </p:sp>
      <p:sp>
        <p:nvSpPr>
          <p:cNvPr id="5" name="Shape 3"/>
          <p:cNvSpPr/>
          <p:nvPr/>
        </p:nvSpPr>
        <p:spPr>
          <a:xfrm>
            <a:off x="3724513" y="1595199"/>
            <a:ext cx="565547" cy="565547"/>
          </a:xfrm>
          <a:prstGeom prst="roundRect">
            <a:avLst>
              <a:gd name="adj" fmla="val 161684"/>
            </a:avLst>
          </a:prstGeom>
          <a:solidFill>
            <a:srgbClr val="438951"/>
          </a:solidFill>
          <a:ln/>
        </p:spPr>
      </p:sp>
      <p:sp>
        <p:nvSpPr>
          <p:cNvPr id="6" name="Text 4"/>
          <p:cNvSpPr/>
          <p:nvPr/>
        </p:nvSpPr>
        <p:spPr>
          <a:xfrm>
            <a:off x="3894177" y="1736527"/>
            <a:ext cx="226219" cy="2827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FFFFFF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1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1005126" y="2349341"/>
            <a:ext cx="3535680" cy="294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Introduction to GitOps &amp; Flux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1005126" y="2757130"/>
            <a:ext cx="6004441" cy="6034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Core concepts and principles behind GitOps and why Flux is a leading implementation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7409378" y="1877973"/>
            <a:ext cx="6427232" cy="1693902"/>
          </a:xfrm>
          <a:prstGeom prst="roundRect">
            <a:avLst>
              <a:gd name="adj" fmla="val 6478"/>
            </a:avLst>
          </a:prstGeom>
          <a:solidFill>
            <a:srgbClr val="FAFFFA"/>
          </a:solidFill>
          <a:ln/>
        </p:spPr>
      </p:sp>
      <p:sp>
        <p:nvSpPr>
          <p:cNvPr id="10" name="Shape 8"/>
          <p:cNvSpPr/>
          <p:nvPr/>
        </p:nvSpPr>
        <p:spPr>
          <a:xfrm>
            <a:off x="7409378" y="1855113"/>
            <a:ext cx="6427232" cy="91440"/>
          </a:xfrm>
          <a:prstGeom prst="roundRect">
            <a:avLst>
              <a:gd name="adj" fmla="val 185581"/>
            </a:avLst>
          </a:prstGeom>
          <a:solidFill>
            <a:srgbClr val="438951"/>
          </a:solidFill>
          <a:ln/>
        </p:spPr>
      </p:sp>
      <p:sp>
        <p:nvSpPr>
          <p:cNvPr id="11" name="Shape 9"/>
          <p:cNvSpPr/>
          <p:nvPr/>
        </p:nvSpPr>
        <p:spPr>
          <a:xfrm>
            <a:off x="10340221" y="1595199"/>
            <a:ext cx="565547" cy="565547"/>
          </a:xfrm>
          <a:prstGeom prst="roundRect">
            <a:avLst>
              <a:gd name="adj" fmla="val 161684"/>
            </a:avLst>
          </a:prstGeom>
          <a:solidFill>
            <a:srgbClr val="438951"/>
          </a:solidFill>
          <a:ln/>
        </p:spPr>
      </p:sp>
      <p:sp>
        <p:nvSpPr>
          <p:cNvPr id="12" name="Text 10"/>
          <p:cNvSpPr/>
          <p:nvPr/>
        </p:nvSpPr>
        <p:spPr>
          <a:xfrm>
            <a:off x="10509885" y="1736527"/>
            <a:ext cx="226219" cy="2827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FFFFFF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2</a:t>
            </a:r>
            <a:endParaRPr lang="en-US" sz="1750" dirty="0"/>
          </a:p>
        </p:txBody>
      </p:sp>
      <p:sp>
        <p:nvSpPr>
          <p:cNvPr id="13" name="Text 11"/>
          <p:cNvSpPr/>
          <p:nvPr/>
        </p:nvSpPr>
        <p:spPr>
          <a:xfrm>
            <a:off x="7620714" y="2349341"/>
            <a:ext cx="2356842" cy="294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Flux Architecture</a:t>
            </a:r>
            <a:endParaRPr lang="en-US" sz="1850" dirty="0"/>
          </a:p>
        </p:txBody>
      </p:sp>
      <p:sp>
        <p:nvSpPr>
          <p:cNvPr id="14" name="Text 12"/>
          <p:cNvSpPr/>
          <p:nvPr/>
        </p:nvSpPr>
        <p:spPr>
          <a:xfrm>
            <a:off x="7620714" y="2757130"/>
            <a:ext cx="6004560" cy="6034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Understanding the components and controllers that make up the Flux system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793790" y="4043124"/>
            <a:ext cx="6427113" cy="1693902"/>
          </a:xfrm>
          <a:prstGeom prst="roundRect">
            <a:avLst>
              <a:gd name="adj" fmla="val 6478"/>
            </a:avLst>
          </a:prstGeom>
          <a:solidFill>
            <a:srgbClr val="FAFFFA"/>
          </a:solidFill>
          <a:ln/>
        </p:spPr>
      </p:sp>
      <p:sp>
        <p:nvSpPr>
          <p:cNvPr id="16" name="Shape 14"/>
          <p:cNvSpPr/>
          <p:nvPr/>
        </p:nvSpPr>
        <p:spPr>
          <a:xfrm>
            <a:off x="793790" y="4020264"/>
            <a:ext cx="6427113" cy="91440"/>
          </a:xfrm>
          <a:prstGeom prst="roundRect">
            <a:avLst>
              <a:gd name="adj" fmla="val 185581"/>
            </a:avLst>
          </a:prstGeom>
          <a:solidFill>
            <a:srgbClr val="438951"/>
          </a:solidFill>
          <a:ln/>
        </p:spPr>
      </p:sp>
      <p:sp>
        <p:nvSpPr>
          <p:cNvPr id="17" name="Shape 15"/>
          <p:cNvSpPr/>
          <p:nvPr/>
        </p:nvSpPr>
        <p:spPr>
          <a:xfrm>
            <a:off x="3724513" y="3760351"/>
            <a:ext cx="565547" cy="565547"/>
          </a:xfrm>
          <a:prstGeom prst="roundRect">
            <a:avLst>
              <a:gd name="adj" fmla="val 161684"/>
            </a:avLst>
          </a:prstGeom>
          <a:solidFill>
            <a:srgbClr val="438951"/>
          </a:solidFill>
          <a:ln/>
        </p:spPr>
      </p:sp>
      <p:sp>
        <p:nvSpPr>
          <p:cNvPr id="18" name="Text 16"/>
          <p:cNvSpPr/>
          <p:nvPr/>
        </p:nvSpPr>
        <p:spPr>
          <a:xfrm>
            <a:off x="3894177" y="3901678"/>
            <a:ext cx="226219" cy="2827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FFFFFF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3</a:t>
            </a:r>
            <a:endParaRPr lang="en-US" sz="1750" dirty="0"/>
          </a:p>
        </p:txBody>
      </p:sp>
      <p:sp>
        <p:nvSpPr>
          <p:cNvPr id="19" name="Text 17"/>
          <p:cNvSpPr/>
          <p:nvPr/>
        </p:nvSpPr>
        <p:spPr>
          <a:xfrm>
            <a:off x="1005126" y="4514493"/>
            <a:ext cx="2356842" cy="294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Installing Flux</a:t>
            </a:r>
            <a:endParaRPr lang="en-US" sz="1850" dirty="0"/>
          </a:p>
        </p:txBody>
      </p:sp>
      <p:sp>
        <p:nvSpPr>
          <p:cNvPr id="20" name="Text 18"/>
          <p:cNvSpPr/>
          <p:nvPr/>
        </p:nvSpPr>
        <p:spPr>
          <a:xfrm>
            <a:off x="1005126" y="4922282"/>
            <a:ext cx="6004441" cy="6034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Step-by-step guide to getting Flux up and running in your environment</a:t>
            </a:r>
            <a:endParaRPr lang="en-US" sz="1450" dirty="0"/>
          </a:p>
        </p:txBody>
      </p:sp>
      <p:sp>
        <p:nvSpPr>
          <p:cNvPr id="21" name="Shape 19"/>
          <p:cNvSpPr/>
          <p:nvPr/>
        </p:nvSpPr>
        <p:spPr>
          <a:xfrm>
            <a:off x="7409378" y="4043124"/>
            <a:ext cx="6427232" cy="1693902"/>
          </a:xfrm>
          <a:prstGeom prst="roundRect">
            <a:avLst>
              <a:gd name="adj" fmla="val 6478"/>
            </a:avLst>
          </a:prstGeom>
          <a:solidFill>
            <a:srgbClr val="FAFFFA"/>
          </a:solidFill>
          <a:ln/>
        </p:spPr>
      </p:sp>
      <p:sp>
        <p:nvSpPr>
          <p:cNvPr id="22" name="Shape 20"/>
          <p:cNvSpPr/>
          <p:nvPr/>
        </p:nvSpPr>
        <p:spPr>
          <a:xfrm>
            <a:off x="7409378" y="4020264"/>
            <a:ext cx="6427232" cy="91440"/>
          </a:xfrm>
          <a:prstGeom prst="roundRect">
            <a:avLst>
              <a:gd name="adj" fmla="val 185581"/>
            </a:avLst>
          </a:prstGeom>
          <a:solidFill>
            <a:srgbClr val="438951"/>
          </a:solidFill>
          <a:ln/>
        </p:spPr>
      </p:sp>
      <p:sp>
        <p:nvSpPr>
          <p:cNvPr id="23" name="Shape 21"/>
          <p:cNvSpPr/>
          <p:nvPr/>
        </p:nvSpPr>
        <p:spPr>
          <a:xfrm>
            <a:off x="10340221" y="3760351"/>
            <a:ext cx="565547" cy="565547"/>
          </a:xfrm>
          <a:prstGeom prst="roundRect">
            <a:avLst>
              <a:gd name="adj" fmla="val 161684"/>
            </a:avLst>
          </a:prstGeom>
          <a:solidFill>
            <a:srgbClr val="438951"/>
          </a:solidFill>
          <a:ln/>
        </p:spPr>
      </p:sp>
      <p:sp>
        <p:nvSpPr>
          <p:cNvPr id="24" name="Text 22"/>
          <p:cNvSpPr/>
          <p:nvPr/>
        </p:nvSpPr>
        <p:spPr>
          <a:xfrm>
            <a:off x="10509885" y="3901678"/>
            <a:ext cx="226219" cy="2827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FFFFFF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4</a:t>
            </a:r>
            <a:endParaRPr lang="en-US" sz="1750" dirty="0"/>
          </a:p>
        </p:txBody>
      </p:sp>
      <p:sp>
        <p:nvSpPr>
          <p:cNvPr id="25" name="Text 23"/>
          <p:cNvSpPr/>
          <p:nvPr/>
        </p:nvSpPr>
        <p:spPr>
          <a:xfrm>
            <a:off x="7620714" y="4514493"/>
            <a:ext cx="2827020" cy="294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Managing Deployments</a:t>
            </a:r>
            <a:endParaRPr lang="en-US" sz="1850" dirty="0"/>
          </a:p>
        </p:txBody>
      </p:sp>
      <p:sp>
        <p:nvSpPr>
          <p:cNvPr id="26" name="Text 24"/>
          <p:cNvSpPr/>
          <p:nvPr/>
        </p:nvSpPr>
        <p:spPr>
          <a:xfrm>
            <a:off x="7620714" y="4922282"/>
            <a:ext cx="6004560" cy="3017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Practical examples of GitOps workflows with Flux</a:t>
            </a:r>
            <a:endParaRPr lang="en-US" sz="1450" dirty="0"/>
          </a:p>
        </p:txBody>
      </p:sp>
      <p:sp>
        <p:nvSpPr>
          <p:cNvPr id="27" name="Shape 25"/>
          <p:cNvSpPr/>
          <p:nvPr/>
        </p:nvSpPr>
        <p:spPr>
          <a:xfrm>
            <a:off x="793790" y="6208276"/>
            <a:ext cx="6427113" cy="1392198"/>
          </a:xfrm>
          <a:prstGeom prst="roundRect">
            <a:avLst>
              <a:gd name="adj" fmla="val 7882"/>
            </a:avLst>
          </a:prstGeom>
          <a:solidFill>
            <a:srgbClr val="FAFFFA"/>
          </a:solidFill>
          <a:ln/>
        </p:spPr>
      </p:sp>
      <p:sp>
        <p:nvSpPr>
          <p:cNvPr id="28" name="Shape 26"/>
          <p:cNvSpPr/>
          <p:nvPr/>
        </p:nvSpPr>
        <p:spPr>
          <a:xfrm>
            <a:off x="793790" y="6185416"/>
            <a:ext cx="6427113" cy="91440"/>
          </a:xfrm>
          <a:prstGeom prst="roundRect">
            <a:avLst>
              <a:gd name="adj" fmla="val 185581"/>
            </a:avLst>
          </a:prstGeom>
          <a:solidFill>
            <a:srgbClr val="438951"/>
          </a:solidFill>
          <a:ln/>
        </p:spPr>
      </p:sp>
      <p:sp>
        <p:nvSpPr>
          <p:cNvPr id="29" name="Shape 27"/>
          <p:cNvSpPr/>
          <p:nvPr/>
        </p:nvSpPr>
        <p:spPr>
          <a:xfrm>
            <a:off x="3724513" y="5925502"/>
            <a:ext cx="565547" cy="565547"/>
          </a:xfrm>
          <a:prstGeom prst="roundRect">
            <a:avLst>
              <a:gd name="adj" fmla="val 161684"/>
            </a:avLst>
          </a:prstGeom>
          <a:solidFill>
            <a:srgbClr val="438951"/>
          </a:solidFill>
          <a:ln/>
        </p:spPr>
      </p:sp>
      <p:sp>
        <p:nvSpPr>
          <p:cNvPr id="30" name="Text 28"/>
          <p:cNvSpPr/>
          <p:nvPr/>
        </p:nvSpPr>
        <p:spPr>
          <a:xfrm>
            <a:off x="3894177" y="6066830"/>
            <a:ext cx="226219" cy="2827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FFFFFF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5</a:t>
            </a:r>
            <a:endParaRPr lang="en-US" sz="1750" dirty="0"/>
          </a:p>
        </p:txBody>
      </p:sp>
      <p:sp>
        <p:nvSpPr>
          <p:cNvPr id="31" name="Text 29"/>
          <p:cNvSpPr/>
          <p:nvPr/>
        </p:nvSpPr>
        <p:spPr>
          <a:xfrm>
            <a:off x="1005126" y="6679644"/>
            <a:ext cx="2356842" cy="294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Advanced Features</a:t>
            </a:r>
            <a:endParaRPr lang="en-US" sz="1850" dirty="0"/>
          </a:p>
        </p:txBody>
      </p:sp>
      <p:sp>
        <p:nvSpPr>
          <p:cNvPr id="32" name="Text 30"/>
          <p:cNvSpPr/>
          <p:nvPr/>
        </p:nvSpPr>
        <p:spPr>
          <a:xfrm>
            <a:off x="1005126" y="7087433"/>
            <a:ext cx="6004441" cy="3017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Exploring Flux's powerful capabilities beyond basic deployments</a:t>
            </a:r>
            <a:endParaRPr lang="en-US" sz="1450" dirty="0"/>
          </a:p>
        </p:txBody>
      </p:sp>
      <p:sp>
        <p:nvSpPr>
          <p:cNvPr id="33" name="Shape 31"/>
          <p:cNvSpPr/>
          <p:nvPr/>
        </p:nvSpPr>
        <p:spPr>
          <a:xfrm>
            <a:off x="7409378" y="6208276"/>
            <a:ext cx="6427232" cy="1392198"/>
          </a:xfrm>
          <a:prstGeom prst="roundRect">
            <a:avLst>
              <a:gd name="adj" fmla="val 7882"/>
            </a:avLst>
          </a:prstGeom>
          <a:solidFill>
            <a:srgbClr val="FAFFFA"/>
          </a:solidFill>
          <a:ln/>
        </p:spPr>
      </p:sp>
      <p:sp>
        <p:nvSpPr>
          <p:cNvPr id="34" name="Shape 32"/>
          <p:cNvSpPr/>
          <p:nvPr/>
        </p:nvSpPr>
        <p:spPr>
          <a:xfrm>
            <a:off x="7409378" y="6185416"/>
            <a:ext cx="6427232" cy="91440"/>
          </a:xfrm>
          <a:prstGeom prst="roundRect">
            <a:avLst>
              <a:gd name="adj" fmla="val 185581"/>
            </a:avLst>
          </a:prstGeom>
          <a:solidFill>
            <a:srgbClr val="438951"/>
          </a:solidFill>
          <a:ln/>
        </p:spPr>
      </p:sp>
      <p:sp>
        <p:nvSpPr>
          <p:cNvPr id="35" name="Shape 33"/>
          <p:cNvSpPr/>
          <p:nvPr/>
        </p:nvSpPr>
        <p:spPr>
          <a:xfrm>
            <a:off x="10340221" y="5925502"/>
            <a:ext cx="565547" cy="565547"/>
          </a:xfrm>
          <a:prstGeom prst="roundRect">
            <a:avLst>
              <a:gd name="adj" fmla="val 161684"/>
            </a:avLst>
          </a:prstGeom>
          <a:solidFill>
            <a:srgbClr val="438951"/>
          </a:solidFill>
          <a:ln/>
        </p:spPr>
      </p:sp>
      <p:sp>
        <p:nvSpPr>
          <p:cNvPr id="36" name="Text 34"/>
          <p:cNvSpPr/>
          <p:nvPr/>
        </p:nvSpPr>
        <p:spPr>
          <a:xfrm>
            <a:off x="10509885" y="6066830"/>
            <a:ext cx="226219" cy="2827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FFFFFF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6</a:t>
            </a:r>
            <a:endParaRPr lang="en-US" sz="1750" dirty="0"/>
          </a:p>
        </p:txBody>
      </p:sp>
      <p:sp>
        <p:nvSpPr>
          <p:cNvPr id="37" name="Text 35"/>
          <p:cNvSpPr/>
          <p:nvPr/>
        </p:nvSpPr>
        <p:spPr>
          <a:xfrm>
            <a:off x="7620714" y="6679644"/>
            <a:ext cx="2356842" cy="294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Wrap-Up &amp; Q&amp;A</a:t>
            </a:r>
            <a:endParaRPr lang="en-US" sz="1850" dirty="0"/>
          </a:p>
        </p:txBody>
      </p:sp>
      <p:sp>
        <p:nvSpPr>
          <p:cNvPr id="38" name="Text 36"/>
          <p:cNvSpPr/>
          <p:nvPr/>
        </p:nvSpPr>
        <p:spPr>
          <a:xfrm>
            <a:off x="7620714" y="7087433"/>
            <a:ext cx="6004560" cy="3017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Summary and time for questions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1999" y="516969"/>
            <a:ext cx="4465558" cy="558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350"/>
              </a:lnSpc>
              <a:buNone/>
            </a:pPr>
            <a:r>
              <a:rPr lang="en-US" sz="350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What is GitOps?</a:t>
            </a:r>
            <a:endParaRPr lang="en-US" sz="35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1999" y="1543883"/>
            <a:ext cx="6028015" cy="6028015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540704" y="1543883"/>
            <a:ext cx="6345317" cy="1431965"/>
          </a:xfrm>
          <a:prstGeom prst="roundRect">
            <a:avLst>
              <a:gd name="adj" fmla="val 11227"/>
            </a:avLst>
          </a:prstGeom>
          <a:solidFill>
            <a:srgbClr val="FAFFFA"/>
          </a:solidFill>
          <a:ln w="22860">
            <a:solidFill>
              <a:srgbClr val="CED9CE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742158" y="1745337"/>
            <a:ext cx="3517106" cy="278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Git as the </a:t>
            </a:r>
            <a:pPr algn="l" indent="0" marL="0">
              <a:lnSpc>
                <a:spcPts val="2150"/>
              </a:lnSpc>
              <a:buNone/>
            </a:pPr>
            <a:r>
              <a:rPr lang="en-US" sz="1750" b="1" dirty="0">
                <a:solidFill>
                  <a:srgbClr val="438951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single source of truth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7742158" y="2202894"/>
            <a:ext cx="5942409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All infrastructure and application configurations are stored in Git repositories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7540704" y="3154442"/>
            <a:ext cx="6345317" cy="1431965"/>
          </a:xfrm>
          <a:prstGeom prst="roundRect">
            <a:avLst>
              <a:gd name="adj" fmla="val 11227"/>
            </a:avLst>
          </a:prstGeom>
          <a:solidFill>
            <a:srgbClr val="FAFFFA"/>
          </a:solidFill>
          <a:ln w="22860">
            <a:solidFill>
              <a:srgbClr val="CED9C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742158" y="3355896"/>
            <a:ext cx="2476500" cy="278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Declarative Manifests</a:t>
            </a:r>
            <a:endParaRPr lang="en-US" sz="1750" dirty="0"/>
          </a:p>
        </p:txBody>
      </p:sp>
      <p:sp>
        <p:nvSpPr>
          <p:cNvPr id="9" name="Text 6"/>
          <p:cNvSpPr/>
          <p:nvPr/>
        </p:nvSpPr>
        <p:spPr>
          <a:xfrm>
            <a:off x="7742158" y="3813453"/>
            <a:ext cx="5942409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Infrastructure defined as code with declarative manifests stored in version control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7540704" y="4765000"/>
            <a:ext cx="6345317" cy="1146215"/>
          </a:xfrm>
          <a:prstGeom prst="roundRect">
            <a:avLst>
              <a:gd name="adj" fmla="val 14026"/>
            </a:avLst>
          </a:prstGeom>
          <a:solidFill>
            <a:srgbClr val="FAFFFA"/>
          </a:solidFill>
          <a:ln w="22860">
            <a:solidFill>
              <a:srgbClr val="CED9C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742158" y="4966454"/>
            <a:ext cx="3017520" cy="278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Continuous Reconciliation</a:t>
            </a:r>
            <a:endParaRPr lang="en-US" sz="1750" dirty="0"/>
          </a:p>
        </p:txBody>
      </p:sp>
      <p:sp>
        <p:nvSpPr>
          <p:cNvPr id="12" name="Text 9"/>
          <p:cNvSpPr/>
          <p:nvPr/>
        </p:nvSpPr>
        <p:spPr>
          <a:xfrm>
            <a:off x="7742158" y="5424011"/>
            <a:ext cx="5942409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Automated processes ensure the desired state is always enforced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7540704" y="6089809"/>
            <a:ext cx="6345317" cy="1146215"/>
          </a:xfrm>
          <a:prstGeom prst="roundRect">
            <a:avLst>
              <a:gd name="adj" fmla="val 14026"/>
            </a:avLst>
          </a:prstGeom>
          <a:solidFill>
            <a:srgbClr val="FAFFFA"/>
          </a:solidFill>
          <a:ln w="22860">
            <a:solidFill>
              <a:srgbClr val="CED9CE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742158" y="6291263"/>
            <a:ext cx="2232779" cy="278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Key Benefits</a:t>
            </a:r>
            <a:endParaRPr lang="en-US" sz="1750" dirty="0"/>
          </a:p>
        </p:txBody>
      </p:sp>
      <p:sp>
        <p:nvSpPr>
          <p:cNvPr id="15" name="Text 12"/>
          <p:cNvSpPr/>
          <p:nvPr/>
        </p:nvSpPr>
        <p:spPr>
          <a:xfrm>
            <a:off x="7742158" y="6748820"/>
            <a:ext cx="5942409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Complete versioning, auditability, and simplified rollback capabilities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4235" y="374213"/>
            <a:ext cx="3401973" cy="4251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Why Flux?</a:t>
            </a:r>
            <a:endParaRPr lang="en-US" sz="2650" dirty="0"/>
          </a:p>
        </p:txBody>
      </p:sp>
      <p:sp>
        <p:nvSpPr>
          <p:cNvPr id="3" name="Text 1"/>
          <p:cNvSpPr/>
          <p:nvPr/>
        </p:nvSpPr>
        <p:spPr>
          <a:xfrm>
            <a:off x="544235" y="1125855"/>
            <a:ext cx="6604992" cy="4352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Flux has emerged as a leading GitOps tool because it's purpose-built for Kubernetes environments and offers a comprehensive feature set that addresses real-world operational challenges.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44235" y="1683544"/>
            <a:ext cx="6604992" cy="4352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As a </a:t>
            </a:r>
            <a:pPr algn="l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438951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CNCF Incubated project</a:t>
            </a:r>
            <a:pPr algn="l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, Flux benefits from broad community support and follows cloud-native best practices.</a:t>
            </a:r>
            <a:endParaRPr lang="en-US" sz="10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4235" y="2271832"/>
            <a:ext cx="6604992" cy="660499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488793" y="1139428"/>
            <a:ext cx="2041208" cy="2550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Key Features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488793" y="1530429"/>
            <a:ext cx="6604992" cy="2176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700"/>
              </a:lnSpc>
              <a:buSzPct val="100000"/>
              <a:buChar char="•"/>
            </a:pPr>
            <a:r>
              <a:rPr lang="en-US" sz="1050" b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Automated synchronization</a:t>
            </a:r>
            <a:pPr algn="l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from Git repositories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7488793" y="1795701"/>
            <a:ext cx="6604992" cy="2176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700"/>
              </a:lnSpc>
              <a:buSzPct val="100000"/>
              <a:buChar char="•"/>
            </a:pPr>
            <a:r>
              <a:rPr lang="en-US" sz="10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Robust </a:t>
            </a:r>
            <a:pPr algn="l" indent="0" marL="0">
              <a:lnSpc>
                <a:spcPts val="1700"/>
              </a:lnSpc>
              <a:buNone/>
            </a:pPr>
            <a:r>
              <a:rPr lang="en-US" sz="1050" b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multi-tenancy support</a:t>
            </a:r>
            <a:pPr algn="l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for team isolation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7488793" y="2060972"/>
            <a:ext cx="6604992" cy="2176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700"/>
              </a:lnSpc>
              <a:buSzPct val="100000"/>
              <a:buChar char="•"/>
            </a:pPr>
            <a:r>
              <a:rPr lang="en-US" sz="10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Native integration with </a:t>
            </a:r>
            <a:pPr algn="l" indent="0" marL="0">
              <a:lnSpc>
                <a:spcPts val="1700"/>
              </a:lnSpc>
              <a:buNone/>
            </a:pPr>
            <a:r>
              <a:rPr lang="en-US" sz="1050" b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Helm</a:t>
            </a:r>
            <a:pPr algn="l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and </a:t>
            </a:r>
            <a:pPr algn="l" indent="0" marL="0">
              <a:lnSpc>
                <a:spcPts val="1700"/>
              </a:lnSpc>
              <a:buNone/>
            </a:pPr>
            <a:r>
              <a:rPr lang="en-US" sz="1050" b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Kustomize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7488793" y="2326243"/>
            <a:ext cx="6604992" cy="2176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700"/>
              </a:lnSpc>
              <a:buSzPct val="100000"/>
              <a:buChar char="•"/>
            </a:pPr>
            <a:r>
              <a:rPr lang="en-US" sz="1050" b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Image automation</a:t>
            </a:r>
            <a:pPr algn="l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for container updates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7488793" y="2591514"/>
            <a:ext cx="6604992" cy="2176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700"/>
              </a:lnSpc>
              <a:buSzPct val="100000"/>
              <a:buChar char="•"/>
            </a:pPr>
            <a:r>
              <a:rPr lang="en-US" sz="1050" b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Drift detection</a:t>
            </a:r>
            <a:pPr algn="l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with automatic reconciliation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7488793" y="2856786"/>
            <a:ext cx="6604992" cy="2176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700"/>
              </a:lnSpc>
              <a:buSzPct val="100000"/>
              <a:buChar char="•"/>
            </a:pPr>
            <a:r>
              <a:rPr lang="en-US" sz="10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Kubernetes-native architecture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862495"/>
            <a:ext cx="6424732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Flux vs Traditional CI/CD</a:t>
            </a:r>
            <a:endParaRPr lang="en-US" sz="3900" dirty="0"/>
          </a:p>
        </p:txBody>
      </p:sp>
      <p:sp>
        <p:nvSpPr>
          <p:cNvPr id="4" name="Text 1"/>
          <p:cNvSpPr/>
          <p:nvPr/>
        </p:nvSpPr>
        <p:spPr>
          <a:xfrm>
            <a:off x="6280190" y="2978587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4A644E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Traditional CI/CD</a:t>
            </a:r>
            <a:endParaRPr lang="en-US" sz="2300" dirty="0"/>
          </a:p>
        </p:txBody>
      </p:sp>
      <p:sp>
        <p:nvSpPr>
          <p:cNvPr id="5" name="Text 2"/>
          <p:cNvSpPr/>
          <p:nvPr/>
        </p:nvSpPr>
        <p:spPr>
          <a:xfrm>
            <a:off x="6280190" y="3549015"/>
            <a:ext cx="3536156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CI system </a:t>
            </a:r>
            <a:pPr algn="l" indent="0" marL="0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pushes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changes directly to cluster</a:t>
            </a:r>
            <a:endParaRPr lang="en-US" sz="1550" dirty="0"/>
          </a:p>
        </p:txBody>
      </p:sp>
      <p:sp>
        <p:nvSpPr>
          <p:cNvPr id="6" name="Text 3"/>
          <p:cNvSpPr/>
          <p:nvPr/>
        </p:nvSpPr>
        <p:spPr>
          <a:xfrm>
            <a:off x="6280190" y="4253508"/>
            <a:ext cx="3536156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Manual approvals often required in pipeline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6280190" y="4958001"/>
            <a:ext cx="3536156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State drift possible between deployments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6280190" y="5662493"/>
            <a:ext cx="3536156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Cluster credentials stored in CI system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10308074" y="2978587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438951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Flux (GitOps)</a:t>
            </a:r>
            <a:endParaRPr lang="en-US" sz="2300" dirty="0"/>
          </a:p>
        </p:txBody>
      </p:sp>
      <p:sp>
        <p:nvSpPr>
          <p:cNvPr id="10" name="Text 7"/>
          <p:cNvSpPr/>
          <p:nvPr/>
        </p:nvSpPr>
        <p:spPr>
          <a:xfrm>
            <a:off x="10308074" y="3549015"/>
            <a:ext cx="3536156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Cluster </a:t>
            </a:r>
            <a:pPr algn="l" indent="0" marL="0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pulls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changes from Git repository</a:t>
            </a:r>
            <a:endParaRPr lang="en-US" sz="1550" dirty="0"/>
          </a:p>
        </p:txBody>
      </p:sp>
      <p:sp>
        <p:nvSpPr>
          <p:cNvPr id="11" name="Text 8"/>
          <p:cNvSpPr/>
          <p:nvPr/>
        </p:nvSpPr>
        <p:spPr>
          <a:xfrm>
            <a:off x="10308074" y="4253508"/>
            <a:ext cx="3536156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Immutable, declarative configuration</a:t>
            </a:r>
            <a:endParaRPr lang="en-US" sz="1550" dirty="0"/>
          </a:p>
        </p:txBody>
      </p:sp>
      <p:sp>
        <p:nvSpPr>
          <p:cNvPr id="12" name="Text 9"/>
          <p:cNvSpPr/>
          <p:nvPr/>
        </p:nvSpPr>
        <p:spPr>
          <a:xfrm>
            <a:off x="10308074" y="4958001"/>
            <a:ext cx="3536156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Automatic reconciliation prevents drift</a:t>
            </a:r>
            <a:endParaRPr lang="en-US" sz="1550" dirty="0"/>
          </a:p>
        </p:txBody>
      </p:sp>
      <p:sp>
        <p:nvSpPr>
          <p:cNvPr id="13" name="Text 10"/>
          <p:cNvSpPr/>
          <p:nvPr/>
        </p:nvSpPr>
        <p:spPr>
          <a:xfrm>
            <a:off x="10308074" y="5662493"/>
            <a:ext cx="3536156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More secure - no external access to cluster</a:t>
            </a:r>
            <a:endParaRPr lang="en-US" sz="15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4837" y="415766"/>
            <a:ext cx="3591282" cy="4488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500"/>
              </a:lnSpc>
              <a:buNone/>
            </a:pPr>
            <a:r>
              <a:rPr lang="en-US" sz="280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Flux Architecture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04837" y="1223605"/>
            <a:ext cx="2154793" cy="2693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65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Core Controllers</a:t>
            </a:r>
            <a:endParaRPr lang="en-US" sz="1650" dirty="0"/>
          </a:p>
        </p:txBody>
      </p:sp>
      <p:sp>
        <p:nvSpPr>
          <p:cNvPr id="4" name="Shape 2"/>
          <p:cNvSpPr/>
          <p:nvPr/>
        </p:nvSpPr>
        <p:spPr>
          <a:xfrm>
            <a:off x="604837" y="1654493"/>
            <a:ext cx="6535222" cy="915591"/>
          </a:xfrm>
          <a:prstGeom prst="roundRect">
            <a:avLst>
              <a:gd name="adj" fmla="val 14121"/>
            </a:avLst>
          </a:prstGeom>
          <a:solidFill>
            <a:srgbClr val="FAFFFA"/>
          </a:solidFill>
          <a:ln w="15240">
            <a:solidFill>
              <a:srgbClr val="CED9C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04837" y="1654493"/>
            <a:ext cx="60960" cy="915591"/>
          </a:xfrm>
          <a:prstGeom prst="roundRect">
            <a:avLst>
              <a:gd name="adj" fmla="val 212088"/>
            </a:avLst>
          </a:prstGeom>
          <a:solidFill>
            <a:srgbClr val="438951"/>
          </a:solidFill>
          <a:ln/>
        </p:spPr>
      </p:sp>
      <p:sp>
        <p:nvSpPr>
          <p:cNvPr id="6" name="Text 4"/>
          <p:cNvSpPr/>
          <p:nvPr/>
        </p:nvSpPr>
        <p:spPr>
          <a:xfrm>
            <a:off x="824627" y="1813322"/>
            <a:ext cx="1795582" cy="2244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4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Source Controller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4627" y="2181344"/>
            <a:ext cx="6156603" cy="2299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Pulls Git repositories, Helm charts, and other artifacts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04837" y="2713673"/>
            <a:ext cx="6535222" cy="915591"/>
          </a:xfrm>
          <a:prstGeom prst="roundRect">
            <a:avLst>
              <a:gd name="adj" fmla="val 14121"/>
            </a:avLst>
          </a:prstGeom>
          <a:solidFill>
            <a:srgbClr val="FAFFFA"/>
          </a:solidFill>
          <a:ln w="15240">
            <a:solidFill>
              <a:srgbClr val="CED9C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04837" y="2713673"/>
            <a:ext cx="60960" cy="915591"/>
          </a:xfrm>
          <a:prstGeom prst="roundRect">
            <a:avLst>
              <a:gd name="adj" fmla="val 212088"/>
            </a:avLst>
          </a:prstGeom>
          <a:solidFill>
            <a:srgbClr val="438951"/>
          </a:solidFill>
          <a:ln/>
        </p:spPr>
      </p:sp>
      <p:sp>
        <p:nvSpPr>
          <p:cNvPr id="10" name="Text 8"/>
          <p:cNvSpPr/>
          <p:nvPr/>
        </p:nvSpPr>
        <p:spPr>
          <a:xfrm>
            <a:off x="824627" y="2872502"/>
            <a:ext cx="1973937" cy="2244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4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Kustomize Controller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24627" y="3240524"/>
            <a:ext cx="6156603" cy="2299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Applies Kubernetes manifests with Kustomize support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04837" y="3772852"/>
            <a:ext cx="6535222" cy="915591"/>
          </a:xfrm>
          <a:prstGeom prst="roundRect">
            <a:avLst>
              <a:gd name="adj" fmla="val 14121"/>
            </a:avLst>
          </a:prstGeom>
          <a:solidFill>
            <a:srgbClr val="FAFFFA"/>
          </a:solidFill>
          <a:ln w="15240">
            <a:solidFill>
              <a:srgbClr val="CED9C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04837" y="3772852"/>
            <a:ext cx="60960" cy="915591"/>
          </a:xfrm>
          <a:prstGeom prst="roundRect">
            <a:avLst>
              <a:gd name="adj" fmla="val 212088"/>
            </a:avLst>
          </a:prstGeom>
          <a:solidFill>
            <a:srgbClr val="438951"/>
          </a:solidFill>
          <a:ln/>
        </p:spPr>
      </p:sp>
      <p:sp>
        <p:nvSpPr>
          <p:cNvPr id="14" name="Text 12"/>
          <p:cNvSpPr/>
          <p:nvPr/>
        </p:nvSpPr>
        <p:spPr>
          <a:xfrm>
            <a:off x="824627" y="3931682"/>
            <a:ext cx="1795582" cy="2244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4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Helm Controller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24627" y="4299704"/>
            <a:ext cx="6156603" cy="2299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Manages Helm releases declaratively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04837" y="4832033"/>
            <a:ext cx="6535222" cy="915591"/>
          </a:xfrm>
          <a:prstGeom prst="roundRect">
            <a:avLst>
              <a:gd name="adj" fmla="val 14121"/>
            </a:avLst>
          </a:prstGeom>
          <a:solidFill>
            <a:srgbClr val="FAFFFA"/>
          </a:solidFill>
          <a:ln w="15240">
            <a:solidFill>
              <a:srgbClr val="CED9C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04837" y="4832033"/>
            <a:ext cx="60960" cy="915591"/>
          </a:xfrm>
          <a:prstGeom prst="roundRect">
            <a:avLst>
              <a:gd name="adj" fmla="val 212088"/>
            </a:avLst>
          </a:prstGeom>
          <a:solidFill>
            <a:srgbClr val="438951"/>
          </a:solidFill>
          <a:ln/>
        </p:spPr>
      </p:sp>
      <p:sp>
        <p:nvSpPr>
          <p:cNvPr id="18" name="Text 16"/>
          <p:cNvSpPr/>
          <p:nvPr/>
        </p:nvSpPr>
        <p:spPr>
          <a:xfrm>
            <a:off x="824627" y="4990862"/>
            <a:ext cx="2091571" cy="2244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4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Notification Controller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24627" y="5358884"/>
            <a:ext cx="6156603" cy="2299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Handles alerts and events to external systems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497961" y="1209199"/>
            <a:ext cx="6535222" cy="4598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Flux operates on a </a:t>
            </a:r>
            <a:pPr algn="l"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438951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reconciliation loop</a:t>
            </a:r>
            <a:pPr algn="l"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, checking for changes at defined intervals and ensuring the cluster state matches Git.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497961" y="1798201"/>
            <a:ext cx="6535222" cy="4598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This secure model means your cluster is never exposed to external systems - it only pulls from authorized sources.</a:t>
            </a:r>
            <a:endParaRPr lang="en-US" sz="1100" dirty="0"/>
          </a:p>
        </p:txBody>
      </p:sp>
      <p:pic>
        <p:nvPicPr>
          <p:cNvPr id="2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7961" y="2419588"/>
            <a:ext cx="6208395" cy="620839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20673"/>
            <a:ext cx="4465558" cy="558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350"/>
              </a:lnSpc>
              <a:buNone/>
            </a:pPr>
            <a:r>
              <a:rPr lang="en-US" sz="350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Flux Workflow</a:t>
            </a:r>
            <a:endParaRPr lang="en-US" sz="3500" dirty="0"/>
          </a:p>
        </p:txBody>
      </p:sp>
      <p:sp>
        <p:nvSpPr>
          <p:cNvPr id="3" name="Shape 1"/>
          <p:cNvSpPr/>
          <p:nvPr/>
        </p:nvSpPr>
        <p:spPr>
          <a:xfrm>
            <a:off x="793790" y="1536025"/>
            <a:ext cx="178594" cy="1071682"/>
          </a:xfrm>
          <a:prstGeom prst="roundRect">
            <a:avLst>
              <a:gd name="adj" fmla="val 90017"/>
            </a:avLst>
          </a:prstGeom>
          <a:solidFill>
            <a:srgbClr val="E8F3E8"/>
          </a:solidFill>
          <a:ln/>
        </p:spPr>
      </p:sp>
      <p:sp>
        <p:nvSpPr>
          <p:cNvPr id="4" name="Text 2"/>
          <p:cNvSpPr/>
          <p:nvPr/>
        </p:nvSpPr>
        <p:spPr>
          <a:xfrm>
            <a:off x="1150977" y="1714619"/>
            <a:ext cx="3437334" cy="278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Developer commits code to Git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1150977" y="2100739"/>
            <a:ext cx="12685633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Changes to application code or configuration are pushed to the Git repository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061680" y="2786301"/>
            <a:ext cx="178594" cy="1071682"/>
          </a:xfrm>
          <a:prstGeom prst="roundRect">
            <a:avLst>
              <a:gd name="adj" fmla="val 90017"/>
            </a:avLst>
          </a:prstGeom>
          <a:solidFill>
            <a:srgbClr val="E8F3E8"/>
          </a:solidFill>
          <a:ln/>
        </p:spPr>
      </p:sp>
      <p:sp>
        <p:nvSpPr>
          <p:cNvPr id="7" name="Text 5"/>
          <p:cNvSpPr/>
          <p:nvPr/>
        </p:nvSpPr>
        <p:spPr>
          <a:xfrm>
            <a:off x="1418868" y="2964894"/>
            <a:ext cx="4291013" cy="278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Flux Source Controller detects change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1418868" y="3351014"/>
            <a:ext cx="12417743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Source controller polls the Git repository and identifies new commits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329571" y="4036576"/>
            <a:ext cx="178594" cy="1071682"/>
          </a:xfrm>
          <a:prstGeom prst="roundRect">
            <a:avLst>
              <a:gd name="adj" fmla="val 90017"/>
            </a:avLst>
          </a:prstGeom>
          <a:solidFill>
            <a:srgbClr val="E8F3E8"/>
          </a:solidFill>
          <a:ln/>
        </p:spPr>
      </p:sp>
      <p:sp>
        <p:nvSpPr>
          <p:cNvPr id="10" name="Text 8"/>
          <p:cNvSpPr/>
          <p:nvPr/>
        </p:nvSpPr>
        <p:spPr>
          <a:xfrm>
            <a:off x="1686758" y="4215170"/>
            <a:ext cx="3004542" cy="278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Manifests pulled to cluster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1686758" y="4601289"/>
            <a:ext cx="12149852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Updated Kubernetes manifests are securely pulled into the cluster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597581" y="5286851"/>
            <a:ext cx="178594" cy="1071682"/>
          </a:xfrm>
          <a:prstGeom prst="roundRect">
            <a:avLst>
              <a:gd name="adj" fmla="val 90017"/>
            </a:avLst>
          </a:prstGeom>
          <a:solidFill>
            <a:srgbClr val="E8F3E8"/>
          </a:solidFill>
          <a:ln/>
        </p:spPr>
      </p:sp>
      <p:sp>
        <p:nvSpPr>
          <p:cNvPr id="13" name="Text 11"/>
          <p:cNvSpPr/>
          <p:nvPr/>
        </p:nvSpPr>
        <p:spPr>
          <a:xfrm>
            <a:off x="1954768" y="5465445"/>
            <a:ext cx="3480078" cy="278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Controllers apply desired state</a:t>
            </a:r>
            <a:endParaRPr lang="en-US" sz="1750" dirty="0"/>
          </a:p>
        </p:txBody>
      </p:sp>
      <p:sp>
        <p:nvSpPr>
          <p:cNvPr id="14" name="Text 12"/>
          <p:cNvSpPr/>
          <p:nvPr/>
        </p:nvSpPr>
        <p:spPr>
          <a:xfrm>
            <a:off x="1954768" y="5851565"/>
            <a:ext cx="11881842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Kustomize or Helm controllers apply the changes to match desired state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1329571" y="6537127"/>
            <a:ext cx="178594" cy="1071682"/>
          </a:xfrm>
          <a:prstGeom prst="roundRect">
            <a:avLst>
              <a:gd name="adj" fmla="val 90017"/>
            </a:avLst>
          </a:prstGeom>
          <a:solidFill>
            <a:srgbClr val="E8F3E8"/>
          </a:solidFill>
          <a:ln/>
        </p:spPr>
      </p:sp>
      <p:sp>
        <p:nvSpPr>
          <p:cNvPr id="16" name="Text 14"/>
          <p:cNvSpPr/>
          <p:nvPr/>
        </p:nvSpPr>
        <p:spPr>
          <a:xfrm>
            <a:off x="1686758" y="6715720"/>
            <a:ext cx="3338274" cy="278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Drift automatically corrected</a:t>
            </a:r>
            <a:endParaRPr lang="en-US" sz="1750" dirty="0"/>
          </a:p>
        </p:txBody>
      </p:sp>
      <p:sp>
        <p:nvSpPr>
          <p:cNvPr id="17" name="Text 15"/>
          <p:cNvSpPr/>
          <p:nvPr/>
        </p:nvSpPr>
        <p:spPr>
          <a:xfrm>
            <a:off x="1686758" y="7101840"/>
            <a:ext cx="12149852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Any manual changes or drift from desired state is automatically fixed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2361" y="544711"/>
            <a:ext cx="5063609" cy="5572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350"/>
              </a:lnSpc>
              <a:buNone/>
            </a:pPr>
            <a:r>
              <a:rPr lang="en-US" sz="350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Demo – Installing Flux</a:t>
            </a:r>
            <a:endParaRPr lang="en-US" sz="3500" dirty="0"/>
          </a:p>
        </p:txBody>
      </p:sp>
      <p:sp>
        <p:nvSpPr>
          <p:cNvPr id="3" name="Text 1"/>
          <p:cNvSpPr/>
          <p:nvPr/>
        </p:nvSpPr>
        <p:spPr>
          <a:xfrm>
            <a:off x="792361" y="1369338"/>
            <a:ext cx="2674382" cy="3342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10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Install the Flux CLI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792361" y="1970961"/>
            <a:ext cx="13045678" cy="837962"/>
          </a:xfrm>
          <a:prstGeom prst="roundRect">
            <a:avLst>
              <a:gd name="adj" fmla="val 19150"/>
            </a:avLst>
          </a:prstGeom>
          <a:solidFill>
            <a:srgbClr val="EDF2ED"/>
          </a:solidFill>
          <a:ln/>
        </p:spPr>
      </p:sp>
      <p:sp>
        <p:nvSpPr>
          <p:cNvPr id="5" name="Shape 3"/>
          <p:cNvSpPr/>
          <p:nvPr/>
        </p:nvSpPr>
        <p:spPr>
          <a:xfrm>
            <a:off x="783550" y="1970961"/>
            <a:ext cx="13063299" cy="837962"/>
          </a:xfrm>
          <a:prstGeom prst="roundRect">
            <a:avLst>
              <a:gd name="adj" fmla="val 3192"/>
            </a:avLst>
          </a:prstGeom>
          <a:solidFill>
            <a:srgbClr val="EDF2ED"/>
          </a:solidFill>
          <a:ln/>
        </p:spPr>
      </p:sp>
      <p:sp>
        <p:nvSpPr>
          <p:cNvPr id="6" name="Text 4"/>
          <p:cNvSpPr/>
          <p:nvPr/>
        </p:nvSpPr>
        <p:spPr>
          <a:xfrm>
            <a:off x="961787" y="2104668"/>
            <a:ext cx="12706826" cy="570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405449"/>
                </a:solidFill>
                <a:highlight>
                  <a:srgbClr val="EDF2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curl -s https://fluxcd.io/install.sh | sudo bash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92361" y="3076337"/>
            <a:ext cx="3747968" cy="3342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10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Bootstrap Flux with GitHub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792361" y="3677960"/>
            <a:ext cx="13045678" cy="1979057"/>
          </a:xfrm>
          <a:prstGeom prst="roundRect">
            <a:avLst>
              <a:gd name="adj" fmla="val 8108"/>
            </a:avLst>
          </a:prstGeom>
          <a:solidFill>
            <a:srgbClr val="EDF2ED"/>
          </a:solidFill>
          <a:ln/>
        </p:spPr>
      </p:sp>
      <p:sp>
        <p:nvSpPr>
          <p:cNvPr id="9" name="Shape 7"/>
          <p:cNvSpPr/>
          <p:nvPr/>
        </p:nvSpPr>
        <p:spPr>
          <a:xfrm>
            <a:off x="783550" y="3677960"/>
            <a:ext cx="13063299" cy="1979057"/>
          </a:xfrm>
          <a:prstGeom prst="roundRect">
            <a:avLst>
              <a:gd name="adj" fmla="val 1351"/>
            </a:avLst>
          </a:prstGeom>
          <a:solidFill>
            <a:srgbClr val="EDF2ED"/>
          </a:solidFill>
          <a:ln/>
        </p:spPr>
      </p:sp>
      <p:sp>
        <p:nvSpPr>
          <p:cNvPr id="10" name="Text 8"/>
          <p:cNvSpPr/>
          <p:nvPr/>
        </p:nvSpPr>
        <p:spPr>
          <a:xfrm>
            <a:off x="961787" y="3811667"/>
            <a:ext cx="12706826" cy="17116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405449"/>
                </a:solidFill>
                <a:highlight>
                  <a:srgbClr val="EDF2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flux bootstrap github \  --owner= \  --repository=flux-demo \  --branch=main \  --path=clusters/my-cluster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92361" y="5857518"/>
            <a:ext cx="13045678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This bootstrap command: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92361" y="6343293"/>
            <a:ext cx="13045678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200"/>
              </a:lnSpc>
              <a:buSzPct val="100000"/>
              <a:buChar char="•"/>
            </a:pPr>
            <a:r>
              <a:rPr lang="en-US" sz="14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Creates a new repository if it doesn't exist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92361" y="6690955"/>
            <a:ext cx="13045678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200"/>
              </a:lnSpc>
              <a:buSzPct val="100000"/>
              <a:buChar char="•"/>
            </a:pPr>
            <a:r>
              <a:rPr lang="en-US" sz="14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Generates Flux manifests and commits them to the repository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92361" y="7038618"/>
            <a:ext cx="13045678" cy="300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200"/>
              </a:lnSpc>
              <a:buSzPct val="100000"/>
              <a:buChar char="•"/>
            </a:pPr>
            <a:r>
              <a:rPr lang="en-US" sz="14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Deploys Flux components to your cluster in the </a:t>
            </a:r>
            <a:pPr algn="l"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405449"/>
                </a:solidFill>
                <a:highlight>
                  <a:srgbClr val="EDF2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flux-system</a:t>
            </a:r>
            <a:pPr algn="l"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namespace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92361" y="7401520"/>
            <a:ext cx="13045678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200"/>
              </a:lnSpc>
              <a:buSzPct val="100000"/>
              <a:buChar char="•"/>
            </a:pPr>
            <a:r>
              <a:rPr lang="en-US" sz="14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Configures Flux to sync from the specified path in your repository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584002"/>
            <a:ext cx="4872157" cy="496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900"/>
              </a:lnSpc>
              <a:buNone/>
            </a:pPr>
            <a:r>
              <a:rPr lang="en-US" sz="310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Demo – GitOps in Action</a:t>
            </a:r>
            <a:endParaRPr lang="en-US" sz="3100" dirty="0"/>
          </a:p>
        </p:txBody>
      </p:sp>
      <p:sp>
        <p:nvSpPr>
          <p:cNvPr id="4" name="Text 1"/>
          <p:cNvSpPr/>
          <p:nvPr/>
        </p:nvSpPr>
        <p:spPr>
          <a:xfrm>
            <a:off x="6280190" y="1476970"/>
            <a:ext cx="3584615" cy="595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1. Create sample app repository (podinfo)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6280190" y="2230993"/>
            <a:ext cx="3584615" cy="508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First, we'll set up a repository with our application manifests.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6280190" y="2897862"/>
            <a:ext cx="3584615" cy="595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2. Define GitRepository &amp; Kustomization</a:t>
            </a:r>
            <a:endParaRPr lang="en-US" sz="1850" dirty="0"/>
          </a:p>
        </p:txBody>
      </p:sp>
      <p:sp>
        <p:nvSpPr>
          <p:cNvPr id="7" name="Shape 4"/>
          <p:cNvSpPr/>
          <p:nvPr/>
        </p:nvSpPr>
        <p:spPr>
          <a:xfrm>
            <a:off x="6280190" y="3671768"/>
            <a:ext cx="3584615" cy="3795236"/>
          </a:xfrm>
          <a:prstGeom prst="roundRect">
            <a:avLst>
              <a:gd name="adj" fmla="val 3987"/>
            </a:avLst>
          </a:prstGeom>
          <a:solidFill>
            <a:srgbClr val="EDF2ED"/>
          </a:solidFill>
          <a:ln/>
        </p:spPr>
      </p:sp>
      <p:sp>
        <p:nvSpPr>
          <p:cNvPr id="8" name="Shape 5"/>
          <p:cNvSpPr/>
          <p:nvPr/>
        </p:nvSpPr>
        <p:spPr>
          <a:xfrm>
            <a:off x="6272332" y="3671768"/>
            <a:ext cx="3600331" cy="3795236"/>
          </a:xfrm>
          <a:prstGeom prst="roundRect">
            <a:avLst>
              <a:gd name="adj" fmla="val 662"/>
            </a:avLst>
          </a:prstGeom>
          <a:solidFill>
            <a:srgbClr val="EDF2ED"/>
          </a:solidFill>
          <a:ln/>
        </p:spPr>
      </p:sp>
      <p:sp>
        <p:nvSpPr>
          <p:cNvPr id="9" name="Text 6"/>
          <p:cNvSpPr/>
          <p:nvPr/>
        </p:nvSpPr>
        <p:spPr>
          <a:xfrm>
            <a:off x="6431042" y="3790831"/>
            <a:ext cx="3282910" cy="35571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405449"/>
                </a:solidFill>
                <a:highlight>
                  <a:srgbClr val="EDF2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apiVersion: kustomize.toolkit.fluxcd.io/v1beta2kind: Kustomizationmetadata:  name: podinfo  namespace: flux-systemspec:  interval: 1m  path: "./deployments/podinfo"  prune: true  sourceRef:    kind: GitRepository    name: flux-demo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10259616" y="1476970"/>
            <a:ext cx="3584615" cy="595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3. Commit and watch Flux apply automatically</a:t>
            </a:r>
            <a:endParaRPr lang="en-US" sz="1850" dirty="0"/>
          </a:p>
        </p:txBody>
      </p:sp>
      <p:sp>
        <p:nvSpPr>
          <p:cNvPr id="11" name="Text 8"/>
          <p:cNvSpPr/>
          <p:nvPr/>
        </p:nvSpPr>
        <p:spPr>
          <a:xfrm>
            <a:off x="10259616" y="2230993"/>
            <a:ext cx="3584615" cy="762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Once committed to Git, Flux will detect the change and apply the manifests to your cluster.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10259616" y="3151942"/>
            <a:ext cx="2963108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4. Verify the deployment</a:t>
            </a:r>
            <a:endParaRPr lang="en-US" sz="1850" dirty="0"/>
          </a:p>
        </p:txBody>
      </p:sp>
      <p:sp>
        <p:nvSpPr>
          <p:cNvPr id="13" name="Text 10"/>
          <p:cNvSpPr/>
          <p:nvPr/>
        </p:nvSpPr>
        <p:spPr>
          <a:xfrm>
            <a:off x="10259616" y="3608308"/>
            <a:ext cx="3584615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Check that your application is running: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10259616" y="4040981"/>
            <a:ext cx="3584615" cy="1000363"/>
          </a:xfrm>
          <a:prstGeom prst="roundRect">
            <a:avLst>
              <a:gd name="adj" fmla="val 14285"/>
            </a:avLst>
          </a:prstGeom>
          <a:solidFill>
            <a:srgbClr val="EDF2ED"/>
          </a:solidFill>
          <a:ln/>
        </p:spPr>
      </p:sp>
      <p:sp>
        <p:nvSpPr>
          <p:cNvPr id="15" name="Shape 12"/>
          <p:cNvSpPr/>
          <p:nvPr/>
        </p:nvSpPr>
        <p:spPr>
          <a:xfrm>
            <a:off x="10251758" y="4040981"/>
            <a:ext cx="3600331" cy="1000363"/>
          </a:xfrm>
          <a:prstGeom prst="roundRect">
            <a:avLst>
              <a:gd name="adj" fmla="val 2381"/>
            </a:avLst>
          </a:prstGeom>
          <a:solidFill>
            <a:srgbClr val="EDF2ED"/>
          </a:solidFill>
          <a:ln/>
        </p:spPr>
      </p:sp>
      <p:sp>
        <p:nvSpPr>
          <p:cNvPr id="16" name="Text 13"/>
          <p:cNvSpPr/>
          <p:nvPr/>
        </p:nvSpPr>
        <p:spPr>
          <a:xfrm>
            <a:off x="10410468" y="4160044"/>
            <a:ext cx="3282910" cy="762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405449"/>
                </a:solidFill>
                <a:highlight>
                  <a:srgbClr val="EDF2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get pods -n defaultkubectl get kustomization -n flux-system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10259616" y="5219938"/>
            <a:ext cx="3584615" cy="10163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Any changes to the Git repository will be automatically synchronized to your cluster within the defined interval (1 minute in this example).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749504"/>
            <a:ext cx="4961811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Advanced Features</a:t>
            </a:r>
            <a:endParaRPr lang="en-US" sz="39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2766417"/>
            <a:ext cx="496133" cy="49613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37930" y="2884170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Image Automation</a:t>
            </a:r>
            <a:endParaRPr lang="en-US" sz="1950" dirty="0"/>
          </a:p>
        </p:txBody>
      </p:sp>
      <p:sp>
        <p:nvSpPr>
          <p:cNvPr id="5" name="Text 2"/>
          <p:cNvSpPr/>
          <p:nvPr/>
        </p:nvSpPr>
        <p:spPr>
          <a:xfrm>
            <a:off x="1537930" y="3313390"/>
            <a:ext cx="5653207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Automatically update container image tags in Git when new versions are available in your registry. Flux can scan registries, update manifests, and commit changes back to Git.</a:t>
            </a:r>
            <a:endParaRPr lang="en-US" sz="15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39144" y="2766417"/>
            <a:ext cx="496133" cy="49613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183285" y="2884170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Helm Releases</a:t>
            </a:r>
            <a:endParaRPr lang="en-US" sz="1950" dirty="0"/>
          </a:p>
        </p:txBody>
      </p:sp>
      <p:sp>
        <p:nvSpPr>
          <p:cNvPr id="8" name="Text 4"/>
          <p:cNvSpPr/>
          <p:nvPr/>
        </p:nvSpPr>
        <p:spPr>
          <a:xfrm>
            <a:off x="8183285" y="3313390"/>
            <a:ext cx="5653326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Manage Helm charts declaratively through Git. Flux provides custom resources for defining Helm repositories and releases with values overrides.</a:t>
            </a:r>
            <a:endParaRPr lang="en-US" sz="15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4980384"/>
            <a:ext cx="496133" cy="49613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537930" y="5098137"/>
            <a:ext cx="3357801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Multi-cluster Management</a:t>
            </a:r>
            <a:endParaRPr lang="en-US" sz="1950" dirty="0"/>
          </a:p>
        </p:txBody>
      </p:sp>
      <p:sp>
        <p:nvSpPr>
          <p:cNvPr id="11" name="Text 6"/>
          <p:cNvSpPr/>
          <p:nvPr/>
        </p:nvSpPr>
        <p:spPr>
          <a:xfrm>
            <a:off x="1537930" y="5527357"/>
            <a:ext cx="5653207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Control multiple Kubernetes clusters from a single Git repository. Define cluster-specific configurations while sharing common resources.</a:t>
            </a:r>
            <a:endParaRPr lang="en-US" sz="15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39144" y="4980384"/>
            <a:ext cx="496133" cy="496133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8183285" y="5098137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Notifications</a:t>
            </a:r>
            <a:endParaRPr lang="en-US" sz="1950" dirty="0"/>
          </a:p>
        </p:txBody>
      </p:sp>
      <p:sp>
        <p:nvSpPr>
          <p:cNvPr id="14" name="Text 8"/>
          <p:cNvSpPr/>
          <p:nvPr/>
        </p:nvSpPr>
        <p:spPr>
          <a:xfrm>
            <a:off x="8183285" y="5527357"/>
            <a:ext cx="5653326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Send alerts to Slack, Microsoft Teams, Discord, or custom webhooks when reconciliation events occur or when deployments succeed or fail.</a:t>
            </a:r>
            <a:endParaRPr lang="en-US" sz="15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0812" y="536853"/>
            <a:ext cx="4636413" cy="5794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550"/>
              </a:lnSpc>
              <a:buNone/>
            </a:pPr>
            <a:r>
              <a:rPr lang="en-US" sz="365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Benefits Recap</a:t>
            </a:r>
            <a:endParaRPr lang="en-US" sz="36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0812" y="1603058"/>
            <a:ext cx="5992654" cy="5992654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549039" y="1603058"/>
            <a:ext cx="417195" cy="417195"/>
          </a:xfrm>
          <a:prstGeom prst="roundRect">
            <a:avLst>
              <a:gd name="adj" fmla="val 40009"/>
            </a:avLst>
          </a:prstGeom>
          <a:solidFill>
            <a:srgbClr val="E8F3E8"/>
          </a:solidFill>
          <a:ln/>
        </p:spPr>
      </p:sp>
      <p:sp>
        <p:nvSpPr>
          <p:cNvPr id="5" name="Text 2"/>
          <p:cNvSpPr/>
          <p:nvPr/>
        </p:nvSpPr>
        <p:spPr>
          <a:xfrm>
            <a:off x="8151614" y="1666756"/>
            <a:ext cx="2918341" cy="289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438951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Immutable Deployments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8151614" y="2141815"/>
            <a:ext cx="5705594" cy="593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Changes flow through Git, ensuring consistency and preventing configuration drift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7549039" y="3106103"/>
            <a:ext cx="417195" cy="417195"/>
          </a:xfrm>
          <a:prstGeom prst="roundRect">
            <a:avLst>
              <a:gd name="adj" fmla="val 40009"/>
            </a:avLst>
          </a:prstGeom>
          <a:solidFill>
            <a:srgbClr val="E8F3E8"/>
          </a:solidFill>
          <a:ln/>
        </p:spPr>
      </p:sp>
      <p:sp>
        <p:nvSpPr>
          <p:cNvPr id="8" name="Text 5"/>
          <p:cNvSpPr/>
          <p:nvPr/>
        </p:nvSpPr>
        <p:spPr>
          <a:xfrm>
            <a:off x="8151614" y="3169801"/>
            <a:ext cx="2535674" cy="289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438951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Automated Rollbacks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8151614" y="3644860"/>
            <a:ext cx="5705594" cy="593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Leverage Git history to easily revert to previous known-good states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7549039" y="4609148"/>
            <a:ext cx="417195" cy="417195"/>
          </a:xfrm>
          <a:prstGeom prst="roundRect">
            <a:avLst>
              <a:gd name="adj" fmla="val 40009"/>
            </a:avLst>
          </a:prstGeom>
          <a:solidFill>
            <a:srgbClr val="E8F3E8"/>
          </a:solidFill>
          <a:ln/>
        </p:spPr>
      </p:sp>
      <p:sp>
        <p:nvSpPr>
          <p:cNvPr id="11" name="Text 8"/>
          <p:cNvSpPr/>
          <p:nvPr/>
        </p:nvSpPr>
        <p:spPr>
          <a:xfrm>
            <a:off x="8151614" y="4672846"/>
            <a:ext cx="2318147" cy="289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438951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Enhanced Security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8151614" y="5147905"/>
            <a:ext cx="5705594" cy="593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Cluster pulls changes rather than being exposed to external systems</a:t>
            </a:r>
            <a:endParaRPr lang="en-US" sz="1450" dirty="0"/>
          </a:p>
        </p:txBody>
      </p:sp>
      <p:sp>
        <p:nvSpPr>
          <p:cNvPr id="13" name="Shape 10"/>
          <p:cNvSpPr/>
          <p:nvPr/>
        </p:nvSpPr>
        <p:spPr>
          <a:xfrm>
            <a:off x="7549039" y="6112193"/>
            <a:ext cx="417195" cy="417195"/>
          </a:xfrm>
          <a:prstGeom prst="roundRect">
            <a:avLst>
              <a:gd name="adj" fmla="val 40009"/>
            </a:avLst>
          </a:prstGeom>
          <a:solidFill>
            <a:srgbClr val="E8F3E8"/>
          </a:solidFill>
          <a:ln/>
        </p:spPr>
      </p:sp>
      <p:sp>
        <p:nvSpPr>
          <p:cNvPr id="14" name="Text 11"/>
          <p:cNvSpPr/>
          <p:nvPr/>
        </p:nvSpPr>
        <p:spPr>
          <a:xfrm>
            <a:off x="8151614" y="6175891"/>
            <a:ext cx="3106460" cy="289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438951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Cross-Cluster Consistency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8151614" y="6650950"/>
            <a:ext cx="5705594" cy="593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Maintain uniform configurations across development, staging, and production</a:t>
            </a:r>
            <a:endParaRPr lang="en-US" sz="14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29603"/>
            <a:ext cx="4465558" cy="558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350"/>
              </a:lnSpc>
              <a:buNone/>
            </a:pPr>
            <a:r>
              <a:rPr lang="en-US" sz="350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Demo Recap</a:t>
            </a:r>
            <a:endParaRPr lang="en-US" sz="3500" dirty="0"/>
          </a:p>
        </p:txBody>
      </p:sp>
      <p:sp>
        <p:nvSpPr>
          <p:cNvPr id="3" name="Shape 1"/>
          <p:cNvSpPr/>
          <p:nvPr/>
        </p:nvSpPr>
        <p:spPr>
          <a:xfrm>
            <a:off x="7303770" y="1544955"/>
            <a:ext cx="22860" cy="6054923"/>
          </a:xfrm>
          <a:prstGeom prst="roundRect">
            <a:avLst>
              <a:gd name="adj" fmla="val 703256"/>
            </a:avLst>
          </a:prstGeom>
          <a:solidFill>
            <a:srgbClr val="CED9CE"/>
          </a:solidFill>
          <a:ln/>
        </p:spPr>
      </p:sp>
      <p:sp>
        <p:nvSpPr>
          <p:cNvPr id="4" name="Shape 2"/>
          <p:cNvSpPr/>
          <p:nvPr/>
        </p:nvSpPr>
        <p:spPr>
          <a:xfrm>
            <a:off x="6601361" y="1734383"/>
            <a:ext cx="535781" cy="22860"/>
          </a:xfrm>
          <a:prstGeom prst="roundRect">
            <a:avLst>
              <a:gd name="adj" fmla="val 703256"/>
            </a:avLst>
          </a:prstGeom>
          <a:solidFill>
            <a:srgbClr val="CED9CE"/>
          </a:solidFill>
          <a:ln/>
        </p:spPr>
      </p:sp>
      <p:sp>
        <p:nvSpPr>
          <p:cNvPr id="5" name="Shape 3"/>
          <p:cNvSpPr/>
          <p:nvPr/>
        </p:nvSpPr>
        <p:spPr>
          <a:xfrm>
            <a:off x="7114282" y="1544955"/>
            <a:ext cx="401836" cy="401836"/>
          </a:xfrm>
          <a:prstGeom prst="roundRect">
            <a:avLst>
              <a:gd name="adj" fmla="val 40007"/>
            </a:avLst>
          </a:prstGeom>
          <a:solidFill>
            <a:srgbClr val="E8F3E8"/>
          </a:solidFill>
          <a:ln/>
        </p:spPr>
      </p:sp>
      <p:sp>
        <p:nvSpPr>
          <p:cNvPr id="6" name="Text 4"/>
          <p:cNvSpPr/>
          <p:nvPr/>
        </p:nvSpPr>
        <p:spPr>
          <a:xfrm>
            <a:off x="7181195" y="1578352"/>
            <a:ext cx="267891" cy="3349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21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1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2455783" y="1606272"/>
            <a:ext cx="3966329" cy="278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150"/>
              </a:lnSpc>
              <a:buNone/>
            </a:pPr>
            <a:r>
              <a:rPr lang="en-US" sz="17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Installed Flux CLI and Components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793790" y="1992392"/>
            <a:ext cx="5628323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We set up the Flux command-line tools and bootstrapped the core controllers in our Kubernetes cluster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93790" y="2764750"/>
            <a:ext cx="5628323" cy="1125141"/>
          </a:xfrm>
          <a:prstGeom prst="roundRect">
            <a:avLst>
              <a:gd name="adj" fmla="val 14288"/>
            </a:avLst>
          </a:prstGeom>
          <a:solidFill>
            <a:srgbClr val="EDF2ED"/>
          </a:solidFill>
          <a:ln/>
        </p:spPr>
      </p:sp>
      <p:sp>
        <p:nvSpPr>
          <p:cNvPr id="10" name="Shape 8"/>
          <p:cNvSpPr/>
          <p:nvPr/>
        </p:nvSpPr>
        <p:spPr>
          <a:xfrm>
            <a:off x="784860" y="2764750"/>
            <a:ext cx="5646182" cy="1125141"/>
          </a:xfrm>
          <a:prstGeom prst="roundRect">
            <a:avLst>
              <a:gd name="adj" fmla="val 2381"/>
            </a:avLst>
          </a:prstGeom>
          <a:solidFill>
            <a:srgbClr val="EDF2ED"/>
          </a:solidFill>
          <a:ln/>
        </p:spPr>
      </p:sp>
      <p:sp>
        <p:nvSpPr>
          <p:cNvPr id="11" name="Text 9"/>
          <p:cNvSpPr/>
          <p:nvPr/>
        </p:nvSpPr>
        <p:spPr>
          <a:xfrm>
            <a:off x="963454" y="2898696"/>
            <a:ext cx="5288994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405449"/>
                </a:solidFill>
                <a:highlight>
                  <a:srgbClr val="EDF2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curl -s https://fluxcd.io/install.sh | sudo bashflux bootstrap github ...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493258" y="2806065"/>
            <a:ext cx="535781" cy="22860"/>
          </a:xfrm>
          <a:prstGeom prst="roundRect">
            <a:avLst>
              <a:gd name="adj" fmla="val 703256"/>
            </a:avLst>
          </a:prstGeom>
          <a:solidFill>
            <a:srgbClr val="CED9CE"/>
          </a:solidFill>
          <a:ln/>
        </p:spPr>
      </p:sp>
      <p:sp>
        <p:nvSpPr>
          <p:cNvPr id="13" name="Shape 11"/>
          <p:cNvSpPr/>
          <p:nvPr/>
        </p:nvSpPr>
        <p:spPr>
          <a:xfrm>
            <a:off x="7114282" y="2616637"/>
            <a:ext cx="401836" cy="401836"/>
          </a:xfrm>
          <a:prstGeom prst="roundRect">
            <a:avLst>
              <a:gd name="adj" fmla="val 40007"/>
            </a:avLst>
          </a:prstGeom>
          <a:solidFill>
            <a:srgbClr val="E8F3E8"/>
          </a:solidFill>
          <a:ln/>
        </p:spPr>
      </p:sp>
      <p:sp>
        <p:nvSpPr>
          <p:cNvPr id="14" name="Text 12"/>
          <p:cNvSpPr/>
          <p:nvPr/>
        </p:nvSpPr>
        <p:spPr>
          <a:xfrm>
            <a:off x="7181195" y="2650034"/>
            <a:ext cx="267891" cy="3349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21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2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8208288" y="2677954"/>
            <a:ext cx="4914900" cy="278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Configured Git Repository Synchronization</a:t>
            </a:r>
            <a:endParaRPr lang="en-US" sz="1750" dirty="0"/>
          </a:p>
        </p:txBody>
      </p:sp>
      <p:sp>
        <p:nvSpPr>
          <p:cNvPr id="16" name="Text 14"/>
          <p:cNvSpPr/>
          <p:nvPr/>
        </p:nvSpPr>
        <p:spPr>
          <a:xfrm>
            <a:off x="8208288" y="3064073"/>
            <a:ext cx="5628323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We defined sources for our application manifests and configured Flux to monitor them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208288" y="3836432"/>
            <a:ext cx="5628323" cy="2839641"/>
          </a:xfrm>
          <a:prstGeom prst="roundRect">
            <a:avLst>
              <a:gd name="adj" fmla="val 5661"/>
            </a:avLst>
          </a:prstGeom>
          <a:solidFill>
            <a:srgbClr val="EDF2ED"/>
          </a:solidFill>
          <a:ln/>
        </p:spPr>
      </p:sp>
      <p:sp>
        <p:nvSpPr>
          <p:cNvPr id="18" name="Shape 16"/>
          <p:cNvSpPr/>
          <p:nvPr/>
        </p:nvSpPr>
        <p:spPr>
          <a:xfrm>
            <a:off x="8199358" y="3836432"/>
            <a:ext cx="5646182" cy="2839641"/>
          </a:xfrm>
          <a:prstGeom prst="roundRect">
            <a:avLst>
              <a:gd name="adj" fmla="val 944"/>
            </a:avLst>
          </a:prstGeom>
          <a:solidFill>
            <a:srgbClr val="EDF2ED"/>
          </a:solidFill>
          <a:ln/>
        </p:spPr>
      </p:sp>
      <p:sp>
        <p:nvSpPr>
          <p:cNvPr id="19" name="Text 17"/>
          <p:cNvSpPr/>
          <p:nvPr/>
        </p:nvSpPr>
        <p:spPr>
          <a:xfrm>
            <a:off x="8377952" y="3970377"/>
            <a:ext cx="5288994" cy="2571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405449"/>
                </a:solidFill>
                <a:highlight>
                  <a:srgbClr val="EDF2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apiVersion: source.toolkit.fluxcd.io/v1beta2kind: GitRepositorymetadata:  name: flux-demo  namespace: flux-systemspec:  interval: 1m  url: https://github.com/user/flux-demo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601361" y="5014317"/>
            <a:ext cx="535781" cy="22860"/>
          </a:xfrm>
          <a:prstGeom prst="roundRect">
            <a:avLst>
              <a:gd name="adj" fmla="val 703256"/>
            </a:avLst>
          </a:prstGeom>
          <a:solidFill>
            <a:srgbClr val="CED9CE"/>
          </a:solidFill>
          <a:ln/>
        </p:spPr>
      </p:sp>
      <p:sp>
        <p:nvSpPr>
          <p:cNvPr id="21" name="Shape 19"/>
          <p:cNvSpPr/>
          <p:nvPr/>
        </p:nvSpPr>
        <p:spPr>
          <a:xfrm>
            <a:off x="7114282" y="4824889"/>
            <a:ext cx="401836" cy="401836"/>
          </a:xfrm>
          <a:prstGeom prst="roundRect">
            <a:avLst>
              <a:gd name="adj" fmla="val 40007"/>
            </a:avLst>
          </a:prstGeom>
          <a:solidFill>
            <a:srgbClr val="E8F3E8"/>
          </a:solidFill>
          <a:ln/>
        </p:spPr>
      </p:sp>
      <p:sp>
        <p:nvSpPr>
          <p:cNvPr id="22" name="Text 20"/>
          <p:cNvSpPr/>
          <p:nvPr/>
        </p:nvSpPr>
        <p:spPr>
          <a:xfrm>
            <a:off x="7181195" y="4858286"/>
            <a:ext cx="267891" cy="3349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21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3</a:t>
            </a:r>
            <a:endParaRPr lang="en-US" sz="2100" dirty="0"/>
          </a:p>
        </p:txBody>
      </p:sp>
      <p:sp>
        <p:nvSpPr>
          <p:cNvPr id="23" name="Text 21"/>
          <p:cNvSpPr/>
          <p:nvPr/>
        </p:nvSpPr>
        <p:spPr>
          <a:xfrm>
            <a:off x="3083362" y="4886206"/>
            <a:ext cx="3338751" cy="278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150"/>
              </a:lnSpc>
              <a:buNone/>
            </a:pPr>
            <a:r>
              <a:rPr lang="en-US" sz="17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Demonstrated Reconciliation</a:t>
            </a:r>
            <a:endParaRPr lang="en-US" sz="1750" dirty="0"/>
          </a:p>
        </p:txBody>
      </p:sp>
      <p:sp>
        <p:nvSpPr>
          <p:cNvPr id="24" name="Text 22"/>
          <p:cNvSpPr/>
          <p:nvPr/>
        </p:nvSpPr>
        <p:spPr>
          <a:xfrm>
            <a:off x="793790" y="5272326"/>
            <a:ext cx="5628323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We observed how Flux automatically detected and applied changes from our Git repository to the cluster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569952"/>
            <a:ext cx="4961811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Wrap-Up</a:t>
            </a:r>
            <a:endParaRPr lang="en-US" sz="3900" dirty="0"/>
          </a:p>
        </p:txBody>
      </p:sp>
      <p:sp>
        <p:nvSpPr>
          <p:cNvPr id="4" name="Text 1"/>
          <p:cNvSpPr/>
          <p:nvPr/>
        </p:nvSpPr>
        <p:spPr>
          <a:xfrm>
            <a:off x="793790" y="1686044"/>
            <a:ext cx="3536156" cy="744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GitOps + Flux = Modern DevOps</a:t>
            </a:r>
            <a:endParaRPr lang="en-US" sz="2300" dirty="0"/>
          </a:p>
        </p:txBody>
      </p:sp>
      <p:sp>
        <p:nvSpPr>
          <p:cNvPr id="5" name="Text 2"/>
          <p:cNvSpPr/>
          <p:nvPr/>
        </p:nvSpPr>
        <p:spPr>
          <a:xfrm>
            <a:off x="793790" y="2628543"/>
            <a:ext cx="3536156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By combining GitOps principles with Flux's powerful toolkit, you can achieve:</a:t>
            </a:r>
            <a:endParaRPr lang="en-US" sz="1550" dirty="0"/>
          </a:p>
        </p:txBody>
      </p:sp>
      <p:sp>
        <p:nvSpPr>
          <p:cNvPr id="6" name="Text 3"/>
          <p:cNvSpPr/>
          <p:nvPr/>
        </p:nvSpPr>
        <p:spPr>
          <a:xfrm>
            <a:off x="793790" y="3759756"/>
            <a:ext cx="3536156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b="1" dirty="0">
                <a:solidFill>
                  <a:srgbClr val="438951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Automated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deployment workflows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793790" y="4464248"/>
            <a:ext cx="3536156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b="1" dirty="0">
                <a:solidFill>
                  <a:srgbClr val="438951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Secure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infrastructure management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793790" y="5168741"/>
            <a:ext cx="353615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b="1" dirty="0">
                <a:solidFill>
                  <a:srgbClr val="438951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Reliable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continuous delivery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793790" y="5664875"/>
            <a:ext cx="3536156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Flux is particularly well-suited for </a:t>
            </a:r>
            <a:pPr algn="l" indent="0" marL="0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cloud-native DevOps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teams looking to scale their Kubernetes operations efficiently.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4821674" y="1686044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Next Steps</a:t>
            </a:r>
            <a:endParaRPr lang="en-US" sz="2300" dirty="0"/>
          </a:p>
        </p:txBody>
      </p:sp>
      <p:sp>
        <p:nvSpPr>
          <p:cNvPr id="11" name="Text 8"/>
          <p:cNvSpPr/>
          <p:nvPr/>
        </p:nvSpPr>
        <p:spPr>
          <a:xfrm>
            <a:off x="5466517" y="2281357"/>
            <a:ext cx="2891314" cy="620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Explore Image Automation</a:t>
            </a:r>
            <a:endParaRPr lang="en-US" sz="1950" dirty="0"/>
          </a:p>
        </p:txBody>
      </p:sp>
      <p:sp>
        <p:nvSpPr>
          <p:cNvPr id="12" name="Text 9"/>
          <p:cNvSpPr/>
          <p:nvPr/>
        </p:nvSpPr>
        <p:spPr>
          <a:xfrm>
            <a:off x="5466517" y="3100030"/>
            <a:ext cx="2891314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Set up automated updates for container images</a:t>
            </a:r>
            <a:endParaRPr lang="en-US" sz="1550" dirty="0"/>
          </a:p>
        </p:txBody>
      </p:sp>
      <p:sp>
        <p:nvSpPr>
          <p:cNvPr id="13" name="Text 10"/>
          <p:cNvSpPr/>
          <p:nvPr/>
        </p:nvSpPr>
        <p:spPr>
          <a:xfrm>
            <a:off x="5466517" y="4131945"/>
            <a:ext cx="2891314" cy="620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Implement Helm Management</a:t>
            </a:r>
            <a:endParaRPr lang="en-US" sz="1950" dirty="0"/>
          </a:p>
        </p:txBody>
      </p:sp>
      <p:sp>
        <p:nvSpPr>
          <p:cNvPr id="14" name="Text 11"/>
          <p:cNvSpPr/>
          <p:nvPr/>
        </p:nvSpPr>
        <p:spPr>
          <a:xfrm>
            <a:off x="5466517" y="4950619"/>
            <a:ext cx="2891314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Manage Helm releases declaratively</a:t>
            </a:r>
            <a:endParaRPr lang="en-US" sz="1550" dirty="0"/>
          </a:p>
        </p:txBody>
      </p:sp>
      <p:sp>
        <p:nvSpPr>
          <p:cNvPr id="15" name="Text 12"/>
          <p:cNvSpPr/>
          <p:nvPr/>
        </p:nvSpPr>
        <p:spPr>
          <a:xfrm>
            <a:off x="5466517" y="5982533"/>
            <a:ext cx="2891314" cy="620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Configure Multi-Cluster Setups</a:t>
            </a:r>
            <a:endParaRPr lang="en-US" sz="1950" dirty="0"/>
          </a:p>
        </p:txBody>
      </p:sp>
      <p:sp>
        <p:nvSpPr>
          <p:cNvPr id="16" name="Text 13"/>
          <p:cNvSpPr/>
          <p:nvPr/>
        </p:nvSpPr>
        <p:spPr>
          <a:xfrm>
            <a:off x="5466517" y="6801207"/>
            <a:ext cx="2891314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Extend GitOps practices across environments</a:t>
            </a:r>
            <a:endParaRPr lang="en-US" sz="15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2025-09-03T17:09:39Z</dcterms:created>
  <dcterms:modified xsi:type="dcterms:W3CDTF">2025-09-03T17:09:39Z</dcterms:modified>
</cp:coreProperties>
</file>